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IBM Plex Sans"/>
      <p:regular r:id="rId22"/>
      <p:bold r:id="rId23"/>
      <p:italic r:id="rId24"/>
      <p:boldItalic r:id="rId25"/>
    </p:embeddedFont>
    <p:embeddedFont>
      <p:font typeface="Roboto Mono"/>
      <p:regular r:id="rId26"/>
      <p:bold r:id="rId27"/>
      <p:italic r:id="rId28"/>
      <p:boldItalic r:id="rId29"/>
    </p:embeddedFont>
    <p:embeddedFont>
      <p:font typeface="IBM Plex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BMPlexSans-regular.fntdata"/><Relationship Id="rId21" Type="http://schemas.openxmlformats.org/officeDocument/2006/relationships/slide" Target="slides/slide15.xml"/><Relationship Id="rId24" Type="http://schemas.openxmlformats.org/officeDocument/2006/relationships/font" Target="fonts/IBMPlexSans-italic.fntdata"/><Relationship Id="rId23" Type="http://schemas.openxmlformats.org/officeDocument/2006/relationships/font" Target="fonts/IBMPlexSans-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Mono-regular.fntdata"/><Relationship Id="rId25" Type="http://schemas.openxmlformats.org/officeDocument/2006/relationships/font" Target="fonts/IBMPlexSans-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Mono-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Mono-bold.fntdata"/><Relationship Id="rId30" Type="http://schemas.openxmlformats.org/officeDocument/2006/relationships/font" Target="fonts/IBMPlexMono-regular.fntdata"/><Relationship Id="rId11" Type="http://schemas.openxmlformats.org/officeDocument/2006/relationships/slide" Target="slides/slide5.xml"/><Relationship Id="rId33" Type="http://schemas.openxmlformats.org/officeDocument/2006/relationships/font" Target="fonts/IBMPlexMono-boldItalic.fntdata"/><Relationship Id="rId10" Type="http://schemas.openxmlformats.org/officeDocument/2006/relationships/slide" Target="slides/slide4.xml"/><Relationship Id="rId32" Type="http://schemas.openxmlformats.org/officeDocument/2006/relationships/font" Target="fonts/IBMPlexMono-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ebc0853443_2_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ebc0853443_2_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55" name="Google Shape;55;g3ebc0853443_2_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bc0853443_2_2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g3ebc0853443_2_2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The business problem is early detection.</a:t>
            </a:r>
            <a:endParaRPr sz="900"/>
          </a:p>
          <a:p>
            <a:pPr indent="0" lvl="0" marL="0" rtl="0" algn="l">
              <a:lnSpc>
                <a:spcPct val="115000"/>
              </a:lnSpc>
              <a:spcBef>
                <a:spcPts val="1200"/>
              </a:spcBef>
              <a:spcAft>
                <a:spcPts val="0"/>
              </a:spcAft>
              <a:buClr>
                <a:schemeClr val="dk1"/>
              </a:buClr>
              <a:buSzPts val="1100"/>
              <a:buFont typeface="Arial"/>
              <a:buNone/>
            </a:pPr>
            <a:r>
              <a:rPr lang="en" sz="900"/>
              <a:t>Once a mortgage is already 90 days delinquent, the servicer has fewer good options. At that point, the borrower may already be in serious financial stress, and the loan may require more expensive intervention.</a:t>
            </a:r>
            <a:endParaRPr sz="900"/>
          </a:p>
          <a:p>
            <a:pPr indent="0" lvl="0" marL="0" rtl="0" algn="l">
              <a:lnSpc>
                <a:spcPct val="115000"/>
              </a:lnSpc>
              <a:spcBef>
                <a:spcPts val="1200"/>
              </a:spcBef>
              <a:spcAft>
                <a:spcPts val="0"/>
              </a:spcAft>
              <a:buClr>
                <a:schemeClr val="dk1"/>
              </a:buClr>
              <a:buSzPts val="1100"/>
              <a:buFont typeface="Arial"/>
              <a:buNone/>
            </a:pPr>
            <a:r>
              <a:rPr lang="en" sz="900"/>
              <a:t>So the more useful question is not “which loans are delinquent today,” but “which currently active loans are likely to become seriously delinquent soon?”</a:t>
            </a:r>
            <a:endParaRPr sz="900"/>
          </a:p>
          <a:p>
            <a:pPr indent="0" lvl="0" marL="0" rtl="0" algn="l">
              <a:lnSpc>
                <a:spcPct val="115000"/>
              </a:lnSpc>
              <a:spcBef>
                <a:spcPts val="1200"/>
              </a:spcBef>
              <a:spcAft>
                <a:spcPts val="0"/>
              </a:spcAft>
              <a:buClr>
                <a:schemeClr val="dk1"/>
              </a:buClr>
              <a:buSzPts val="1100"/>
              <a:buFont typeface="Arial"/>
              <a:buNone/>
            </a:pPr>
            <a:r>
              <a:rPr lang="en" sz="900"/>
              <a:t>This matters for servicing and credit-risk teams because they have limited time and resources. A model like this could help prioritize borrower outreach, loss-mitigation review, and reserve planning.</a:t>
            </a:r>
            <a:endParaRPr sz="900"/>
          </a:p>
          <a:p>
            <a:pPr indent="0" lvl="0" marL="0" rtl="0" algn="l">
              <a:lnSpc>
                <a:spcPct val="115000"/>
              </a:lnSpc>
              <a:spcBef>
                <a:spcPts val="1200"/>
              </a:spcBef>
              <a:spcAft>
                <a:spcPts val="1200"/>
              </a:spcAft>
              <a:buSzPts val="1100"/>
              <a:buNone/>
            </a:pPr>
            <a:r>
              <a:rPr lang="en" sz="900"/>
              <a:t>The forecast horizon I used is six months, which gives the model a practical early-warning window</a:t>
            </a:r>
            <a:endParaRPr sz="900"/>
          </a:p>
        </p:txBody>
      </p:sp>
      <p:sp>
        <p:nvSpPr>
          <p:cNvPr id="74" name="Google Shape;74;g3ebc0853443_2_2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bc0853443_2_50: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ebc0853443_2_50: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Slide 3: Data Source</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data comes from Fannie Mae’s public Single-Family Loan Performance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used Fannie Mae’s 2021 Q1 and Q2 loan-performance files, then kept a deterministic 10% loan-level sample. For every selected loan, I preserved its full monthly performance timeline.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row in the final dataset represents one loan in one reporting month.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row includes monthly performance information, like current balance and delinquency status, along with fixed origination information, like credit score, DTI, LTV, interest rate, loan purpose, occupancy, property type, and geography.</a:t>
            </a:r>
            <a:endParaRPr>
              <a:solidFill>
                <a:schemeClr val="dk1"/>
              </a:solidFill>
            </a:endParaRPr>
          </a:p>
          <a:p>
            <a:pPr indent="0" lvl="0" marL="0" rtl="0" algn="l">
              <a:lnSpc>
                <a:spcPct val="115000"/>
              </a:lnSpc>
              <a:spcBef>
                <a:spcPts val="1200"/>
              </a:spcBef>
              <a:spcAft>
                <a:spcPts val="1200"/>
              </a:spcAft>
              <a:buSzPts val="1100"/>
              <a:buNone/>
            </a:pPr>
            <a:r>
              <a:rPr lang="en">
                <a:solidFill>
                  <a:schemeClr val="dk1"/>
                </a:solidFill>
              </a:rPr>
              <a:t>After joining and cleaning the files, the final panel contained about 12.5 million labeled loan-month rows</a:t>
            </a:r>
            <a:endParaRPr sz="900"/>
          </a:p>
        </p:txBody>
      </p:sp>
      <p:sp>
        <p:nvSpPr>
          <p:cNvPr id="103" name="Google Shape;103;g3ebc0853443_2_50: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bc0853443_2_11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ebc0853443_2_11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target variable is </a:t>
            </a:r>
            <a:r>
              <a:rPr lang="en">
                <a:solidFill>
                  <a:srgbClr val="188038"/>
                </a:solidFill>
                <a:latin typeface="Roboto Mono"/>
                <a:ea typeface="Roboto Mono"/>
                <a:cs typeface="Roboto Mono"/>
                <a:sym typeface="Roboto Mono"/>
              </a:rPr>
              <a:t>future_serious_dq_6m</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every loan-month, I looked forward six months. If that loan became 90 or more days delinquent at any point in that future window, I labeled the row as 1. Otherwise, it was labeled 0.</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Rows that did not have a full six-month future window were removed, because they could not be labeled fairly.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most important thing about the target is the imbalance. Only about 0.25% of loan-months became seriously delinquent in the cleaned dataset, which is roughly 1 in 400.</a:t>
            </a:r>
            <a:endParaRPr>
              <a:solidFill>
                <a:schemeClr val="dk1"/>
              </a:solidFill>
            </a:endParaRPr>
          </a:p>
          <a:p>
            <a:pPr indent="0" lvl="0" marL="0" rtl="0" algn="l">
              <a:lnSpc>
                <a:spcPct val="115000"/>
              </a:lnSpc>
              <a:spcBef>
                <a:spcPts val="1200"/>
              </a:spcBef>
              <a:spcAft>
                <a:spcPts val="1200"/>
              </a:spcAft>
              <a:buSzPts val="1100"/>
              <a:buNone/>
            </a:pPr>
            <a:r>
              <a:rPr lang="en">
                <a:solidFill>
                  <a:schemeClr val="dk1"/>
                </a:solidFill>
              </a:rPr>
              <a:t>That imbalance shaped the rest of the modeling process, especially the choice of metrics.</a:t>
            </a:r>
            <a:endParaRPr sz="900"/>
          </a:p>
        </p:txBody>
      </p:sp>
      <p:sp>
        <p:nvSpPr>
          <p:cNvPr id="165" name="Google Shape;165;g3ebc0853443_2_11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bc0853443_2_134: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ebc0853443_2_134: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The wrangling process converted raw acquisition and performance files into a clean loan-month panel.</a:t>
            </a:r>
            <a:endParaRPr sz="900"/>
          </a:p>
          <a:p>
            <a:pPr indent="0" lvl="0" marL="0" rtl="0" algn="l">
              <a:lnSpc>
                <a:spcPct val="115000"/>
              </a:lnSpc>
              <a:spcBef>
                <a:spcPts val="1200"/>
              </a:spcBef>
              <a:spcAft>
                <a:spcPts val="0"/>
              </a:spcAft>
              <a:buClr>
                <a:schemeClr val="dk1"/>
              </a:buClr>
              <a:buSzPts val="1100"/>
              <a:buFont typeface="Arial"/>
              <a:buNone/>
            </a:pPr>
            <a:r>
              <a:rPr lang="en" sz="900"/>
              <a:t>First, I joined each loan’s static acquisition record to its monthly performance records.</a:t>
            </a:r>
            <a:endParaRPr sz="900"/>
          </a:p>
          <a:p>
            <a:pPr indent="0" lvl="0" marL="0" rtl="0" algn="l">
              <a:lnSpc>
                <a:spcPct val="115000"/>
              </a:lnSpc>
              <a:spcBef>
                <a:spcPts val="1200"/>
              </a:spcBef>
              <a:spcAft>
                <a:spcPts val="0"/>
              </a:spcAft>
              <a:buClr>
                <a:schemeClr val="dk1"/>
              </a:buClr>
              <a:buSzPts val="1100"/>
              <a:buFont typeface="Arial"/>
              <a:buNone/>
            </a:pPr>
            <a:r>
              <a:rPr lang="en" sz="900"/>
              <a:t>Then I standardized the columns, parsed dates, downcasted data types to control memory usage, and renamed fields for readability.</a:t>
            </a:r>
            <a:endParaRPr sz="900"/>
          </a:p>
          <a:p>
            <a:pPr indent="0" lvl="0" marL="0" rtl="0" algn="l">
              <a:lnSpc>
                <a:spcPct val="115000"/>
              </a:lnSpc>
              <a:spcBef>
                <a:spcPts val="1200"/>
              </a:spcBef>
              <a:spcAft>
                <a:spcPts val="0"/>
              </a:spcAft>
              <a:buClr>
                <a:schemeClr val="dk1"/>
              </a:buClr>
              <a:buSzPts val="1100"/>
              <a:buFont typeface="Arial"/>
              <a:buNone/>
            </a:pPr>
            <a:r>
              <a:rPr lang="en" sz="900"/>
              <a:t>After that, I engineered delinquency-history features, including rolling counts of recent 30-day and 60-day delinquency events.</a:t>
            </a:r>
            <a:endParaRPr sz="900"/>
          </a:p>
          <a:p>
            <a:pPr indent="0" lvl="0" marL="0" rtl="0" algn="l">
              <a:lnSpc>
                <a:spcPct val="115000"/>
              </a:lnSpc>
              <a:spcBef>
                <a:spcPts val="1200"/>
              </a:spcBef>
              <a:spcAft>
                <a:spcPts val="0"/>
              </a:spcAft>
              <a:buClr>
                <a:schemeClr val="dk1"/>
              </a:buClr>
              <a:buSzPts val="1100"/>
              <a:buFont typeface="Arial"/>
              <a:buNone/>
            </a:pPr>
            <a:r>
              <a:rPr lang="en" sz="900"/>
              <a:t>Finally, I created the six-month forward target and removed rows that did not have enough future history to support the label.</a:t>
            </a:r>
            <a:endParaRPr sz="900"/>
          </a:p>
          <a:p>
            <a:pPr indent="0" lvl="0" marL="0" rtl="0" algn="l">
              <a:lnSpc>
                <a:spcPct val="115000"/>
              </a:lnSpc>
              <a:spcBef>
                <a:spcPts val="1200"/>
              </a:spcBef>
              <a:spcAft>
                <a:spcPts val="1200"/>
              </a:spcAft>
              <a:buSzPts val="1100"/>
              <a:buNone/>
            </a:pPr>
            <a:r>
              <a:rPr lang="en" sz="900"/>
              <a:t>This produced the 12.5 million labeled rows used for analysis and modeling.</a:t>
            </a:r>
            <a:endParaRPr sz="900"/>
          </a:p>
        </p:txBody>
      </p:sp>
      <p:sp>
        <p:nvSpPr>
          <p:cNvPr id="189" name="Google Shape;189;g3ebc0853443_2_134: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bc0853443_2_17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ebc0853443_2_17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Credit score was one of the clearest signals in the exploratory analysis.</a:t>
            </a:r>
            <a:endParaRPr sz="900"/>
          </a:p>
          <a:p>
            <a:pPr indent="0" lvl="0" marL="0" rtl="0" algn="l">
              <a:lnSpc>
                <a:spcPct val="115000"/>
              </a:lnSpc>
              <a:spcBef>
                <a:spcPts val="1200"/>
              </a:spcBef>
              <a:spcAft>
                <a:spcPts val="0"/>
              </a:spcAft>
              <a:buClr>
                <a:schemeClr val="dk1"/>
              </a:buClr>
              <a:buSzPts val="1100"/>
              <a:buFont typeface="Arial"/>
              <a:buNone/>
            </a:pPr>
            <a:r>
              <a:rPr lang="en" sz="900"/>
              <a:t>The serious-delinquency rate was much higher in the lower credit score bands and much lower in the highest bands.</a:t>
            </a:r>
            <a:endParaRPr sz="900"/>
          </a:p>
          <a:p>
            <a:pPr indent="0" lvl="0" marL="0" rtl="0" algn="l">
              <a:lnSpc>
                <a:spcPct val="115000"/>
              </a:lnSpc>
              <a:spcBef>
                <a:spcPts val="1200"/>
              </a:spcBef>
              <a:spcAft>
                <a:spcPts val="0"/>
              </a:spcAft>
              <a:buClr>
                <a:schemeClr val="dk1"/>
              </a:buClr>
              <a:buSzPts val="1100"/>
              <a:buFont typeface="Arial"/>
              <a:buNone/>
            </a:pPr>
            <a:r>
              <a:rPr lang="en" sz="900"/>
              <a:t>That pattern is exactly what we would expect from underwriting intuition: borrowers with stronger credit profiles tend to have lower future delinquency risk.</a:t>
            </a:r>
            <a:endParaRPr sz="900"/>
          </a:p>
          <a:p>
            <a:pPr indent="0" lvl="0" marL="0" rtl="0" algn="l">
              <a:lnSpc>
                <a:spcPct val="115000"/>
              </a:lnSpc>
              <a:spcBef>
                <a:spcPts val="1200"/>
              </a:spcBef>
              <a:spcAft>
                <a:spcPts val="0"/>
              </a:spcAft>
              <a:buClr>
                <a:schemeClr val="dk1"/>
              </a:buClr>
              <a:buSzPts val="1100"/>
              <a:buFont typeface="Arial"/>
              <a:buNone/>
            </a:pPr>
            <a:r>
              <a:rPr lang="en" sz="900"/>
              <a:t>This was useful because it gave confidence that the data and target were behaving logically, rather than producing a random or suspicious pattern.</a:t>
            </a:r>
            <a:endParaRPr sz="900"/>
          </a:p>
          <a:p>
            <a:pPr indent="0" lvl="0" marL="0" rtl="0" algn="l">
              <a:lnSpc>
                <a:spcPct val="115000"/>
              </a:lnSpc>
              <a:spcBef>
                <a:spcPts val="1200"/>
              </a:spcBef>
              <a:spcAft>
                <a:spcPts val="1200"/>
              </a:spcAft>
              <a:buSzPts val="1100"/>
              <a:buNone/>
            </a:pPr>
            <a:r>
              <a:rPr lang="en" sz="900"/>
              <a:t>One thing I would fix on the slide is the dashed-line label. It still says 1.32%, but the current cleaned-data base rate is closer to 0.25% overall, and around 0.30% on the test set</a:t>
            </a:r>
            <a:endParaRPr sz="900"/>
          </a:p>
        </p:txBody>
      </p:sp>
      <p:sp>
        <p:nvSpPr>
          <p:cNvPr id="227" name="Google Shape;227;g3ebc0853443_2_17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ebc0853443_2_20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ebc0853443_2_20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The next set of patterns also matched credit-risk intuition.</a:t>
            </a:r>
            <a:endParaRPr sz="900"/>
          </a:p>
          <a:p>
            <a:pPr indent="0" lvl="0" marL="0" rtl="0" algn="l">
              <a:lnSpc>
                <a:spcPct val="115000"/>
              </a:lnSpc>
              <a:spcBef>
                <a:spcPts val="1200"/>
              </a:spcBef>
              <a:spcAft>
                <a:spcPts val="0"/>
              </a:spcAft>
              <a:buClr>
                <a:schemeClr val="dk1"/>
              </a:buClr>
              <a:buSzPts val="1100"/>
              <a:buFont typeface="Arial"/>
              <a:buNone/>
            </a:pPr>
            <a:r>
              <a:rPr lang="en" sz="900"/>
              <a:t>Higher DTI was associated with higher delinquency risk, which makes sense because borrowers with more debt relative to income have less financial cushion.</a:t>
            </a:r>
            <a:endParaRPr sz="900"/>
          </a:p>
          <a:p>
            <a:pPr indent="0" lvl="0" marL="0" rtl="0" algn="l">
              <a:lnSpc>
                <a:spcPct val="115000"/>
              </a:lnSpc>
              <a:spcBef>
                <a:spcPts val="1200"/>
              </a:spcBef>
              <a:spcAft>
                <a:spcPts val="0"/>
              </a:spcAft>
              <a:buClr>
                <a:schemeClr val="dk1"/>
              </a:buClr>
              <a:buSzPts val="1100"/>
              <a:buFont typeface="Arial"/>
              <a:buNone/>
            </a:pPr>
            <a:r>
              <a:rPr lang="en" sz="900"/>
              <a:t>Origination channel also mattered. Retail-originated loans appeared safer than broker and correspondent channels in this sample.</a:t>
            </a:r>
            <a:endParaRPr sz="900"/>
          </a:p>
          <a:p>
            <a:pPr indent="0" lvl="0" marL="0" rtl="0" algn="l">
              <a:lnSpc>
                <a:spcPct val="115000"/>
              </a:lnSpc>
              <a:spcBef>
                <a:spcPts val="1200"/>
              </a:spcBef>
              <a:spcAft>
                <a:spcPts val="0"/>
              </a:spcAft>
              <a:buClr>
                <a:schemeClr val="dk1"/>
              </a:buClr>
              <a:buSzPts val="1100"/>
              <a:buFont typeface="Arial"/>
              <a:buNone/>
            </a:pPr>
            <a:r>
              <a:rPr lang="en" sz="900"/>
              <a:t>Recent delinquency status was the strongest near-term signal. A loan that is current has much lower future serious-delinquency risk than a loan that is already 30 or 60 days late.</a:t>
            </a:r>
            <a:endParaRPr sz="900"/>
          </a:p>
          <a:p>
            <a:pPr indent="0" lvl="0" marL="0" rtl="0" algn="l">
              <a:lnSpc>
                <a:spcPct val="115000"/>
              </a:lnSpc>
              <a:spcBef>
                <a:spcPts val="1200"/>
              </a:spcBef>
              <a:spcAft>
                <a:spcPts val="1200"/>
              </a:spcAft>
              <a:buSzPts val="1100"/>
              <a:buNone/>
            </a:pPr>
            <a:r>
              <a:rPr lang="en" sz="900"/>
              <a:t>That tells us the model should not only use static borrower traits, but also dynamic performance behavior</a:t>
            </a:r>
            <a:endParaRPr sz="900"/>
          </a:p>
        </p:txBody>
      </p:sp>
      <p:sp>
        <p:nvSpPr>
          <p:cNvPr id="265" name="Google Shape;265;g3ebc0853443_2_20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bc0853443_2_261: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ebc0853443_2_261: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The final feature set had 172 model features.</a:t>
            </a:r>
            <a:endParaRPr sz="900"/>
          </a:p>
          <a:p>
            <a:pPr indent="0" lvl="0" marL="0" rtl="0" algn="l">
              <a:lnSpc>
                <a:spcPct val="115000"/>
              </a:lnSpc>
              <a:spcBef>
                <a:spcPts val="1200"/>
              </a:spcBef>
              <a:spcAft>
                <a:spcPts val="0"/>
              </a:spcAft>
              <a:buClr>
                <a:schemeClr val="dk1"/>
              </a:buClr>
              <a:buSzPts val="1100"/>
              <a:buFont typeface="Arial"/>
              <a:buNone/>
            </a:pPr>
            <a:r>
              <a:rPr lang="en" sz="900"/>
              <a:t>I grouped the features into four main categories.</a:t>
            </a:r>
            <a:endParaRPr sz="900"/>
          </a:p>
          <a:p>
            <a:pPr indent="0" lvl="0" marL="0" rtl="0" algn="l">
              <a:lnSpc>
                <a:spcPct val="115000"/>
              </a:lnSpc>
              <a:spcBef>
                <a:spcPts val="1200"/>
              </a:spcBef>
              <a:spcAft>
                <a:spcPts val="0"/>
              </a:spcAft>
              <a:buClr>
                <a:schemeClr val="dk1"/>
              </a:buClr>
              <a:buSzPts val="1100"/>
              <a:buFont typeface="Arial"/>
              <a:buNone/>
            </a:pPr>
            <a:r>
              <a:rPr lang="en" sz="900"/>
              <a:t>The first group was origination terms, including credit scores, DTI, LTV, CLTV, interest rate, purpose, and occupancy.</a:t>
            </a:r>
            <a:endParaRPr sz="900"/>
          </a:p>
          <a:p>
            <a:pPr indent="0" lvl="0" marL="0" rtl="0" algn="l">
              <a:lnSpc>
                <a:spcPct val="115000"/>
              </a:lnSpc>
              <a:spcBef>
                <a:spcPts val="1200"/>
              </a:spcBef>
              <a:spcAft>
                <a:spcPts val="0"/>
              </a:spcAft>
              <a:buClr>
                <a:schemeClr val="dk1"/>
              </a:buClr>
              <a:buSzPts val="1100"/>
              <a:buFont typeface="Arial"/>
              <a:buNone/>
            </a:pPr>
            <a:r>
              <a:rPr lang="en" sz="900"/>
              <a:t>The second group was balance and paydown behavior, such as original UPB, current UPB, UPB ratio, and total principal paid.</a:t>
            </a:r>
            <a:endParaRPr sz="900"/>
          </a:p>
          <a:p>
            <a:pPr indent="0" lvl="0" marL="0" rtl="0" algn="l">
              <a:lnSpc>
                <a:spcPct val="115000"/>
              </a:lnSpc>
              <a:spcBef>
                <a:spcPts val="1200"/>
              </a:spcBef>
              <a:spcAft>
                <a:spcPts val="0"/>
              </a:spcAft>
              <a:buClr>
                <a:schemeClr val="dk1"/>
              </a:buClr>
              <a:buSzPts val="1100"/>
              <a:buFont typeface="Arial"/>
              <a:buNone/>
            </a:pPr>
            <a:r>
              <a:rPr lang="en" sz="900"/>
              <a:t>The third group was delinquency history, including prior status, rolling delinquency counts, and status-change indicators.</a:t>
            </a:r>
            <a:endParaRPr sz="900"/>
          </a:p>
          <a:p>
            <a:pPr indent="0" lvl="0" marL="0" rtl="0" algn="l">
              <a:lnSpc>
                <a:spcPct val="115000"/>
              </a:lnSpc>
              <a:spcBef>
                <a:spcPts val="1200"/>
              </a:spcBef>
              <a:spcAft>
                <a:spcPts val="0"/>
              </a:spcAft>
              <a:buClr>
                <a:schemeClr val="dk1"/>
              </a:buClr>
              <a:buSzPts val="1100"/>
              <a:buFont typeface="Arial"/>
              <a:buNone/>
            </a:pPr>
            <a:r>
              <a:rPr lang="en" sz="900"/>
              <a:t>The fourth group was time context, like loan age, months remaining, reporting month, quarter, and year.</a:t>
            </a:r>
            <a:endParaRPr sz="900"/>
          </a:p>
          <a:p>
            <a:pPr indent="0" lvl="0" marL="0" rtl="0" algn="l">
              <a:lnSpc>
                <a:spcPct val="115000"/>
              </a:lnSpc>
              <a:spcBef>
                <a:spcPts val="1200"/>
              </a:spcBef>
              <a:spcAft>
                <a:spcPts val="1200"/>
              </a:spcAft>
              <a:buSzPts val="1100"/>
              <a:buNone/>
            </a:pPr>
            <a:r>
              <a:rPr lang="en" sz="900"/>
              <a:t>The preprocessing pipeline one-hot encoded categorical variables and scaled numeric variables so that all models could be compared using the same feature matrix</a:t>
            </a:r>
            <a:endParaRPr sz="900"/>
          </a:p>
        </p:txBody>
      </p:sp>
      <p:sp>
        <p:nvSpPr>
          <p:cNvPr id="319" name="Google Shape;319;g3ebc0853443_2_261: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ebc0853443_2_283: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3ebc0853443_2_283: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SzPts val="1100"/>
              <a:buNone/>
            </a:pPr>
            <a:r>
              <a:rPr lang="en" sz="900"/>
              <a:t>Because this is a forecasting problem, I used a chronological split instead of a random split.</a:t>
            </a:r>
            <a:endParaRPr sz="900"/>
          </a:p>
          <a:p>
            <a:pPr indent="0" lvl="0" marL="0" rtl="0" algn="l">
              <a:lnSpc>
                <a:spcPct val="115000"/>
              </a:lnSpc>
              <a:spcBef>
                <a:spcPts val="1200"/>
              </a:spcBef>
              <a:spcAft>
                <a:spcPts val="0"/>
              </a:spcAft>
              <a:buSzPts val="1100"/>
              <a:buNone/>
            </a:pPr>
            <a:r>
              <a:rPr lang="en" sz="900"/>
              <a:t>A random split would be risky because the same loan can appear across multiple months. If later months leak into training while earlier months are in testing, the model could get an unrealistic advantage.</a:t>
            </a:r>
            <a:endParaRPr sz="900"/>
          </a:p>
          <a:p>
            <a:pPr indent="0" lvl="0" marL="0" rtl="0" algn="l">
              <a:lnSpc>
                <a:spcPct val="115000"/>
              </a:lnSpc>
              <a:spcBef>
                <a:spcPts val="1200"/>
              </a:spcBef>
              <a:spcAft>
                <a:spcPts val="0"/>
              </a:spcAft>
              <a:buSzPts val="1100"/>
              <a:buNone/>
            </a:pPr>
            <a:r>
              <a:rPr lang="en" sz="900"/>
              <a:t>So I trained on the earliest 80% of the timeline and held out the latest 20% as the test set.</a:t>
            </a:r>
            <a:endParaRPr sz="900"/>
          </a:p>
          <a:p>
            <a:pPr indent="0" lvl="0" marL="0" rtl="0" algn="l">
              <a:lnSpc>
                <a:spcPct val="115000"/>
              </a:lnSpc>
              <a:spcBef>
                <a:spcPts val="1200"/>
              </a:spcBef>
              <a:spcAft>
                <a:spcPts val="0"/>
              </a:spcAft>
              <a:buSzPts val="1100"/>
              <a:buNone/>
            </a:pPr>
            <a:r>
              <a:rPr lang="en" sz="900"/>
              <a:t>That gave about 10.06 million training rows and 2.47 million held-out test rows.</a:t>
            </a:r>
            <a:endParaRPr sz="900"/>
          </a:p>
          <a:p>
            <a:pPr indent="0" lvl="0" marL="0" rtl="0" algn="l">
              <a:lnSpc>
                <a:spcPct val="115000"/>
              </a:lnSpc>
              <a:spcBef>
                <a:spcPts val="1200"/>
              </a:spcBef>
              <a:spcAft>
                <a:spcPts val="1200"/>
              </a:spcAft>
              <a:buSzPts val="1100"/>
              <a:buNone/>
            </a:pPr>
            <a:r>
              <a:rPr lang="en" sz="900"/>
              <a:t>The test set was only used at the end to evaluate final performance.</a:t>
            </a:r>
            <a:endParaRPr sz="900"/>
          </a:p>
        </p:txBody>
      </p:sp>
      <p:sp>
        <p:nvSpPr>
          <p:cNvPr id="342" name="Google Shape;342;g3ebc0853443_2_283: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bc0853443_2_30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g3ebc0853443_2_30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The main modeling challenge was class imbalance.</a:t>
            </a:r>
            <a:endParaRPr sz="900"/>
          </a:p>
          <a:p>
            <a:pPr indent="0" lvl="0" marL="0" rtl="0" algn="l">
              <a:lnSpc>
                <a:spcPct val="115000"/>
              </a:lnSpc>
              <a:spcBef>
                <a:spcPts val="1200"/>
              </a:spcBef>
              <a:spcAft>
                <a:spcPts val="0"/>
              </a:spcAft>
              <a:buClr>
                <a:schemeClr val="dk1"/>
              </a:buClr>
              <a:buSzPts val="1100"/>
              <a:buFont typeface="Arial"/>
              <a:buNone/>
            </a:pPr>
            <a:r>
              <a:rPr lang="en" sz="900"/>
              <a:t>Only about 0.30% of the held-out test rows were positive, meaning the loan became seriously delinquent within six months.</a:t>
            </a:r>
            <a:endParaRPr sz="900"/>
          </a:p>
          <a:p>
            <a:pPr indent="0" lvl="0" marL="0" rtl="0" algn="l">
              <a:lnSpc>
                <a:spcPct val="115000"/>
              </a:lnSpc>
              <a:spcBef>
                <a:spcPts val="1200"/>
              </a:spcBef>
              <a:spcAft>
                <a:spcPts val="0"/>
              </a:spcAft>
              <a:buClr>
                <a:schemeClr val="dk1"/>
              </a:buClr>
              <a:buSzPts val="1100"/>
              <a:buFont typeface="Arial"/>
              <a:buNone/>
            </a:pPr>
            <a:r>
              <a:rPr lang="en" sz="900"/>
              <a:t>That means a model could predict “not delinquent” for almost everyone and still have very high accuracy, but it would be useless for the actual business problem.</a:t>
            </a:r>
            <a:endParaRPr sz="900"/>
          </a:p>
          <a:p>
            <a:pPr indent="0" lvl="0" marL="0" rtl="0" algn="l">
              <a:lnSpc>
                <a:spcPct val="115000"/>
              </a:lnSpc>
              <a:spcBef>
                <a:spcPts val="1200"/>
              </a:spcBef>
              <a:spcAft>
                <a:spcPts val="0"/>
              </a:spcAft>
              <a:buClr>
                <a:schemeClr val="dk1"/>
              </a:buClr>
              <a:buSzPts val="1100"/>
              <a:buFont typeface="Arial"/>
              <a:buNone/>
            </a:pPr>
            <a:r>
              <a:rPr lang="en" sz="900"/>
              <a:t>So I did not rely on accuracy.</a:t>
            </a:r>
            <a:endParaRPr sz="900"/>
          </a:p>
          <a:p>
            <a:pPr indent="0" lvl="0" marL="0" rtl="0" algn="l">
              <a:lnSpc>
                <a:spcPct val="115000"/>
              </a:lnSpc>
              <a:spcBef>
                <a:spcPts val="1200"/>
              </a:spcBef>
              <a:spcAft>
                <a:spcPts val="0"/>
              </a:spcAft>
              <a:buClr>
                <a:schemeClr val="dk1"/>
              </a:buClr>
              <a:buSzPts val="1100"/>
              <a:buFont typeface="Arial"/>
              <a:buNone/>
            </a:pPr>
            <a:r>
              <a:rPr lang="en" sz="900"/>
              <a:t>Instead, I focused on precision, recall, and PR-AUC. PR-AUC is especially important for rare-event problems because it shows how well the model finds positives without being overwhelmed by false alarms.</a:t>
            </a:r>
            <a:endParaRPr sz="900"/>
          </a:p>
          <a:p>
            <a:pPr indent="0" lvl="0" marL="0" rtl="0" algn="l">
              <a:lnSpc>
                <a:spcPct val="115000"/>
              </a:lnSpc>
              <a:spcBef>
                <a:spcPts val="1200"/>
              </a:spcBef>
              <a:spcAft>
                <a:spcPts val="1200"/>
              </a:spcAft>
              <a:buSzPts val="1100"/>
              <a:buNone/>
            </a:pPr>
            <a:r>
              <a:rPr lang="en" sz="900"/>
              <a:t>The no-skill PR-AUC baseline should be close to the positive class rate, so here it is about 0.003, not 1.3%</a:t>
            </a:r>
            <a:endParaRPr sz="900"/>
          </a:p>
        </p:txBody>
      </p:sp>
      <p:sp>
        <p:nvSpPr>
          <p:cNvPr id="366" name="Google Shape;366;g3ebc0853443_2_30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bc0853443_2_32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ebc0853443_2_32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I compared several model families, including logistic regression, XGBoost, neural networks, LightGBM, and a dummy baseline.</a:t>
            </a:r>
            <a:endParaRPr sz="900"/>
          </a:p>
          <a:p>
            <a:pPr indent="0" lvl="0" marL="0" rtl="0" algn="l">
              <a:lnSpc>
                <a:spcPct val="115000"/>
              </a:lnSpc>
              <a:spcBef>
                <a:spcPts val="1200"/>
              </a:spcBef>
              <a:spcAft>
                <a:spcPts val="0"/>
              </a:spcAft>
              <a:buClr>
                <a:schemeClr val="dk1"/>
              </a:buClr>
              <a:buSzPts val="1100"/>
              <a:buFont typeface="Arial"/>
              <a:buNone/>
            </a:pPr>
            <a:r>
              <a:rPr lang="en" sz="900"/>
              <a:t>The final model was oversampled LightGBM.</a:t>
            </a:r>
            <a:endParaRPr sz="900"/>
          </a:p>
          <a:p>
            <a:pPr indent="0" lvl="0" marL="0" rtl="0" algn="l">
              <a:lnSpc>
                <a:spcPct val="115000"/>
              </a:lnSpc>
              <a:spcBef>
                <a:spcPts val="1200"/>
              </a:spcBef>
              <a:spcAft>
                <a:spcPts val="0"/>
              </a:spcAft>
              <a:buClr>
                <a:schemeClr val="dk1"/>
              </a:buClr>
              <a:buSzPts val="1100"/>
              <a:buFont typeface="Arial"/>
              <a:buNone/>
            </a:pPr>
            <a:r>
              <a:rPr lang="en" sz="900"/>
              <a:t>ROC-AUC was high across the stronger models, but ROC-AUC can be misleading in rare-event problems because there are so many true negatives.</a:t>
            </a:r>
            <a:endParaRPr sz="900"/>
          </a:p>
          <a:p>
            <a:pPr indent="0" lvl="0" marL="0" rtl="0" algn="l">
              <a:lnSpc>
                <a:spcPct val="115000"/>
              </a:lnSpc>
              <a:spcBef>
                <a:spcPts val="1200"/>
              </a:spcBef>
              <a:spcAft>
                <a:spcPts val="0"/>
              </a:spcAft>
              <a:buClr>
                <a:schemeClr val="dk1"/>
              </a:buClr>
              <a:buSzPts val="1100"/>
              <a:buFont typeface="Arial"/>
              <a:buNone/>
            </a:pPr>
            <a:r>
              <a:rPr lang="en" sz="900"/>
              <a:t>PR-AUC gave a better view of performance. Oversampled LightGBM had the best PR-AUC at 0.340, slightly ahead of tuned XGBoost.</a:t>
            </a:r>
            <a:endParaRPr sz="900"/>
          </a:p>
          <a:p>
            <a:pPr indent="0" lvl="0" marL="0" rtl="0" algn="l">
              <a:lnSpc>
                <a:spcPct val="115000"/>
              </a:lnSpc>
              <a:spcBef>
                <a:spcPts val="1200"/>
              </a:spcBef>
              <a:spcAft>
                <a:spcPts val="0"/>
              </a:spcAft>
              <a:buClr>
                <a:schemeClr val="dk1"/>
              </a:buClr>
              <a:buSzPts val="1100"/>
              <a:buFont typeface="Arial"/>
              <a:buNone/>
            </a:pPr>
            <a:r>
              <a:rPr lang="en" sz="900"/>
              <a:t>The neural network had high precision, but its recall was too low for a recall-first early-warning use case.</a:t>
            </a:r>
            <a:endParaRPr sz="900"/>
          </a:p>
          <a:p>
            <a:pPr indent="0" lvl="0" marL="0" rtl="0" algn="l">
              <a:lnSpc>
                <a:spcPct val="115000"/>
              </a:lnSpc>
              <a:spcBef>
                <a:spcPts val="1200"/>
              </a:spcBef>
              <a:spcAft>
                <a:spcPts val="0"/>
              </a:spcAft>
              <a:buClr>
                <a:schemeClr val="dk1"/>
              </a:buClr>
              <a:buSzPts val="1100"/>
              <a:buFont typeface="Arial"/>
              <a:buNone/>
            </a:pPr>
            <a:r>
              <a:rPr lang="en" sz="900"/>
              <a:t>The linear models caught many positives but had weaker precision-recall performance.</a:t>
            </a:r>
            <a:endParaRPr sz="900"/>
          </a:p>
          <a:p>
            <a:pPr indent="0" lvl="0" marL="0" rtl="0" algn="l">
              <a:lnSpc>
                <a:spcPct val="115000"/>
              </a:lnSpc>
              <a:spcBef>
                <a:spcPts val="1200"/>
              </a:spcBef>
              <a:spcAft>
                <a:spcPts val="1200"/>
              </a:spcAft>
              <a:buSzPts val="1100"/>
              <a:buNone/>
            </a:pPr>
            <a:r>
              <a:rPr lang="en" sz="900"/>
              <a:t>So LightGBM gave the best practical balance</a:t>
            </a:r>
            <a:endParaRPr sz="900"/>
          </a:p>
        </p:txBody>
      </p:sp>
      <p:sp>
        <p:nvSpPr>
          <p:cNvPr id="386" name="Google Shape;386;g3ebc0853443_2_32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ebc0853443_2_413: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3ebc0853443_2_413: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The model outputs a probability, but the business needs a decision: flag the loan or do not flag it.</a:t>
            </a:r>
            <a:endParaRPr sz="900"/>
          </a:p>
          <a:p>
            <a:pPr indent="0" lvl="0" marL="0" rtl="0" algn="l">
              <a:lnSpc>
                <a:spcPct val="115000"/>
              </a:lnSpc>
              <a:spcBef>
                <a:spcPts val="1200"/>
              </a:spcBef>
              <a:spcAft>
                <a:spcPts val="0"/>
              </a:spcAft>
              <a:buClr>
                <a:schemeClr val="dk1"/>
              </a:buClr>
              <a:buSzPts val="1100"/>
              <a:buFont typeface="Arial"/>
              <a:buNone/>
            </a:pPr>
            <a:r>
              <a:rPr lang="en" sz="900"/>
              <a:t>That means we need to choose a threshold.</a:t>
            </a:r>
            <a:endParaRPr sz="900"/>
          </a:p>
          <a:p>
            <a:pPr indent="0" lvl="0" marL="0" rtl="0" algn="l">
              <a:lnSpc>
                <a:spcPct val="115000"/>
              </a:lnSpc>
              <a:spcBef>
                <a:spcPts val="1200"/>
              </a:spcBef>
              <a:spcAft>
                <a:spcPts val="0"/>
              </a:spcAft>
              <a:buClr>
                <a:schemeClr val="dk1"/>
              </a:buClr>
              <a:buSzPts val="1100"/>
              <a:buFont typeface="Arial"/>
              <a:buNone/>
            </a:pPr>
            <a:r>
              <a:rPr lang="en" sz="900"/>
              <a:t>The default 0.5 threshold is not always the best threshold, especially in an imbalanced classification problem.</a:t>
            </a:r>
            <a:endParaRPr sz="900"/>
          </a:p>
          <a:p>
            <a:pPr indent="0" lvl="0" marL="0" rtl="0" algn="l">
              <a:lnSpc>
                <a:spcPct val="115000"/>
              </a:lnSpc>
              <a:spcBef>
                <a:spcPts val="1200"/>
              </a:spcBef>
              <a:spcAft>
                <a:spcPts val="0"/>
              </a:spcAft>
              <a:buClr>
                <a:schemeClr val="dk1"/>
              </a:buClr>
              <a:buSzPts val="1100"/>
              <a:buFont typeface="Arial"/>
              <a:buNone/>
            </a:pPr>
            <a:r>
              <a:rPr lang="en" sz="900"/>
              <a:t>Here, I chose a threshold of 0.70 because the goal was recall-first: catching a large share of future serious delinquencies while still keeping the review queue manageable.</a:t>
            </a:r>
            <a:endParaRPr sz="900"/>
          </a:p>
          <a:p>
            <a:pPr indent="0" lvl="0" marL="0" rtl="0" algn="l">
              <a:lnSpc>
                <a:spcPct val="115000"/>
              </a:lnSpc>
              <a:spcBef>
                <a:spcPts val="1200"/>
              </a:spcBef>
              <a:spcAft>
                <a:spcPts val="0"/>
              </a:spcAft>
              <a:buClr>
                <a:schemeClr val="dk1"/>
              </a:buClr>
              <a:buSzPts val="1100"/>
              <a:buFont typeface="Arial"/>
              <a:buNone/>
            </a:pPr>
            <a:r>
              <a:rPr lang="en" sz="900"/>
              <a:t>At this threshold, recall was about 0.71, and the model flagged only about 1.36% of the book.</a:t>
            </a:r>
            <a:endParaRPr sz="900"/>
          </a:p>
          <a:p>
            <a:pPr indent="0" lvl="0" marL="0" rtl="0" algn="l">
              <a:lnSpc>
                <a:spcPct val="115000"/>
              </a:lnSpc>
              <a:spcBef>
                <a:spcPts val="1200"/>
              </a:spcBef>
              <a:spcAft>
                <a:spcPts val="1200"/>
              </a:spcAft>
              <a:buSzPts val="1100"/>
              <a:buNone/>
            </a:pPr>
            <a:r>
              <a:rPr lang="en" sz="900"/>
              <a:t>That makes the output more realistic as a servicing watchlist</a:t>
            </a:r>
            <a:endParaRPr sz="900"/>
          </a:p>
        </p:txBody>
      </p:sp>
      <p:sp>
        <p:nvSpPr>
          <p:cNvPr id="475" name="Google Shape;475;g3ebc0853443_2_413: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ebc0853443_2_43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g3ebc0853443_2_43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On the held-out test set, the final model reached a ROC-AUC of 0.949 and a PR-AUC of 0.340.</a:t>
            </a:r>
            <a:endParaRPr sz="900"/>
          </a:p>
          <a:p>
            <a:pPr indent="0" lvl="0" marL="0" rtl="0" algn="l">
              <a:lnSpc>
                <a:spcPct val="115000"/>
              </a:lnSpc>
              <a:spcBef>
                <a:spcPts val="1200"/>
              </a:spcBef>
              <a:spcAft>
                <a:spcPts val="0"/>
              </a:spcAft>
              <a:buClr>
                <a:schemeClr val="dk1"/>
              </a:buClr>
              <a:buSzPts val="1100"/>
              <a:buFont typeface="Arial"/>
              <a:buNone/>
            </a:pPr>
            <a:r>
              <a:rPr lang="en" sz="900"/>
              <a:t>At the chosen threshold, it caught 5,272 true future serious delinquencies and missed 2,113.</a:t>
            </a:r>
            <a:endParaRPr sz="900"/>
          </a:p>
          <a:p>
            <a:pPr indent="0" lvl="0" marL="0" rtl="0" algn="l">
              <a:lnSpc>
                <a:spcPct val="115000"/>
              </a:lnSpc>
              <a:spcBef>
                <a:spcPts val="1200"/>
              </a:spcBef>
              <a:spcAft>
                <a:spcPts val="0"/>
              </a:spcAft>
              <a:buClr>
                <a:schemeClr val="dk1"/>
              </a:buClr>
              <a:buSzPts val="1100"/>
              <a:buFont typeface="Arial"/>
              <a:buNone/>
            </a:pPr>
            <a:r>
              <a:rPr lang="en" sz="900"/>
              <a:t>It also produced 28,255 false positives and about 2.43 million true negatives.</a:t>
            </a:r>
            <a:endParaRPr sz="900"/>
          </a:p>
          <a:p>
            <a:pPr indent="0" lvl="0" marL="0" rtl="0" algn="l">
              <a:lnSpc>
                <a:spcPct val="115000"/>
              </a:lnSpc>
              <a:spcBef>
                <a:spcPts val="1200"/>
              </a:spcBef>
              <a:spcAft>
                <a:spcPts val="0"/>
              </a:spcAft>
              <a:buClr>
                <a:schemeClr val="dk1"/>
              </a:buClr>
              <a:buSzPts val="1100"/>
              <a:buFont typeface="Arial"/>
              <a:buNone/>
            </a:pPr>
            <a:r>
              <a:rPr lang="en" sz="900"/>
              <a:t>The key practical result is that the model caught about 71% of future serious delinquencies while flagging only 1.36% of loan-months.</a:t>
            </a:r>
            <a:endParaRPr sz="900"/>
          </a:p>
          <a:p>
            <a:pPr indent="0" lvl="0" marL="0" rtl="0" algn="l">
              <a:lnSpc>
                <a:spcPct val="115000"/>
              </a:lnSpc>
              <a:spcBef>
                <a:spcPts val="1200"/>
              </a:spcBef>
              <a:spcAft>
                <a:spcPts val="0"/>
              </a:spcAft>
              <a:buClr>
                <a:schemeClr val="dk1"/>
              </a:buClr>
              <a:buSzPts val="1100"/>
              <a:buFont typeface="Arial"/>
              <a:buNone/>
            </a:pPr>
            <a:r>
              <a:rPr lang="en" sz="900"/>
              <a:t>Because the base rate is only about 0.30% on the test set, the flagged group is much more concentrated with risk than the overall population.</a:t>
            </a:r>
            <a:endParaRPr sz="900"/>
          </a:p>
          <a:p>
            <a:pPr indent="0" lvl="0" marL="0" rtl="0" algn="l">
              <a:lnSpc>
                <a:spcPct val="115000"/>
              </a:lnSpc>
              <a:spcBef>
                <a:spcPts val="1200"/>
              </a:spcBef>
              <a:spcAft>
                <a:spcPts val="1200"/>
              </a:spcAft>
              <a:buSzPts val="1100"/>
              <a:buNone/>
            </a:pPr>
            <a:r>
              <a:rPr lang="en" sz="900"/>
              <a:t>That is the main value of the model: it turns a very large servicing book into a much smaller, higher-risk review queue</a:t>
            </a:r>
            <a:endParaRPr sz="900"/>
          </a:p>
        </p:txBody>
      </p:sp>
      <p:sp>
        <p:nvSpPr>
          <p:cNvPr id="495" name="Google Shape;495;g3ebc0853443_2_43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ebc0853443_2_46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g3ebc0853443_2_46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lnSpc>
                <a:spcPct val="115000"/>
              </a:lnSpc>
              <a:spcBef>
                <a:spcPts val="1200"/>
              </a:spcBef>
              <a:spcAft>
                <a:spcPts val="0"/>
              </a:spcAft>
              <a:buClr>
                <a:schemeClr val="dk1"/>
              </a:buClr>
              <a:buSzPts val="1100"/>
              <a:buFont typeface="Arial"/>
              <a:buNone/>
            </a:pPr>
            <a:r>
              <a:rPr lang="en" sz="900"/>
              <a:t>The strongest model drivers were familiar credit-risk variables.</a:t>
            </a:r>
            <a:endParaRPr sz="900"/>
          </a:p>
          <a:p>
            <a:pPr indent="0" lvl="0" marL="0" rtl="0" algn="l">
              <a:lnSpc>
                <a:spcPct val="115000"/>
              </a:lnSpc>
              <a:spcBef>
                <a:spcPts val="1200"/>
              </a:spcBef>
              <a:spcAft>
                <a:spcPts val="0"/>
              </a:spcAft>
              <a:buClr>
                <a:schemeClr val="dk1"/>
              </a:buClr>
              <a:buSzPts val="1100"/>
              <a:buFont typeface="Arial"/>
              <a:buNone/>
            </a:pPr>
            <a:r>
              <a:rPr lang="en" sz="900"/>
              <a:t>Borrower credit score, DTI, original UPB, current UPB, co-borrower credit score, interest rate, LTV, CLTV, principal paid, and months to maturity all appeared near the top.</a:t>
            </a:r>
            <a:endParaRPr sz="900"/>
          </a:p>
          <a:p>
            <a:pPr indent="0" lvl="0" marL="0" rtl="0" algn="l">
              <a:lnSpc>
                <a:spcPct val="115000"/>
              </a:lnSpc>
              <a:spcBef>
                <a:spcPts val="1200"/>
              </a:spcBef>
              <a:spcAft>
                <a:spcPts val="0"/>
              </a:spcAft>
              <a:buClr>
                <a:schemeClr val="dk1"/>
              </a:buClr>
              <a:buSzPts val="1100"/>
              <a:buFont typeface="Arial"/>
              <a:buNone/>
            </a:pPr>
            <a:r>
              <a:rPr lang="en" sz="900"/>
              <a:t>This is reassuring because the model is not relying on one strange or hard-to-explain variable.</a:t>
            </a:r>
            <a:endParaRPr sz="900"/>
          </a:p>
          <a:p>
            <a:pPr indent="0" lvl="0" marL="0" rtl="0" algn="l">
              <a:lnSpc>
                <a:spcPct val="115000"/>
              </a:lnSpc>
              <a:spcBef>
                <a:spcPts val="1200"/>
              </a:spcBef>
              <a:spcAft>
                <a:spcPts val="0"/>
              </a:spcAft>
              <a:buClr>
                <a:schemeClr val="dk1"/>
              </a:buClr>
              <a:buSzPts val="1100"/>
              <a:buFont typeface="Arial"/>
              <a:buNone/>
            </a:pPr>
            <a:r>
              <a:rPr lang="en" sz="900"/>
              <a:t>It is mostly using standard credit fundamentals, loan balance behavior, and time context.</a:t>
            </a:r>
            <a:endParaRPr sz="900"/>
          </a:p>
          <a:p>
            <a:pPr indent="0" lvl="0" marL="0" rtl="0" algn="l">
              <a:lnSpc>
                <a:spcPct val="115000"/>
              </a:lnSpc>
              <a:spcBef>
                <a:spcPts val="1200"/>
              </a:spcBef>
              <a:spcAft>
                <a:spcPts val="1200"/>
              </a:spcAft>
              <a:buSzPts val="1100"/>
              <a:buNone/>
            </a:pPr>
            <a:r>
              <a:rPr lang="en" sz="900"/>
              <a:t>That makes the model easier to explain to a business audience and more credible as a risk-prioritization tool</a:t>
            </a:r>
            <a:endParaRPr sz="900"/>
          </a:p>
        </p:txBody>
      </p:sp>
      <p:sp>
        <p:nvSpPr>
          <p:cNvPr id="530" name="Google Shape;530;g3ebc0853443_2_46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ebc0853443_2_51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ebc0853443_2_51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t/>
            </a:r>
            <a:endParaRPr sz="900"/>
          </a:p>
        </p:txBody>
      </p:sp>
      <p:sp>
        <p:nvSpPr>
          <p:cNvPr id="583" name="Google Shape;583;g3ebc0853443_2_51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56" name="Shape 56"/>
        <p:cNvGrpSpPr/>
        <p:nvPr/>
      </p:nvGrpSpPr>
      <p:grpSpPr>
        <a:xfrm>
          <a:off x="0" y="0"/>
          <a:ext cx="0" cy="0"/>
          <a:chOff x="0" y="0"/>
          <a:chExt cx="0" cy="0"/>
        </a:xfrm>
      </p:grpSpPr>
      <p:sp>
        <p:nvSpPr>
          <p:cNvPr id="57" name="Google Shape;57;p15"/>
          <p:cNvSpPr/>
          <p:nvPr/>
        </p:nvSpPr>
        <p:spPr>
          <a:xfrm>
            <a:off x="533363" y="644054"/>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 name="Google Shape;58;p15"/>
          <p:cNvSpPr/>
          <p:nvPr/>
        </p:nvSpPr>
        <p:spPr>
          <a:xfrm>
            <a:off x="533363" y="399976"/>
            <a:ext cx="225867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FINAL PRESENTATION</a:t>
            </a:r>
            <a:endParaRPr b="0" i="0" sz="900" u="none" cap="none" strike="noStrike">
              <a:solidFill>
                <a:schemeClr val="dk1"/>
              </a:solidFill>
              <a:latin typeface="Calibri"/>
              <a:ea typeface="Calibri"/>
              <a:cs typeface="Calibri"/>
              <a:sym typeface="Calibri"/>
            </a:endParaRPr>
          </a:p>
        </p:txBody>
      </p:sp>
      <p:sp>
        <p:nvSpPr>
          <p:cNvPr id="59" name="Google Shape;59;p15"/>
          <p:cNvSpPr/>
          <p:nvPr/>
        </p:nvSpPr>
        <p:spPr>
          <a:xfrm>
            <a:off x="4279553" y="399976"/>
            <a:ext cx="73415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JUNE 2026</a:t>
            </a:r>
            <a:endParaRPr b="0" i="0" sz="900" u="none" cap="none" strike="noStrike">
              <a:solidFill>
                <a:schemeClr val="dk1"/>
              </a:solidFill>
              <a:latin typeface="Calibri"/>
              <a:ea typeface="Calibri"/>
              <a:cs typeface="Calibri"/>
              <a:sym typeface="Calibri"/>
            </a:endParaRPr>
          </a:p>
        </p:txBody>
      </p:sp>
      <p:sp>
        <p:nvSpPr>
          <p:cNvPr id="60" name="Google Shape;60;p15"/>
          <p:cNvSpPr/>
          <p:nvPr/>
        </p:nvSpPr>
        <p:spPr>
          <a:xfrm>
            <a:off x="6528904" y="399976"/>
            <a:ext cx="214418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RISK · FORECASTING</a:t>
            </a:r>
            <a:endParaRPr b="0" i="0" sz="900" u="none" cap="none" strike="noStrike">
              <a:solidFill>
                <a:schemeClr val="dk1"/>
              </a:solidFill>
              <a:latin typeface="Calibri"/>
              <a:ea typeface="Calibri"/>
              <a:cs typeface="Calibri"/>
              <a:sym typeface="Calibri"/>
            </a:endParaRPr>
          </a:p>
        </p:txBody>
      </p:sp>
      <p:sp>
        <p:nvSpPr>
          <p:cNvPr id="61" name="Google Shape;61;p15"/>
          <p:cNvSpPr/>
          <p:nvPr/>
        </p:nvSpPr>
        <p:spPr>
          <a:xfrm>
            <a:off x="533363" y="1483910"/>
            <a:ext cx="53578" cy="1723429"/>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2" name="Google Shape;62;p15"/>
          <p:cNvSpPr/>
          <p:nvPr/>
        </p:nvSpPr>
        <p:spPr>
          <a:xfrm>
            <a:off x="815541" y="1483910"/>
            <a:ext cx="8037415" cy="1742479"/>
          </a:xfrm>
          <a:prstGeom prst="rect">
            <a:avLst/>
          </a:prstGeom>
          <a:noFill/>
          <a:ln>
            <a:noFill/>
          </a:ln>
        </p:spPr>
        <p:txBody>
          <a:bodyPr anchorCtr="0" anchor="t" bIns="12700" lIns="12700" spcFirstLastPara="1" rIns="12700" wrap="square" tIns="12700">
            <a:noAutofit/>
          </a:bodyPr>
          <a:lstStyle/>
          <a:p>
            <a:pPr indent="0" lvl="0" marL="0" rtl="0" algn="l">
              <a:lnSpc>
                <a:spcPct val="104000"/>
              </a:lnSpc>
              <a:spcBef>
                <a:spcPts val="0"/>
              </a:spcBef>
              <a:spcAft>
                <a:spcPts val="0"/>
              </a:spcAft>
              <a:buClr>
                <a:schemeClr val="dk1"/>
              </a:buClr>
              <a:buSzPts val="1100"/>
              <a:buFont typeface="Arial"/>
              <a:buNone/>
            </a:pPr>
            <a:r>
              <a:rPr b="1" lang="en" sz="3800">
                <a:solidFill>
                  <a:srgbClr val="1C2026"/>
                </a:solidFill>
                <a:latin typeface="IBM Plex Sans"/>
                <a:ea typeface="IBM Plex Sans"/>
                <a:cs typeface="IBM Plex Sans"/>
                <a:sym typeface="IBM Plex Sans"/>
              </a:rPr>
              <a:t>PREDICTING 90+ DAY MORTGAGE DELINQUENCY, SIX MONTHS EARLY</a:t>
            </a:r>
            <a:endParaRPr b="1" sz="3800">
              <a:solidFill>
                <a:srgbClr val="1C2026"/>
              </a:solidFill>
              <a:latin typeface="IBM Plex Sans"/>
              <a:ea typeface="IBM Plex Sans"/>
              <a:cs typeface="IBM Plex Sans"/>
              <a:sym typeface="IBM Plex Sans"/>
            </a:endParaRPr>
          </a:p>
          <a:p>
            <a:pPr indent="0" lvl="0" marL="0" rtl="0" algn="l">
              <a:lnSpc>
                <a:spcPct val="104000"/>
              </a:lnSpc>
              <a:spcBef>
                <a:spcPts val="0"/>
              </a:spcBef>
              <a:spcAft>
                <a:spcPts val="0"/>
              </a:spcAft>
              <a:buClr>
                <a:schemeClr val="dk1"/>
              </a:buClr>
              <a:buSzPts val="1100"/>
              <a:buFont typeface="Arial"/>
              <a:buNone/>
            </a:pPr>
            <a:r>
              <a:t/>
            </a:r>
            <a:endParaRPr b="1" sz="4400">
              <a:solidFill>
                <a:srgbClr val="1C2026"/>
              </a:solidFill>
              <a:latin typeface="IBM Plex Sans"/>
              <a:ea typeface="IBM Plex Sans"/>
              <a:cs typeface="IBM Plex Sans"/>
              <a:sym typeface="IBM Plex Sans"/>
            </a:endParaRPr>
          </a:p>
          <a:p>
            <a:pPr indent="0" lvl="0" marL="0" marR="0" rtl="0" algn="l">
              <a:lnSpc>
                <a:spcPct val="104000"/>
              </a:lnSpc>
              <a:spcBef>
                <a:spcPts val="0"/>
              </a:spcBef>
              <a:spcAft>
                <a:spcPts val="0"/>
              </a:spcAft>
              <a:buClr>
                <a:srgbClr val="1C2026"/>
              </a:buClr>
              <a:buSzPts val="4400"/>
              <a:buFont typeface="IBM Plex Sans"/>
              <a:buNone/>
            </a:pPr>
            <a:r>
              <a:t/>
            </a:r>
            <a:endParaRPr b="1" sz="4400">
              <a:solidFill>
                <a:srgbClr val="1C2026"/>
              </a:solidFill>
              <a:latin typeface="IBM Plex Sans"/>
              <a:ea typeface="IBM Plex Sans"/>
              <a:cs typeface="IBM Plex Sans"/>
              <a:sym typeface="IBM Plex Sans"/>
            </a:endParaRPr>
          </a:p>
        </p:txBody>
      </p:sp>
      <p:sp>
        <p:nvSpPr>
          <p:cNvPr id="63" name="Google Shape;63;p15"/>
          <p:cNvSpPr/>
          <p:nvPr/>
        </p:nvSpPr>
        <p:spPr>
          <a:xfrm>
            <a:off x="533363" y="3397839"/>
            <a:ext cx="5788343" cy="433350"/>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Clr>
                <a:srgbClr val="454C55"/>
              </a:buClr>
              <a:buSzPts val="1100"/>
              <a:buFont typeface="IBM Plex Sans"/>
              <a:buNone/>
            </a:pPr>
            <a:r>
              <a:rPr b="0" i="0" lang="en" sz="1100" u="none" cap="none" strike="noStrike">
                <a:solidFill>
                  <a:srgbClr val="454C55"/>
                </a:solidFill>
                <a:latin typeface="IBM Plex Sans"/>
                <a:ea typeface="IBM Plex Sans"/>
                <a:cs typeface="IBM Plex Sans"/>
                <a:sym typeface="IBM Plex Sans"/>
              </a:rPr>
              <a:t>A loan-level model that flags Fannie Mae mortgages likely to become 90+ days delinquent within six months, trained on 12.5 million monthly loan records.</a:t>
            </a:r>
            <a:endParaRPr b="0" i="0" sz="1100" u="none" cap="none" strike="noStrike">
              <a:solidFill>
                <a:schemeClr val="dk1"/>
              </a:solidFill>
              <a:latin typeface="Calibri"/>
              <a:ea typeface="Calibri"/>
              <a:cs typeface="Calibri"/>
              <a:sym typeface="Calibri"/>
            </a:endParaRPr>
          </a:p>
        </p:txBody>
      </p:sp>
      <p:sp>
        <p:nvSpPr>
          <p:cNvPr id="64" name="Google Shape;64;p15"/>
          <p:cNvSpPr/>
          <p:nvPr/>
        </p:nvSpPr>
        <p:spPr>
          <a:xfrm>
            <a:off x="533363" y="4306621"/>
            <a:ext cx="8077275"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5" name="Google Shape;65;p15"/>
          <p:cNvSpPr/>
          <p:nvPr/>
        </p:nvSpPr>
        <p:spPr>
          <a:xfrm>
            <a:off x="533363" y="4445868"/>
            <a:ext cx="78633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AUTHOR</a:t>
            </a:r>
            <a:endParaRPr b="0" i="0" sz="900" u="none" cap="none" strike="noStrike">
              <a:solidFill>
                <a:schemeClr val="dk1"/>
              </a:solidFill>
              <a:latin typeface="Calibri"/>
              <a:ea typeface="Calibri"/>
              <a:cs typeface="Calibri"/>
              <a:sym typeface="Calibri"/>
            </a:endParaRPr>
          </a:p>
        </p:txBody>
      </p:sp>
      <p:sp>
        <p:nvSpPr>
          <p:cNvPr id="66" name="Google Shape;66;p15"/>
          <p:cNvSpPr/>
          <p:nvPr/>
        </p:nvSpPr>
        <p:spPr>
          <a:xfrm>
            <a:off x="533363" y="4632741"/>
            <a:ext cx="78633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Esh S. Chhura</a:t>
            </a:r>
            <a:endParaRPr b="0" i="0" sz="900" u="none" cap="none" strike="noStrike">
              <a:solidFill>
                <a:schemeClr val="dk1"/>
              </a:solidFill>
              <a:latin typeface="Calibri"/>
              <a:ea typeface="Calibri"/>
              <a:cs typeface="Calibri"/>
              <a:sym typeface="Calibri"/>
            </a:endParaRPr>
          </a:p>
        </p:txBody>
      </p:sp>
      <p:sp>
        <p:nvSpPr>
          <p:cNvPr id="67" name="Google Shape;67;p15"/>
          <p:cNvSpPr/>
          <p:nvPr/>
        </p:nvSpPr>
        <p:spPr>
          <a:xfrm>
            <a:off x="1586322" y="4445868"/>
            <a:ext cx="125756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REPOSITORY</a:t>
            </a:r>
            <a:endParaRPr b="0" i="0" sz="900" u="none" cap="none" strike="noStrike">
              <a:solidFill>
                <a:schemeClr val="dk1"/>
              </a:solidFill>
              <a:latin typeface="Calibri"/>
              <a:ea typeface="Calibri"/>
              <a:cs typeface="Calibri"/>
              <a:sym typeface="Calibri"/>
            </a:endParaRPr>
          </a:p>
        </p:txBody>
      </p:sp>
      <p:sp>
        <p:nvSpPr>
          <p:cNvPr id="68" name="Google Shape;68;p15"/>
          <p:cNvSpPr/>
          <p:nvPr/>
        </p:nvSpPr>
        <p:spPr>
          <a:xfrm>
            <a:off x="1586322" y="4632741"/>
            <a:ext cx="125756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github.com/eshchhura</a:t>
            </a:r>
            <a:endParaRPr b="0" i="0" sz="900" u="none" cap="none" strike="noStrike">
              <a:solidFill>
                <a:schemeClr val="dk1"/>
              </a:solidFill>
              <a:latin typeface="Calibri"/>
              <a:ea typeface="Calibri"/>
              <a:cs typeface="Calibri"/>
              <a:sym typeface="Calibri"/>
            </a:endParaRPr>
          </a:p>
        </p:txBody>
      </p:sp>
      <p:sp>
        <p:nvSpPr>
          <p:cNvPr id="69" name="Google Shape;69;p15"/>
          <p:cNvSpPr/>
          <p:nvPr/>
        </p:nvSpPr>
        <p:spPr>
          <a:xfrm>
            <a:off x="3110508" y="4445868"/>
            <a:ext cx="22824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FINAL MODEL</a:t>
            </a:r>
            <a:endParaRPr b="0" i="0" sz="900" u="none" cap="none" strike="noStrike">
              <a:solidFill>
                <a:schemeClr val="dk1"/>
              </a:solidFill>
              <a:latin typeface="Calibri"/>
              <a:ea typeface="Calibri"/>
              <a:cs typeface="Calibri"/>
              <a:sym typeface="Calibri"/>
            </a:endParaRPr>
          </a:p>
        </p:txBody>
      </p:sp>
      <p:sp>
        <p:nvSpPr>
          <p:cNvPr id="70" name="Google Shape;70;p15"/>
          <p:cNvSpPr/>
          <p:nvPr/>
        </p:nvSpPr>
        <p:spPr>
          <a:xfrm>
            <a:off x="3110508" y="4632741"/>
            <a:ext cx="22824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Oversampled LightGBM · ROC-AUC 0.949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75" name="Shape 75"/>
        <p:cNvGrpSpPr/>
        <p:nvPr/>
      </p:nvGrpSpPr>
      <p:grpSpPr>
        <a:xfrm>
          <a:off x="0" y="0"/>
          <a:ext cx="0" cy="0"/>
          <a:chOff x="0" y="0"/>
          <a:chExt cx="0" cy="0"/>
        </a:xfrm>
      </p:grpSpPr>
      <p:sp>
        <p:nvSpPr>
          <p:cNvPr id="76" name="Google Shape;76;p16"/>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77" name="Google Shape;77;p16"/>
          <p:cNvSpPr/>
          <p:nvPr/>
        </p:nvSpPr>
        <p:spPr>
          <a:xfrm>
            <a:off x="533363" y="399976"/>
            <a:ext cx="93302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01 · PROBLEM</a:t>
            </a:r>
            <a:endParaRPr b="0" i="0" sz="900" u="none" cap="none" strike="noStrike">
              <a:solidFill>
                <a:schemeClr val="dk1"/>
              </a:solidFill>
              <a:latin typeface="Calibri"/>
              <a:ea typeface="Calibri"/>
              <a:cs typeface="Calibri"/>
              <a:sym typeface="Calibri"/>
            </a:endParaRPr>
          </a:p>
        </p:txBody>
      </p:sp>
      <p:sp>
        <p:nvSpPr>
          <p:cNvPr id="78" name="Google Shape;78;p16"/>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02</a:t>
            </a:r>
            <a:endParaRPr b="0" i="0" sz="900" u="none" cap="none" strike="noStrike">
              <a:solidFill>
                <a:schemeClr val="dk1"/>
              </a:solidFill>
              <a:latin typeface="Calibri"/>
              <a:ea typeface="Calibri"/>
              <a:cs typeface="Calibri"/>
              <a:sym typeface="Calibri"/>
            </a:endParaRPr>
          </a:p>
        </p:txBody>
      </p:sp>
      <p:sp>
        <p:nvSpPr>
          <p:cNvPr id="79" name="Google Shape;79;p16"/>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rtl="0" algn="l">
              <a:lnSpc>
                <a:spcPct val="106000"/>
              </a:lnSpc>
              <a:spcBef>
                <a:spcPts val="0"/>
              </a:spcBef>
              <a:spcAft>
                <a:spcPts val="0"/>
              </a:spcAft>
              <a:buClr>
                <a:schemeClr val="dk1"/>
              </a:buClr>
              <a:buSzPts val="1100"/>
              <a:buFont typeface="Arial"/>
              <a:buNone/>
            </a:pPr>
            <a:r>
              <a:rPr b="1" lang="en" sz="2600">
                <a:solidFill>
                  <a:srgbClr val="1C2026"/>
                </a:solidFill>
                <a:latin typeface="IBM Plex Sans"/>
                <a:ea typeface="IBM Plex Sans"/>
                <a:cs typeface="IBM Plex Sans"/>
                <a:sym typeface="IBM Plex Sans"/>
              </a:rPr>
              <a:t>Problem Definition &amp; Audience</a:t>
            </a:r>
            <a:endParaRPr b="1" sz="2600">
              <a:solidFill>
                <a:srgbClr val="1C2026"/>
              </a:solidFill>
              <a:latin typeface="IBM Plex Sans"/>
              <a:ea typeface="IBM Plex Sans"/>
              <a:cs typeface="IBM Plex Sans"/>
              <a:sym typeface="IBM Plex Sans"/>
            </a:endParaRPr>
          </a:p>
          <a:p>
            <a:pPr indent="0" lvl="0" marL="0" marR="0" rtl="0" algn="l">
              <a:lnSpc>
                <a:spcPct val="106000"/>
              </a:lnSpc>
              <a:spcBef>
                <a:spcPts val="0"/>
              </a:spcBef>
              <a:spcAft>
                <a:spcPts val="0"/>
              </a:spcAft>
              <a:buClr>
                <a:srgbClr val="1C2026"/>
              </a:buClr>
              <a:buSzPts val="2600"/>
              <a:buFont typeface="IBM Plex Sans"/>
              <a:buNone/>
            </a:pPr>
            <a:r>
              <a:t/>
            </a:r>
            <a:endParaRPr b="1" sz="2600">
              <a:solidFill>
                <a:srgbClr val="1C2026"/>
              </a:solidFill>
              <a:latin typeface="IBM Plex Sans"/>
              <a:ea typeface="IBM Plex Sans"/>
              <a:cs typeface="IBM Plex Sans"/>
              <a:sym typeface="IBM Plex Sans"/>
            </a:endParaRPr>
          </a:p>
        </p:txBody>
      </p:sp>
      <p:sp>
        <p:nvSpPr>
          <p:cNvPr id="80" name="Google Shape;80;p16"/>
          <p:cNvSpPr/>
          <p:nvPr/>
        </p:nvSpPr>
        <p:spPr>
          <a:xfrm>
            <a:off x="533363" y="1450330"/>
            <a:ext cx="482690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WHY THIS MATTERS</a:t>
            </a:r>
            <a:endParaRPr b="0" i="0" sz="900" u="none" cap="none" strike="noStrike">
              <a:solidFill>
                <a:schemeClr val="dk1"/>
              </a:solidFill>
              <a:latin typeface="Calibri"/>
              <a:ea typeface="Calibri"/>
              <a:cs typeface="Calibri"/>
              <a:sym typeface="Calibri"/>
            </a:endParaRPr>
          </a:p>
        </p:txBody>
      </p:sp>
      <p:sp>
        <p:nvSpPr>
          <p:cNvPr id="81" name="Google Shape;81;p16"/>
          <p:cNvSpPr/>
          <p:nvPr/>
        </p:nvSpPr>
        <p:spPr>
          <a:xfrm>
            <a:off x="533363" y="1656271"/>
            <a:ext cx="4826908" cy="761702"/>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A mortgage that quietly slides toward delinquency is costly for everyone: the servicer, the investor, and the household. By the time a loan is 90 days past due, most of the good options are already gone. The useful question is the earlier one: which loans are heading there?</a:t>
            </a:r>
            <a:endParaRPr b="0" i="0" sz="1000" u="none" cap="none" strike="noStrike">
              <a:solidFill>
                <a:schemeClr val="dk1"/>
              </a:solidFill>
              <a:latin typeface="Calibri"/>
              <a:ea typeface="Calibri"/>
              <a:cs typeface="Calibri"/>
              <a:sym typeface="Calibri"/>
            </a:endParaRPr>
          </a:p>
        </p:txBody>
      </p:sp>
      <p:sp>
        <p:nvSpPr>
          <p:cNvPr id="82" name="Google Shape;82;p16"/>
          <p:cNvSpPr/>
          <p:nvPr/>
        </p:nvSpPr>
        <p:spPr>
          <a:xfrm>
            <a:off x="533363" y="2598911"/>
            <a:ext cx="482690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THE QUESTION</a:t>
            </a:r>
            <a:endParaRPr b="0" i="0" sz="900" u="none" cap="none" strike="noStrike">
              <a:solidFill>
                <a:schemeClr val="dk1"/>
              </a:solidFill>
              <a:latin typeface="Calibri"/>
              <a:ea typeface="Calibri"/>
              <a:cs typeface="Calibri"/>
              <a:sym typeface="Calibri"/>
            </a:endParaRPr>
          </a:p>
        </p:txBody>
      </p:sp>
      <p:sp>
        <p:nvSpPr>
          <p:cNvPr id="83" name="Google Shape;83;p16"/>
          <p:cNvSpPr/>
          <p:nvPr/>
        </p:nvSpPr>
        <p:spPr>
          <a:xfrm>
            <a:off x="533363" y="2804852"/>
            <a:ext cx="4826908" cy="57604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Given everything we know about a loan this month, can we predict whether it becomes 90+ days delinquent within the next six months, early enough to actually act on?</a:t>
            </a:r>
            <a:endParaRPr b="0" i="0" sz="1000" u="none" cap="none" strike="noStrike">
              <a:solidFill>
                <a:schemeClr val="dk1"/>
              </a:solidFill>
              <a:latin typeface="Calibri"/>
              <a:ea typeface="Calibri"/>
              <a:cs typeface="Calibri"/>
              <a:sym typeface="Calibri"/>
            </a:endParaRPr>
          </a:p>
        </p:txBody>
      </p:sp>
      <p:sp>
        <p:nvSpPr>
          <p:cNvPr id="84" name="Google Shape;84;p16"/>
          <p:cNvSpPr/>
          <p:nvPr/>
        </p:nvSpPr>
        <p:spPr>
          <a:xfrm>
            <a:off x="533363" y="3561829"/>
            <a:ext cx="482690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WHO THIS IS FOR</a:t>
            </a:r>
            <a:endParaRPr b="0" i="0" sz="900" u="none" cap="none" strike="noStrike">
              <a:solidFill>
                <a:schemeClr val="dk1"/>
              </a:solidFill>
              <a:latin typeface="Calibri"/>
              <a:ea typeface="Calibri"/>
              <a:cs typeface="Calibri"/>
              <a:sym typeface="Calibri"/>
            </a:endParaRPr>
          </a:p>
        </p:txBody>
      </p:sp>
      <p:sp>
        <p:nvSpPr>
          <p:cNvPr id="85" name="Google Shape;85;p16"/>
          <p:cNvSpPr/>
          <p:nvPr/>
        </p:nvSpPr>
        <p:spPr>
          <a:xfrm>
            <a:off x="533363" y="3767770"/>
            <a:ext cx="4826908" cy="390376"/>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Servicing and credit-risk teams: the people deciding which borrowers to call first, where to target loss-mitigation outreach, and how to size reserves against the book.</a:t>
            </a:r>
            <a:endParaRPr b="0" i="0" sz="1000" u="none" cap="none" strike="noStrike">
              <a:solidFill>
                <a:schemeClr val="dk1"/>
              </a:solidFill>
              <a:latin typeface="Calibri"/>
              <a:ea typeface="Calibri"/>
              <a:cs typeface="Calibri"/>
              <a:sym typeface="Calibri"/>
            </a:endParaRPr>
          </a:p>
        </p:txBody>
      </p:sp>
      <p:sp>
        <p:nvSpPr>
          <p:cNvPr id="86" name="Google Shape;86;p16"/>
          <p:cNvSpPr/>
          <p:nvPr/>
        </p:nvSpPr>
        <p:spPr>
          <a:xfrm>
            <a:off x="5486363" y="1450330"/>
            <a:ext cx="17860" cy="472715"/>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87" name="Google Shape;87;p16"/>
          <p:cNvSpPr/>
          <p:nvPr/>
        </p:nvSpPr>
        <p:spPr>
          <a:xfrm>
            <a:off x="5608960" y="1450330"/>
            <a:ext cx="3091728" cy="295312"/>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1C2026"/>
              </a:buClr>
              <a:buSzPts val="2200"/>
              <a:buFont typeface="IBM Plex Sans"/>
              <a:buNone/>
            </a:pPr>
            <a:r>
              <a:rPr b="1" i="0" lang="en" sz="2200" u="none" cap="none" strike="noStrike">
                <a:solidFill>
                  <a:srgbClr val="1C2026"/>
                </a:solidFill>
                <a:latin typeface="IBM Plex Sans"/>
                <a:ea typeface="IBM Plex Sans"/>
                <a:cs typeface="IBM Plex Sans"/>
                <a:sym typeface="IBM Plex Sans"/>
              </a:rPr>
              <a:t>12.5M</a:t>
            </a:r>
            <a:endParaRPr b="0" i="0" sz="2200" u="none" cap="none" strike="noStrike">
              <a:solidFill>
                <a:schemeClr val="dk1"/>
              </a:solidFill>
              <a:latin typeface="Calibri"/>
              <a:ea typeface="Calibri"/>
              <a:cs typeface="Calibri"/>
              <a:sym typeface="Calibri"/>
            </a:endParaRPr>
          </a:p>
        </p:txBody>
      </p:sp>
      <p:sp>
        <p:nvSpPr>
          <p:cNvPr id="88" name="Google Shape;88;p16"/>
          <p:cNvSpPr/>
          <p:nvPr/>
        </p:nvSpPr>
        <p:spPr>
          <a:xfrm>
            <a:off x="5608960" y="1774218"/>
            <a:ext cx="309172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LOAN-MONTH ROWS</a:t>
            </a:r>
            <a:endParaRPr b="0" i="0" sz="900" u="none" cap="none" strike="noStrike">
              <a:solidFill>
                <a:schemeClr val="dk1"/>
              </a:solidFill>
              <a:latin typeface="Calibri"/>
              <a:ea typeface="Calibri"/>
              <a:cs typeface="Calibri"/>
              <a:sym typeface="Calibri"/>
            </a:endParaRPr>
          </a:p>
        </p:txBody>
      </p:sp>
      <p:sp>
        <p:nvSpPr>
          <p:cNvPr id="89" name="Google Shape;89;p16"/>
          <p:cNvSpPr/>
          <p:nvPr/>
        </p:nvSpPr>
        <p:spPr>
          <a:xfrm>
            <a:off x="5486363" y="2065921"/>
            <a:ext cx="17860" cy="472715"/>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0" name="Google Shape;90;p16"/>
          <p:cNvSpPr/>
          <p:nvPr/>
        </p:nvSpPr>
        <p:spPr>
          <a:xfrm>
            <a:off x="5608960" y="2065921"/>
            <a:ext cx="3091728" cy="295312"/>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1C2026"/>
              </a:buClr>
              <a:buSzPts val="2200"/>
              <a:buFont typeface="IBM Plex Sans"/>
              <a:buNone/>
            </a:pPr>
            <a:r>
              <a:rPr b="1" i="0" lang="en" sz="2200" u="none" cap="none" strike="noStrike">
                <a:solidFill>
                  <a:srgbClr val="1C2026"/>
                </a:solidFill>
                <a:latin typeface="IBM Plex Sans"/>
                <a:ea typeface="IBM Plex Sans"/>
                <a:cs typeface="IBM Plex Sans"/>
                <a:sym typeface="IBM Plex Sans"/>
              </a:rPr>
              <a:t>172</a:t>
            </a:r>
            <a:endParaRPr b="0" i="0" sz="2200" u="none" cap="none" strike="noStrike">
              <a:solidFill>
                <a:schemeClr val="dk1"/>
              </a:solidFill>
              <a:latin typeface="Calibri"/>
              <a:ea typeface="Calibri"/>
              <a:cs typeface="Calibri"/>
              <a:sym typeface="Calibri"/>
            </a:endParaRPr>
          </a:p>
        </p:txBody>
      </p:sp>
      <p:sp>
        <p:nvSpPr>
          <p:cNvPr id="91" name="Google Shape;91;p16"/>
          <p:cNvSpPr/>
          <p:nvPr/>
        </p:nvSpPr>
        <p:spPr>
          <a:xfrm>
            <a:off x="5608960" y="2389808"/>
            <a:ext cx="309172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MODEL FEATURES</a:t>
            </a:r>
            <a:endParaRPr b="0" i="0" sz="900" u="none" cap="none" strike="noStrike">
              <a:solidFill>
                <a:schemeClr val="dk1"/>
              </a:solidFill>
              <a:latin typeface="Calibri"/>
              <a:ea typeface="Calibri"/>
              <a:cs typeface="Calibri"/>
              <a:sym typeface="Calibri"/>
            </a:endParaRPr>
          </a:p>
        </p:txBody>
      </p:sp>
      <p:sp>
        <p:nvSpPr>
          <p:cNvPr id="92" name="Google Shape;92;p16"/>
          <p:cNvSpPr/>
          <p:nvPr/>
        </p:nvSpPr>
        <p:spPr>
          <a:xfrm>
            <a:off x="5486363" y="2681511"/>
            <a:ext cx="17860" cy="472715"/>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3" name="Google Shape;93;p16"/>
          <p:cNvSpPr/>
          <p:nvPr/>
        </p:nvSpPr>
        <p:spPr>
          <a:xfrm>
            <a:off x="5608960" y="2681511"/>
            <a:ext cx="3091728" cy="295312"/>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1C2026"/>
              </a:buClr>
              <a:buSzPts val="2200"/>
              <a:buFont typeface="IBM Plex Sans"/>
              <a:buNone/>
            </a:pPr>
            <a:r>
              <a:rPr b="1" i="0" lang="en" sz="2200" u="none" cap="none" strike="noStrike">
                <a:solidFill>
                  <a:srgbClr val="1C2026"/>
                </a:solidFill>
                <a:latin typeface="IBM Plex Sans"/>
                <a:ea typeface="IBM Plex Sans"/>
                <a:cs typeface="IBM Plex Sans"/>
                <a:sym typeface="IBM Plex Sans"/>
              </a:rPr>
              <a:t>1 in 80</a:t>
            </a:r>
            <a:endParaRPr b="0" i="0" sz="2200" u="none" cap="none" strike="noStrike">
              <a:solidFill>
                <a:schemeClr val="dk1"/>
              </a:solidFill>
              <a:latin typeface="Calibri"/>
              <a:ea typeface="Calibri"/>
              <a:cs typeface="Calibri"/>
              <a:sym typeface="Calibri"/>
            </a:endParaRPr>
          </a:p>
        </p:txBody>
      </p:sp>
      <p:sp>
        <p:nvSpPr>
          <p:cNvPr id="94" name="Google Shape;94;p16"/>
          <p:cNvSpPr/>
          <p:nvPr/>
        </p:nvSpPr>
        <p:spPr>
          <a:xfrm>
            <a:off x="5608960" y="3005398"/>
            <a:ext cx="309172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BECOME </a:t>
            </a:r>
            <a:r>
              <a:rPr lang="en" sz="900">
                <a:solidFill>
                  <a:srgbClr val="757C85"/>
                </a:solidFill>
                <a:latin typeface="IBM Plex Sans"/>
                <a:ea typeface="IBM Plex Sans"/>
                <a:cs typeface="IBM Plex Sans"/>
                <a:sym typeface="IBM Plex Sans"/>
              </a:rPr>
              <a:t>90+ DAYS </a:t>
            </a:r>
            <a:r>
              <a:rPr b="0" i="0" lang="en" sz="900" u="none" cap="none" strike="noStrike">
                <a:solidFill>
                  <a:srgbClr val="757C85"/>
                </a:solidFill>
                <a:latin typeface="IBM Plex Sans"/>
                <a:ea typeface="IBM Plex Sans"/>
                <a:cs typeface="IBM Plex Sans"/>
                <a:sym typeface="IBM Plex Sans"/>
              </a:rPr>
              <a:t>DELINQUENT</a:t>
            </a:r>
            <a:endParaRPr b="0" i="0" sz="900" u="none" cap="none" strike="noStrike">
              <a:solidFill>
                <a:schemeClr val="dk1"/>
              </a:solidFill>
              <a:latin typeface="Calibri"/>
              <a:ea typeface="Calibri"/>
              <a:cs typeface="Calibri"/>
              <a:sym typeface="Calibri"/>
            </a:endParaRPr>
          </a:p>
        </p:txBody>
      </p:sp>
      <p:sp>
        <p:nvSpPr>
          <p:cNvPr id="95" name="Google Shape;95;p16"/>
          <p:cNvSpPr/>
          <p:nvPr/>
        </p:nvSpPr>
        <p:spPr>
          <a:xfrm>
            <a:off x="5486363" y="3297101"/>
            <a:ext cx="17860" cy="472715"/>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6" name="Google Shape;96;p16"/>
          <p:cNvSpPr/>
          <p:nvPr/>
        </p:nvSpPr>
        <p:spPr>
          <a:xfrm>
            <a:off x="5608960" y="3297101"/>
            <a:ext cx="3091728" cy="295312"/>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1C2026"/>
              </a:buClr>
              <a:buSzPts val="2200"/>
              <a:buFont typeface="IBM Plex Sans"/>
              <a:buNone/>
            </a:pPr>
            <a:r>
              <a:rPr b="1" i="0" lang="en" sz="2200" u="none" cap="none" strike="noStrike">
                <a:solidFill>
                  <a:srgbClr val="1C2026"/>
                </a:solidFill>
                <a:latin typeface="IBM Plex Sans"/>
                <a:ea typeface="IBM Plex Sans"/>
                <a:cs typeface="IBM Plex Sans"/>
                <a:sym typeface="IBM Plex Sans"/>
              </a:rPr>
              <a:t>6 mo</a:t>
            </a:r>
            <a:endParaRPr b="0" i="0" sz="2200" u="none" cap="none" strike="noStrike">
              <a:solidFill>
                <a:schemeClr val="dk1"/>
              </a:solidFill>
              <a:latin typeface="Calibri"/>
              <a:ea typeface="Calibri"/>
              <a:cs typeface="Calibri"/>
              <a:sym typeface="Calibri"/>
            </a:endParaRPr>
          </a:p>
        </p:txBody>
      </p:sp>
      <p:sp>
        <p:nvSpPr>
          <p:cNvPr id="97" name="Google Shape;97;p16"/>
          <p:cNvSpPr/>
          <p:nvPr/>
        </p:nvSpPr>
        <p:spPr>
          <a:xfrm>
            <a:off x="5608960" y="3620989"/>
            <a:ext cx="309172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FORECAST HORIZON</a:t>
            </a:r>
            <a:endParaRPr b="0" i="0" sz="900" u="none" cap="none" strike="noStrike">
              <a:solidFill>
                <a:schemeClr val="dk1"/>
              </a:solidFill>
              <a:latin typeface="Calibri"/>
              <a:ea typeface="Calibri"/>
              <a:cs typeface="Calibri"/>
              <a:sym typeface="Calibri"/>
            </a:endParaRPr>
          </a:p>
        </p:txBody>
      </p:sp>
      <p:sp>
        <p:nvSpPr>
          <p:cNvPr id="98" name="Google Shape;98;p16"/>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99" name="Google Shape;99;p16"/>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104" name="Shape 104"/>
        <p:cNvGrpSpPr/>
        <p:nvPr/>
      </p:nvGrpSpPr>
      <p:grpSpPr>
        <a:xfrm>
          <a:off x="0" y="0"/>
          <a:ext cx="0" cy="0"/>
          <a:chOff x="0" y="0"/>
          <a:chExt cx="0" cy="0"/>
        </a:xfrm>
      </p:grpSpPr>
      <p:sp>
        <p:nvSpPr>
          <p:cNvPr id="105" name="Google Shape;105;p17"/>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06" name="Google Shape;106;p17"/>
          <p:cNvSpPr/>
          <p:nvPr/>
        </p:nvSpPr>
        <p:spPr>
          <a:xfrm>
            <a:off x="533363" y="399976"/>
            <a:ext cx="120612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02 · DATA SOURCE</a:t>
            </a:r>
            <a:endParaRPr b="0" i="0" sz="900" u="none" cap="none" strike="noStrike">
              <a:solidFill>
                <a:schemeClr val="dk1"/>
              </a:solidFill>
              <a:latin typeface="Calibri"/>
              <a:ea typeface="Calibri"/>
              <a:cs typeface="Calibri"/>
              <a:sym typeface="Calibri"/>
            </a:endParaRPr>
          </a:p>
        </p:txBody>
      </p:sp>
      <p:sp>
        <p:nvSpPr>
          <p:cNvPr id="107" name="Google Shape;107;p17"/>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03</a:t>
            </a:r>
            <a:endParaRPr b="0" i="0" sz="900" u="none" cap="none" strike="noStrike">
              <a:solidFill>
                <a:schemeClr val="dk1"/>
              </a:solidFill>
              <a:latin typeface="Calibri"/>
              <a:ea typeface="Calibri"/>
              <a:cs typeface="Calibri"/>
              <a:sym typeface="Calibri"/>
            </a:endParaRPr>
          </a:p>
        </p:txBody>
      </p:sp>
      <p:sp>
        <p:nvSpPr>
          <p:cNvPr id="108" name="Google Shape;108;p17"/>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rtl="0" algn="l">
              <a:lnSpc>
                <a:spcPct val="106000"/>
              </a:lnSpc>
              <a:spcBef>
                <a:spcPts val="0"/>
              </a:spcBef>
              <a:spcAft>
                <a:spcPts val="0"/>
              </a:spcAft>
              <a:buClr>
                <a:schemeClr val="dk1"/>
              </a:buClr>
              <a:buSzPts val="1100"/>
              <a:buFont typeface="Arial"/>
              <a:buNone/>
            </a:pPr>
            <a:r>
              <a:rPr b="1" lang="en" sz="2600">
                <a:solidFill>
                  <a:srgbClr val="1C2026"/>
                </a:solidFill>
                <a:latin typeface="IBM Plex Sans"/>
                <a:ea typeface="IBM Plex Sans"/>
                <a:cs typeface="IBM Plex Sans"/>
                <a:sym typeface="IBM Plex Sans"/>
              </a:rPr>
              <a:t>Data Source &amp; Structure</a:t>
            </a:r>
            <a:endParaRPr b="1" sz="2600">
              <a:solidFill>
                <a:srgbClr val="1C2026"/>
              </a:solidFill>
              <a:latin typeface="IBM Plex Sans"/>
              <a:ea typeface="IBM Plex Sans"/>
              <a:cs typeface="IBM Plex Sans"/>
              <a:sym typeface="IBM Plex Sans"/>
            </a:endParaRPr>
          </a:p>
          <a:p>
            <a:pPr indent="0" lvl="0" marL="0" marR="0" rtl="0" algn="l">
              <a:lnSpc>
                <a:spcPct val="106000"/>
              </a:lnSpc>
              <a:spcBef>
                <a:spcPts val="0"/>
              </a:spcBef>
              <a:spcAft>
                <a:spcPts val="0"/>
              </a:spcAft>
              <a:buClr>
                <a:srgbClr val="1C2026"/>
              </a:buClr>
              <a:buSzPts val="2600"/>
              <a:buFont typeface="IBM Plex Sans"/>
              <a:buNone/>
            </a:pPr>
            <a:r>
              <a:t/>
            </a:r>
            <a:endParaRPr b="1" sz="2600">
              <a:solidFill>
                <a:srgbClr val="1C2026"/>
              </a:solidFill>
              <a:latin typeface="IBM Plex Sans"/>
              <a:ea typeface="IBM Plex Sans"/>
              <a:cs typeface="IBM Plex Sans"/>
              <a:sym typeface="IBM Plex Sans"/>
            </a:endParaRPr>
          </a:p>
        </p:txBody>
      </p:sp>
      <p:sp>
        <p:nvSpPr>
          <p:cNvPr id="109" name="Google Shape;109;p17"/>
          <p:cNvSpPr/>
          <p:nvPr/>
        </p:nvSpPr>
        <p:spPr>
          <a:xfrm>
            <a:off x="533363" y="1431354"/>
            <a:ext cx="451294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SOURCE</a:t>
            </a:r>
            <a:endParaRPr b="0" i="0" sz="900" u="none" cap="none" strike="noStrike">
              <a:solidFill>
                <a:schemeClr val="dk1"/>
              </a:solidFill>
              <a:latin typeface="Calibri"/>
              <a:ea typeface="Calibri"/>
              <a:cs typeface="Calibri"/>
              <a:sym typeface="Calibri"/>
            </a:endParaRPr>
          </a:p>
        </p:txBody>
      </p:sp>
      <p:sp>
        <p:nvSpPr>
          <p:cNvPr id="110" name="Google Shape;110;p17"/>
          <p:cNvSpPr/>
          <p:nvPr/>
        </p:nvSpPr>
        <p:spPr>
          <a:xfrm>
            <a:off x="533363" y="1637295"/>
            <a:ext cx="4512945" cy="761703"/>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Fannie Mae's public Single-Family Loan Performance dataset, the standard benchmark for U.S. mortgage credit research. I worked from a 10% borrower sample of loans originated in 2021 Q1–Q2, then followed each loan month by month as it performed.</a:t>
            </a:r>
            <a:endParaRPr b="0" i="0" sz="1000" u="none" cap="none" strike="noStrike">
              <a:solidFill>
                <a:schemeClr val="dk1"/>
              </a:solidFill>
              <a:latin typeface="Calibri"/>
              <a:ea typeface="Calibri"/>
              <a:cs typeface="Calibri"/>
              <a:sym typeface="Calibri"/>
            </a:endParaRPr>
          </a:p>
        </p:txBody>
      </p:sp>
      <p:sp>
        <p:nvSpPr>
          <p:cNvPr id="111" name="Google Shape;111;p17"/>
          <p:cNvSpPr/>
          <p:nvPr/>
        </p:nvSpPr>
        <p:spPr>
          <a:xfrm>
            <a:off x="533363" y="2560867"/>
            <a:ext cx="451294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WHAT'S IN A ROW</a:t>
            </a:r>
            <a:endParaRPr b="0" i="0" sz="900" u="none" cap="none" strike="noStrike">
              <a:solidFill>
                <a:schemeClr val="dk1"/>
              </a:solidFill>
              <a:latin typeface="Calibri"/>
              <a:ea typeface="Calibri"/>
              <a:cs typeface="Calibri"/>
              <a:sym typeface="Calibri"/>
            </a:endParaRPr>
          </a:p>
        </p:txBody>
      </p:sp>
      <p:sp>
        <p:nvSpPr>
          <p:cNvPr id="112" name="Google Shape;112;p17"/>
          <p:cNvSpPr/>
          <p:nvPr/>
        </p:nvSpPr>
        <p:spPr>
          <a:xfrm>
            <a:off x="533363" y="2766808"/>
            <a:ext cx="4512945" cy="57604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One row is one loan in one reporting month: its current balance and delinquency status, joined to fixed origination facts such as credit scores, DTI, LTV, interest rate, loan purpose, occupancy, property type, and geography.</a:t>
            </a:r>
            <a:endParaRPr b="0" i="0" sz="1000" u="none" cap="none" strike="noStrike">
              <a:solidFill>
                <a:schemeClr val="dk1"/>
              </a:solidFill>
              <a:latin typeface="Calibri"/>
              <a:ea typeface="Calibri"/>
              <a:cs typeface="Calibri"/>
              <a:sym typeface="Calibri"/>
            </a:endParaRPr>
          </a:p>
        </p:txBody>
      </p:sp>
      <p:sp>
        <p:nvSpPr>
          <p:cNvPr id="113" name="Google Shape;113;p17"/>
          <p:cNvSpPr/>
          <p:nvPr/>
        </p:nvSpPr>
        <p:spPr>
          <a:xfrm>
            <a:off x="533363" y="3504717"/>
            <a:ext cx="451294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SCALE</a:t>
            </a:r>
            <a:endParaRPr b="0" i="0" sz="900" u="none" cap="none" strike="noStrike">
              <a:solidFill>
                <a:schemeClr val="dk1"/>
              </a:solidFill>
              <a:latin typeface="Calibri"/>
              <a:ea typeface="Calibri"/>
              <a:cs typeface="Calibri"/>
              <a:sym typeface="Calibri"/>
            </a:endParaRPr>
          </a:p>
        </p:txBody>
      </p:sp>
      <p:sp>
        <p:nvSpPr>
          <p:cNvPr id="114" name="Google Shape;114;p17"/>
          <p:cNvSpPr/>
          <p:nvPr/>
        </p:nvSpPr>
        <p:spPr>
          <a:xfrm>
            <a:off x="533363" y="3710657"/>
            <a:ext cx="4512945" cy="390376"/>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Followed across the performance window, the sample expands to a monthly panel of </a:t>
            </a:r>
            <a:r>
              <a:rPr b="1" i="0" lang="en" sz="1000" u="none" cap="none" strike="noStrike">
                <a:solidFill>
                  <a:srgbClr val="454C55"/>
                </a:solidFill>
                <a:latin typeface="IBM Plex Sans"/>
                <a:ea typeface="IBM Plex Sans"/>
                <a:cs typeface="IBM Plex Sans"/>
                <a:sym typeface="IBM Plex Sans"/>
              </a:rPr>
              <a:t>12,524,939 </a:t>
            </a:r>
            <a:r>
              <a:rPr b="0" i="0" lang="en" sz="1000" u="none" cap="none" strike="noStrike">
                <a:solidFill>
                  <a:srgbClr val="454C55"/>
                </a:solidFill>
                <a:latin typeface="IBM Plex Sans"/>
                <a:ea typeface="IBM Plex Sans"/>
                <a:cs typeface="IBM Plex Sans"/>
                <a:sym typeface="IBM Plex Sans"/>
              </a:rPr>
              <a:t>labeled loan-month rows.</a:t>
            </a:r>
            <a:endParaRPr b="0" i="0" sz="1000" u="none" cap="none" strike="noStrike">
              <a:solidFill>
                <a:schemeClr val="dk1"/>
              </a:solidFill>
              <a:latin typeface="Calibri"/>
              <a:ea typeface="Calibri"/>
              <a:cs typeface="Calibri"/>
              <a:sym typeface="Calibri"/>
            </a:endParaRPr>
          </a:p>
        </p:txBody>
      </p:sp>
      <p:sp>
        <p:nvSpPr>
          <p:cNvPr id="115" name="Google Shape;115;p17"/>
          <p:cNvSpPr/>
          <p:nvPr/>
        </p:nvSpPr>
        <p:spPr>
          <a:xfrm>
            <a:off x="5214658" y="1431354"/>
            <a:ext cx="349785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SCHEMA · SELECTED FIELDS</a:t>
            </a:r>
            <a:endParaRPr b="0" i="0" sz="900" u="none" cap="none" strike="noStrike">
              <a:solidFill>
                <a:schemeClr val="dk1"/>
              </a:solidFill>
              <a:latin typeface="Calibri"/>
              <a:ea typeface="Calibri"/>
              <a:cs typeface="Calibri"/>
              <a:sym typeface="Calibri"/>
            </a:endParaRPr>
          </a:p>
        </p:txBody>
      </p:sp>
      <p:sp>
        <p:nvSpPr>
          <p:cNvPr id="116" name="Google Shape;116;p17"/>
          <p:cNvSpPr/>
          <p:nvPr/>
        </p:nvSpPr>
        <p:spPr>
          <a:xfrm>
            <a:off x="5214659" y="1925929"/>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7" name="Google Shape;117;p17"/>
          <p:cNvSpPr/>
          <p:nvPr/>
        </p:nvSpPr>
        <p:spPr>
          <a:xfrm>
            <a:off x="5214659" y="1723002"/>
            <a:ext cx="3060590" cy="164827"/>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loan_id</a:t>
            </a:r>
            <a:endParaRPr b="0" i="0" sz="900" u="none" cap="none" strike="noStrike">
              <a:solidFill>
                <a:schemeClr val="dk1"/>
              </a:solidFill>
              <a:latin typeface="Calibri"/>
              <a:ea typeface="Calibri"/>
              <a:cs typeface="Calibri"/>
              <a:sym typeface="Calibri"/>
            </a:endParaRPr>
          </a:p>
        </p:txBody>
      </p:sp>
      <p:sp>
        <p:nvSpPr>
          <p:cNvPr id="118" name="Google Shape;118;p17"/>
          <p:cNvSpPr/>
          <p:nvPr/>
        </p:nvSpPr>
        <p:spPr>
          <a:xfrm>
            <a:off x="8186105" y="1925929"/>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19" name="Google Shape;119;p17"/>
          <p:cNvSpPr/>
          <p:nvPr/>
        </p:nvSpPr>
        <p:spPr>
          <a:xfrm>
            <a:off x="8148005" y="1723002"/>
            <a:ext cx="462632" cy="164827"/>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str</a:t>
            </a:r>
            <a:endParaRPr b="0" i="0" sz="900" u="none" cap="none" strike="noStrike">
              <a:solidFill>
                <a:schemeClr val="dk1"/>
              </a:solidFill>
              <a:latin typeface="Calibri"/>
              <a:ea typeface="Calibri"/>
              <a:cs typeface="Calibri"/>
              <a:sym typeface="Calibri"/>
            </a:endParaRPr>
          </a:p>
        </p:txBody>
      </p:sp>
      <p:sp>
        <p:nvSpPr>
          <p:cNvPr id="120" name="Google Shape;120;p17"/>
          <p:cNvSpPr/>
          <p:nvPr/>
        </p:nvSpPr>
        <p:spPr>
          <a:xfrm>
            <a:off x="5214659" y="2194936"/>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1" name="Google Shape;121;p17"/>
          <p:cNvSpPr/>
          <p:nvPr/>
        </p:nvSpPr>
        <p:spPr>
          <a:xfrm>
            <a:off x="5214659" y="1989032"/>
            <a:ext cx="3060590" cy="167803"/>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reporting_month</a:t>
            </a:r>
            <a:endParaRPr b="0" i="0" sz="900" u="none" cap="none" strike="noStrike">
              <a:solidFill>
                <a:schemeClr val="dk1"/>
              </a:solidFill>
              <a:latin typeface="Calibri"/>
              <a:ea typeface="Calibri"/>
              <a:cs typeface="Calibri"/>
              <a:sym typeface="Calibri"/>
            </a:endParaRPr>
          </a:p>
        </p:txBody>
      </p:sp>
      <p:sp>
        <p:nvSpPr>
          <p:cNvPr id="122" name="Google Shape;122;p17"/>
          <p:cNvSpPr/>
          <p:nvPr/>
        </p:nvSpPr>
        <p:spPr>
          <a:xfrm>
            <a:off x="8186105" y="2194936"/>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3" name="Google Shape;123;p17"/>
          <p:cNvSpPr/>
          <p:nvPr/>
        </p:nvSpPr>
        <p:spPr>
          <a:xfrm>
            <a:off x="8148005" y="1989032"/>
            <a:ext cx="462632" cy="167803"/>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date</a:t>
            </a:r>
            <a:endParaRPr b="0" i="0" sz="900" u="none" cap="none" strike="noStrike">
              <a:solidFill>
                <a:schemeClr val="dk1"/>
              </a:solidFill>
              <a:latin typeface="Calibri"/>
              <a:ea typeface="Calibri"/>
              <a:cs typeface="Calibri"/>
              <a:sym typeface="Calibri"/>
            </a:endParaRPr>
          </a:p>
        </p:txBody>
      </p:sp>
      <p:sp>
        <p:nvSpPr>
          <p:cNvPr id="124" name="Google Shape;124;p17"/>
          <p:cNvSpPr/>
          <p:nvPr/>
        </p:nvSpPr>
        <p:spPr>
          <a:xfrm>
            <a:off x="5214659" y="2463943"/>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5" name="Google Shape;125;p17"/>
          <p:cNvSpPr/>
          <p:nvPr/>
        </p:nvSpPr>
        <p:spPr>
          <a:xfrm>
            <a:off x="5214659" y="2258039"/>
            <a:ext cx="3060590" cy="167803"/>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current_actual_upb</a:t>
            </a:r>
            <a:endParaRPr b="0" i="0" sz="900" u="none" cap="none" strike="noStrike">
              <a:solidFill>
                <a:schemeClr val="dk1"/>
              </a:solidFill>
              <a:latin typeface="Calibri"/>
              <a:ea typeface="Calibri"/>
              <a:cs typeface="Calibri"/>
              <a:sym typeface="Calibri"/>
            </a:endParaRPr>
          </a:p>
        </p:txBody>
      </p:sp>
      <p:sp>
        <p:nvSpPr>
          <p:cNvPr id="126" name="Google Shape;126;p17"/>
          <p:cNvSpPr/>
          <p:nvPr/>
        </p:nvSpPr>
        <p:spPr>
          <a:xfrm>
            <a:off x="8186105" y="2463943"/>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7" name="Google Shape;127;p17"/>
          <p:cNvSpPr/>
          <p:nvPr/>
        </p:nvSpPr>
        <p:spPr>
          <a:xfrm>
            <a:off x="8148005" y="2258039"/>
            <a:ext cx="462632" cy="167803"/>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float</a:t>
            </a:r>
            <a:endParaRPr b="0" i="0" sz="900" u="none" cap="none" strike="noStrike">
              <a:solidFill>
                <a:schemeClr val="dk1"/>
              </a:solidFill>
              <a:latin typeface="Calibri"/>
              <a:ea typeface="Calibri"/>
              <a:cs typeface="Calibri"/>
              <a:sym typeface="Calibri"/>
            </a:endParaRPr>
          </a:p>
        </p:txBody>
      </p:sp>
      <p:sp>
        <p:nvSpPr>
          <p:cNvPr id="128" name="Google Shape;128;p17"/>
          <p:cNvSpPr/>
          <p:nvPr/>
        </p:nvSpPr>
        <p:spPr>
          <a:xfrm>
            <a:off x="5214659" y="2732950"/>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29" name="Google Shape;129;p17"/>
          <p:cNvSpPr/>
          <p:nvPr/>
        </p:nvSpPr>
        <p:spPr>
          <a:xfrm>
            <a:off x="5214659" y="2527046"/>
            <a:ext cx="3060590" cy="167803"/>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loan_delinquency_status</a:t>
            </a:r>
            <a:endParaRPr b="0" i="0" sz="900" u="none" cap="none" strike="noStrike">
              <a:solidFill>
                <a:schemeClr val="dk1"/>
              </a:solidFill>
              <a:latin typeface="Calibri"/>
              <a:ea typeface="Calibri"/>
              <a:cs typeface="Calibri"/>
              <a:sym typeface="Calibri"/>
            </a:endParaRPr>
          </a:p>
        </p:txBody>
      </p:sp>
      <p:sp>
        <p:nvSpPr>
          <p:cNvPr id="130" name="Google Shape;130;p17"/>
          <p:cNvSpPr/>
          <p:nvPr/>
        </p:nvSpPr>
        <p:spPr>
          <a:xfrm>
            <a:off x="8186105" y="2732950"/>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1" name="Google Shape;131;p17"/>
          <p:cNvSpPr/>
          <p:nvPr/>
        </p:nvSpPr>
        <p:spPr>
          <a:xfrm>
            <a:off x="8148005" y="2527046"/>
            <a:ext cx="462632" cy="167803"/>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str</a:t>
            </a:r>
            <a:endParaRPr b="0" i="0" sz="900" u="none" cap="none" strike="noStrike">
              <a:solidFill>
                <a:schemeClr val="dk1"/>
              </a:solidFill>
              <a:latin typeface="Calibri"/>
              <a:ea typeface="Calibri"/>
              <a:cs typeface="Calibri"/>
              <a:sym typeface="Calibri"/>
            </a:endParaRPr>
          </a:p>
        </p:txBody>
      </p:sp>
      <p:sp>
        <p:nvSpPr>
          <p:cNvPr id="132" name="Google Shape;132;p17"/>
          <p:cNvSpPr/>
          <p:nvPr/>
        </p:nvSpPr>
        <p:spPr>
          <a:xfrm>
            <a:off x="5214659" y="3001957"/>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 name="Google Shape;133;p17"/>
          <p:cNvSpPr/>
          <p:nvPr/>
        </p:nvSpPr>
        <p:spPr>
          <a:xfrm>
            <a:off x="5214659" y="2796053"/>
            <a:ext cx="3060590" cy="167803"/>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borrower_credit_score</a:t>
            </a:r>
            <a:endParaRPr b="0" i="0" sz="900" u="none" cap="none" strike="noStrike">
              <a:solidFill>
                <a:schemeClr val="dk1"/>
              </a:solidFill>
              <a:latin typeface="Calibri"/>
              <a:ea typeface="Calibri"/>
              <a:cs typeface="Calibri"/>
              <a:sym typeface="Calibri"/>
            </a:endParaRPr>
          </a:p>
        </p:txBody>
      </p:sp>
      <p:sp>
        <p:nvSpPr>
          <p:cNvPr id="134" name="Google Shape;134;p17"/>
          <p:cNvSpPr/>
          <p:nvPr/>
        </p:nvSpPr>
        <p:spPr>
          <a:xfrm>
            <a:off x="8186105" y="3001957"/>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5" name="Google Shape;135;p17"/>
          <p:cNvSpPr/>
          <p:nvPr/>
        </p:nvSpPr>
        <p:spPr>
          <a:xfrm>
            <a:off x="8148005" y="2796053"/>
            <a:ext cx="462632" cy="167803"/>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int</a:t>
            </a:r>
            <a:endParaRPr b="0" i="0" sz="900" u="none" cap="none" strike="noStrike">
              <a:solidFill>
                <a:schemeClr val="dk1"/>
              </a:solidFill>
              <a:latin typeface="Calibri"/>
              <a:ea typeface="Calibri"/>
              <a:cs typeface="Calibri"/>
              <a:sym typeface="Calibri"/>
            </a:endParaRPr>
          </a:p>
        </p:txBody>
      </p:sp>
      <p:sp>
        <p:nvSpPr>
          <p:cNvPr id="136" name="Google Shape;136;p17"/>
          <p:cNvSpPr/>
          <p:nvPr/>
        </p:nvSpPr>
        <p:spPr>
          <a:xfrm>
            <a:off x="5214659" y="3270963"/>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7" name="Google Shape;137;p17"/>
          <p:cNvSpPr/>
          <p:nvPr/>
        </p:nvSpPr>
        <p:spPr>
          <a:xfrm>
            <a:off x="5214659" y="3065060"/>
            <a:ext cx="3060590" cy="167803"/>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dti</a:t>
            </a:r>
            <a:endParaRPr b="0" i="0" sz="900" u="none" cap="none" strike="noStrike">
              <a:solidFill>
                <a:schemeClr val="dk1"/>
              </a:solidFill>
              <a:latin typeface="Calibri"/>
              <a:ea typeface="Calibri"/>
              <a:cs typeface="Calibri"/>
              <a:sym typeface="Calibri"/>
            </a:endParaRPr>
          </a:p>
        </p:txBody>
      </p:sp>
      <p:sp>
        <p:nvSpPr>
          <p:cNvPr id="138" name="Google Shape;138;p17"/>
          <p:cNvSpPr/>
          <p:nvPr/>
        </p:nvSpPr>
        <p:spPr>
          <a:xfrm>
            <a:off x="8186105" y="3270963"/>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9" name="Google Shape;139;p17"/>
          <p:cNvSpPr/>
          <p:nvPr/>
        </p:nvSpPr>
        <p:spPr>
          <a:xfrm>
            <a:off x="8148005" y="3065060"/>
            <a:ext cx="462632" cy="167803"/>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float</a:t>
            </a:r>
            <a:endParaRPr b="0" i="0" sz="900" u="none" cap="none" strike="noStrike">
              <a:solidFill>
                <a:schemeClr val="dk1"/>
              </a:solidFill>
              <a:latin typeface="Calibri"/>
              <a:ea typeface="Calibri"/>
              <a:cs typeface="Calibri"/>
              <a:sym typeface="Calibri"/>
            </a:endParaRPr>
          </a:p>
        </p:txBody>
      </p:sp>
      <p:sp>
        <p:nvSpPr>
          <p:cNvPr id="140" name="Google Shape;140;p17"/>
          <p:cNvSpPr/>
          <p:nvPr/>
        </p:nvSpPr>
        <p:spPr>
          <a:xfrm>
            <a:off x="5214659" y="3539970"/>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1" name="Google Shape;141;p17"/>
          <p:cNvSpPr/>
          <p:nvPr/>
        </p:nvSpPr>
        <p:spPr>
          <a:xfrm>
            <a:off x="5214659" y="3334067"/>
            <a:ext cx="3060590" cy="16780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original_ltv / cltv</a:t>
            </a:r>
            <a:endParaRPr b="0" i="0" sz="900" u="none" cap="none" strike="noStrike">
              <a:solidFill>
                <a:schemeClr val="dk1"/>
              </a:solidFill>
              <a:latin typeface="Calibri"/>
              <a:ea typeface="Calibri"/>
              <a:cs typeface="Calibri"/>
              <a:sym typeface="Calibri"/>
            </a:endParaRPr>
          </a:p>
        </p:txBody>
      </p:sp>
      <p:sp>
        <p:nvSpPr>
          <p:cNvPr id="142" name="Google Shape;142;p17"/>
          <p:cNvSpPr/>
          <p:nvPr/>
        </p:nvSpPr>
        <p:spPr>
          <a:xfrm>
            <a:off x="8186105" y="3539970"/>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3" name="Google Shape;143;p17"/>
          <p:cNvSpPr/>
          <p:nvPr/>
        </p:nvSpPr>
        <p:spPr>
          <a:xfrm>
            <a:off x="8148005" y="3334067"/>
            <a:ext cx="462632" cy="167804"/>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float</a:t>
            </a:r>
            <a:endParaRPr b="0" i="0" sz="900" u="none" cap="none" strike="noStrike">
              <a:solidFill>
                <a:schemeClr val="dk1"/>
              </a:solidFill>
              <a:latin typeface="Calibri"/>
              <a:ea typeface="Calibri"/>
              <a:cs typeface="Calibri"/>
              <a:sym typeface="Calibri"/>
            </a:endParaRPr>
          </a:p>
        </p:txBody>
      </p:sp>
      <p:sp>
        <p:nvSpPr>
          <p:cNvPr id="144" name="Google Shape;144;p17"/>
          <p:cNvSpPr/>
          <p:nvPr/>
        </p:nvSpPr>
        <p:spPr>
          <a:xfrm>
            <a:off x="5214659" y="3808977"/>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5" name="Google Shape;145;p17"/>
          <p:cNvSpPr/>
          <p:nvPr/>
        </p:nvSpPr>
        <p:spPr>
          <a:xfrm>
            <a:off x="5214659" y="3603073"/>
            <a:ext cx="3060590" cy="16780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original_interest_rate</a:t>
            </a:r>
            <a:endParaRPr b="0" i="0" sz="900" u="none" cap="none" strike="noStrike">
              <a:solidFill>
                <a:schemeClr val="dk1"/>
              </a:solidFill>
              <a:latin typeface="Calibri"/>
              <a:ea typeface="Calibri"/>
              <a:cs typeface="Calibri"/>
              <a:sym typeface="Calibri"/>
            </a:endParaRPr>
          </a:p>
        </p:txBody>
      </p:sp>
      <p:sp>
        <p:nvSpPr>
          <p:cNvPr id="146" name="Google Shape;146;p17"/>
          <p:cNvSpPr/>
          <p:nvPr/>
        </p:nvSpPr>
        <p:spPr>
          <a:xfrm>
            <a:off x="8186105" y="3808977"/>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7" name="Google Shape;147;p17"/>
          <p:cNvSpPr/>
          <p:nvPr/>
        </p:nvSpPr>
        <p:spPr>
          <a:xfrm>
            <a:off x="8148005" y="3603073"/>
            <a:ext cx="462632" cy="167804"/>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float</a:t>
            </a:r>
            <a:endParaRPr b="0" i="0" sz="900" u="none" cap="none" strike="noStrike">
              <a:solidFill>
                <a:schemeClr val="dk1"/>
              </a:solidFill>
              <a:latin typeface="Calibri"/>
              <a:ea typeface="Calibri"/>
              <a:cs typeface="Calibri"/>
              <a:sym typeface="Calibri"/>
            </a:endParaRPr>
          </a:p>
        </p:txBody>
      </p:sp>
      <p:sp>
        <p:nvSpPr>
          <p:cNvPr id="148" name="Google Shape;148;p17"/>
          <p:cNvSpPr/>
          <p:nvPr/>
        </p:nvSpPr>
        <p:spPr>
          <a:xfrm>
            <a:off x="5214659" y="4077984"/>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9" name="Google Shape;149;p17"/>
          <p:cNvSpPr/>
          <p:nvPr/>
        </p:nvSpPr>
        <p:spPr>
          <a:xfrm>
            <a:off x="5214659" y="3872080"/>
            <a:ext cx="3060590" cy="16780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loan_purpose / occupancy</a:t>
            </a:r>
            <a:endParaRPr b="0" i="0" sz="900" u="none" cap="none" strike="noStrike">
              <a:solidFill>
                <a:schemeClr val="dk1"/>
              </a:solidFill>
              <a:latin typeface="Calibri"/>
              <a:ea typeface="Calibri"/>
              <a:cs typeface="Calibri"/>
              <a:sym typeface="Calibri"/>
            </a:endParaRPr>
          </a:p>
        </p:txBody>
      </p:sp>
      <p:sp>
        <p:nvSpPr>
          <p:cNvPr id="150" name="Google Shape;150;p17"/>
          <p:cNvSpPr/>
          <p:nvPr/>
        </p:nvSpPr>
        <p:spPr>
          <a:xfrm>
            <a:off x="8186105" y="4077984"/>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1" name="Google Shape;151;p17"/>
          <p:cNvSpPr/>
          <p:nvPr/>
        </p:nvSpPr>
        <p:spPr>
          <a:xfrm>
            <a:off x="8148005" y="3872080"/>
            <a:ext cx="462632" cy="167804"/>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str</a:t>
            </a:r>
            <a:endParaRPr b="0" i="0" sz="900" u="none" cap="none" strike="noStrike">
              <a:solidFill>
                <a:schemeClr val="dk1"/>
              </a:solidFill>
              <a:latin typeface="Calibri"/>
              <a:ea typeface="Calibri"/>
              <a:cs typeface="Calibri"/>
              <a:sym typeface="Calibri"/>
            </a:endParaRPr>
          </a:p>
        </p:txBody>
      </p:sp>
      <p:sp>
        <p:nvSpPr>
          <p:cNvPr id="152" name="Google Shape;152;p17"/>
          <p:cNvSpPr/>
          <p:nvPr/>
        </p:nvSpPr>
        <p:spPr>
          <a:xfrm>
            <a:off x="5214659" y="4346991"/>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3" name="Google Shape;153;p17"/>
          <p:cNvSpPr/>
          <p:nvPr/>
        </p:nvSpPr>
        <p:spPr>
          <a:xfrm>
            <a:off x="5214659" y="4141087"/>
            <a:ext cx="3060590" cy="16780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property_state / type</a:t>
            </a:r>
            <a:endParaRPr b="0" i="0" sz="900" u="none" cap="none" strike="noStrike">
              <a:solidFill>
                <a:schemeClr val="dk1"/>
              </a:solidFill>
              <a:latin typeface="Calibri"/>
              <a:ea typeface="Calibri"/>
              <a:cs typeface="Calibri"/>
              <a:sym typeface="Calibri"/>
            </a:endParaRPr>
          </a:p>
        </p:txBody>
      </p:sp>
      <p:sp>
        <p:nvSpPr>
          <p:cNvPr id="154" name="Google Shape;154;p17"/>
          <p:cNvSpPr/>
          <p:nvPr/>
        </p:nvSpPr>
        <p:spPr>
          <a:xfrm>
            <a:off x="8186105" y="4346991"/>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 name="Google Shape;155;p17"/>
          <p:cNvSpPr/>
          <p:nvPr/>
        </p:nvSpPr>
        <p:spPr>
          <a:xfrm>
            <a:off x="8148005" y="4141087"/>
            <a:ext cx="462632" cy="167804"/>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str</a:t>
            </a:r>
            <a:endParaRPr b="0" i="0" sz="900" u="none" cap="none" strike="noStrike">
              <a:solidFill>
                <a:schemeClr val="dk1"/>
              </a:solidFill>
              <a:latin typeface="Calibri"/>
              <a:ea typeface="Calibri"/>
              <a:cs typeface="Calibri"/>
              <a:sym typeface="Calibri"/>
            </a:endParaRPr>
          </a:p>
        </p:txBody>
      </p:sp>
      <p:sp>
        <p:nvSpPr>
          <p:cNvPr id="156" name="Google Shape;156;p17"/>
          <p:cNvSpPr/>
          <p:nvPr/>
        </p:nvSpPr>
        <p:spPr>
          <a:xfrm>
            <a:off x="5214659" y="4615998"/>
            <a:ext cx="2971447"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7" name="Google Shape;157;p17"/>
          <p:cNvSpPr/>
          <p:nvPr/>
        </p:nvSpPr>
        <p:spPr>
          <a:xfrm>
            <a:off x="5214659" y="4410094"/>
            <a:ext cx="3060590" cy="167804"/>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900"/>
              <a:buFont typeface="IBM Plex Mono"/>
              <a:buNone/>
            </a:pPr>
            <a:r>
              <a:rPr b="0" i="0" lang="en" sz="900" u="none" cap="none" strike="noStrike">
                <a:solidFill>
                  <a:srgbClr val="1C2026"/>
                </a:solidFill>
                <a:latin typeface="IBM Plex Mono"/>
                <a:ea typeface="IBM Plex Mono"/>
                <a:cs typeface="IBM Plex Mono"/>
                <a:sym typeface="IBM Plex Mono"/>
              </a:rPr>
              <a:t>seller / servicer_name</a:t>
            </a:r>
            <a:endParaRPr b="0" i="0" sz="900" u="none" cap="none" strike="noStrike">
              <a:solidFill>
                <a:schemeClr val="dk1"/>
              </a:solidFill>
              <a:latin typeface="Calibri"/>
              <a:ea typeface="Calibri"/>
              <a:cs typeface="Calibri"/>
              <a:sym typeface="Calibri"/>
            </a:endParaRPr>
          </a:p>
        </p:txBody>
      </p:sp>
      <p:sp>
        <p:nvSpPr>
          <p:cNvPr id="158" name="Google Shape;158;p17"/>
          <p:cNvSpPr/>
          <p:nvPr/>
        </p:nvSpPr>
        <p:spPr>
          <a:xfrm>
            <a:off x="8186105" y="4615998"/>
            <a:ext cx="424532"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9" name="Google Shape;159;p17"/>
          <p:cNvSpPr/>
          <p:nvPr/>
        </p:nvSpPr>
        <p:spPr>
          <a:xfrm>
            <a:off x="8148005" y="4410094"/>
            <a:ext cx="462632" cy="167804"/>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str</a:t>
            </a:r>
            <a:endParaRPr b="0" i="0" sz="900" u="none" cap="none" strike="noStrike">
              <a:solidFill>
                <a:schemeClr val="dk1"/>
              </a:solidFill>
              <a:latin typeface="Calibri"/>
              <a:ea typeface="Calibri"/>
              <a:cs typeface="Calibri"/>
              <a:sym typeface="Calibri"/>
            </a:endParaRPr>
          </a:p>
        </p:txBody>
      </p:sp>
      <p:sp>
        <p:nvSpPr>
          <p:cNvPr id="160" name="Google Shape;160;p17"/>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161" name="Google Shape;161;p17"/>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166" name="Shape 166"/>
        <p:cNvGrpSpPr/>
        <p:nvPr/>
      </p:nvGrpSpPr>
      <p:grpSpPr>
        <a:xfrm>
          <a:off x="0" y="0"/>
          <a:ext cx="0" cy="0"/>
          <a:chOff x="0" y="0"/>
          <a:chExt cx="0" cy="0"/>
        </a:xfrm>
      </p:grpSpPr>
      <p:sp>
        <p:nvSpPr>
          <p:cNvPr id="167" name="Google Shape;167;p18"/>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8" name="Google Shape;168;p18"/>
          <p:cNvSpPr/>
          <p:nvPr/>
        </p:nvSpPr>
        <p:spPr>
          <a:xfrm>
            <a:off x="533363" y="399976"/>
            <a:ext cx="82158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03 · TARGET</a:t>
            </a:r>
            <a:endParaRPr b="0" i="0" sz="900" u="none" cap="none" strike="noStrike">
              <a:solidFill>
                <a:schemeClr val="dk1"/>
              </a:solidFill>
              <a:latin typeface="Calibri"/>
              <a:ea typeface="Calibri"/>
              <a:cs typeface="Calibri"/>
              <a:sym typeface="Calibri"/>
            </a:endParaRPr>
          </a:p>
        </p:txBody>
      </p:sp>
      <p:sp>
        <p:nvSpPr>
          <p:cNvPr id="169" name="Google Shape;169;p18"/>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04</a:t>
            </a:r>
            <a:endParaRPr b="0" i="0" sz="900" u="none" cap="none" strike="noStrike">
              <a:solidFill>
                <a:schemeClr val="dk1"/>
              </a:solidFill>
              <a:latin typeface="Calibri"/>
              <a:ea typeface="Calibri"/>
              <a:cs typeface="Calibri"/>
              <a:sym typeface="Calibri"/>
            </a:endParaRPr>
          </a:p>
        </p:txBody>
      </p:sp>
      <p:sp>
        <p:nvSpPr>
          <p:cNvPr id="170" name="Google Shape;170;p18"/>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rtl="0" algn="l">
              <a:lnSpc>
                <a:spcPct val="106000"/>
              </a:lnSpc>
              <a:spcBef>
                <a:spcPts val="0"/>
              </a:spcBef>
              <a:spcAft>
                <a:spcPts val="0"/>
              </a:spcAft>
              <a:buClr>
                <a:schemeClr val="dk1"/>
              </a:buClr>
              <a:buSzPts val="1100"/>
              <a:buFont typeface="Arial"/>
              <a:buNone/>
            </a:pPr>
            <a:r>
              <a:rPr b="1" lang="en" sz="2600">
                <a:solidFill>
                  <a:srgbClr val="1C2026"/>
                </a:solidFill>
                <a:latin typeface="IBM Plex Sans"/>
                <a:ea typeface="IBM Plex Sans"/>
                <a:cs typeface="IBM Plex Sans"/>
                <a:sym typeface="IBM Plex Sans"/>
              </a:rPr>
              <a:t>Target Variable Definition</a:t>
            </a:r>
            <a:endParaRPr b="1" sz="2600">
              <a:solidFill>
                <a:srgbClr val="1C2026"/>
              </a:solidFill>
              <a:latin typeface="IBM Plex Sans"/>
              <a:ea typeface="IBM Plex Sans"/>
              <a:cs typeface="IBM Plex Sans"/>
              <a:sym typeface="IBM Plex Sans"/>
            </a:endParaRPr>
          </a:p>
          <a:p>
            <a:pPr indent="0" lvl="0" marL="0" marR="0" rtl="0" algn="l">
              <a:lnSpc>
                <a:spcPct val="106000"/>
              </a:lnSpc>
              <a:spcBef>
                <a:spcPts val="0"/>
              </a:spcBef>
              <a:spcAft>
                <a:spcPts val="0"/>
              </a:spcAft>
              <a:buClr>
                <a:srgbClr val="1C2026"/>
              </a:buClr>
              <a:buSzPts val="2600"/>
              <a:buFont typeface="IBM Plex Sans"/>
              <a:buNone/>
            </a:pPr>
            <a:r>
              <a:t/>
            </a:r>
            <a:endParaRPr b="1" sz="2600">
              <a:solidFill>
                <a:srgbClr val="1C2026"/>
              </a:solidFill>
              <a:latin typeface="IBM Plex Sans"/>
              <a:ea typeface="IBM Plex Sans"/>
              <a:cs typeface="IBM Plex Sans"/>
              <a:sym typeface="IBM Plex Sans"/>
            </a:endParaRPr>
          </a:p>
        </p:txBody>
      </p:sp>
      <p:sp>
        <p:nvSpPr>
          <p:cNvPr id="171" name="Google Shape;171;p18"/>
          <p:cNvSpPr/>
          <p:nvPr/>
        </p:nvSpPr>
        <p:spPr>
          <a:xfrm>
            <a:off x="533375" y="2258750"/>
            <a:ext cx="1837500" cy="269100"/>
          </a:xfrm>
          <a:prstGeom prst="rect">
            <a:avLst/>
          </a:prstGeom>
          <a:solidFill>
            <a:schemeClr val="lt2"/>
          </a:solid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1200"/>
              <a:buFont typeface="IBM Plex Mono"/>
              <a:buNone/>
            </a:pPr>
            <a:r>
              <a:rPr b="0" i="0" lang="en" sz="1200" u="none" cap="none" strike="noStrike">
                <a:solidFill>
                  <a:srgbClr val="46525F"/>
                </a:solidFill>
                <a:latin typeface="IBM Plex Mono"/>
                <a:ea typeface="IBM Plex Mono"/>
                <a:cs typeface="IBM Plex Mono"/>
                <a:sym typeface="IBM Plex Mono"/>
              </a:rPr>
              <a:t>future_</a:t>
            </a:r>
            <a:r>
              <a:rPr lang="en" sz="1200">
                <a:solidFill>
                  <a:srgbClr val="46525F"/>
                </a:solidFill>
                <a:latin typeface="IBM Plex Mono"/>
                <a:ea typeface="IBM Plex Mono"/>
                <a:cs typeface="IBM Plex Mono"/>
                <a:sym typeface="IBM Plex Mono"/>
              </a:rPr>
              <a:t>90plus</a:t>
            </a:r>
            <a:r>
              <a:rPr b="0" i="0" lang="en" sz="1200" u="none" cap="none" strike="noStrike">
                <a:solidFill>
                  <a:srgbClr val="46525F"/>
                </a:solidFill>
                <a:latin typeface="IBM Plex Mono"/>
                <a:ea typeface="IBM Plex Mono"/>
                <a:cs typeface="IBM Plex Mono"/>
                <a:sym typeface="IBM Plex Mono"/>
              </a:rPr>
              <a:t>_dq_6m</a:t>
            </a:r>
            <a:endParaRPr b="0" i="0" sz="1200" u="none" cap="none" strike="noStrike">
              <a:solidFill>
                <a:schemeClr val="dk1"/>
              </a:solidFill>
              <a:latin typeface="Calibri"/>
              <a:ea typeface="Calibri"/>
              <a:cs typeface="Calibri"/>
              <a:sym typeface="Calibri"/>
            </a:endParaRPr>
          </a:p>
        </p:txBody>
      </p:sp>
      <p:sp>
        <p:nvSpPr>
          <p:cNvPr id="172" name="Google Shape;172;p18"/>
          <p:cNvSpPr/>
          <p:nvPr/>
        </p:nvSpPr>
        <p:spPr>
          <a:xfrm>
            <a:off x="533363" y="2617050"/>
            <a:ext cx="4303030" cy="627664"/>
          </a:xfrm>
          <a:prstGeom prst="rect">
            <a:avLst/>
          </a:prstGeom>
          <a:noFill/>
          <a:ln>
            <a:noFill/>
          </a:ln>
        </p:spPr>
        <p:txBody>
          <a:bodyPr anchorCtr="0" anchor="t" bIns="12700" lIns="12700" spcFirstLastPara="1" rIns="12700" wrap="square" tIns="12700">
            <a:noAutofit/>
          </a:bodyPr>
          <a:lstStyle/>
          <a:p>
            <a:pPr indent="0" lvl="0" marL="0" marR="0" rtl="0" algn="l">
              <a:lnSpc>
                <a:spcPct val="142000"/>
              </a:lnSpc>
              <a:spcBef>
                <a:spcPts val="0"/>
              </a:spcBef>
              <a:spcAft>
                <a:spcPts val="0"/>
              </a:spcAft>
              <a:buClr>
                <a:srgbClr val="1C2026"/>
              </a:buClr>
              <a:buSzPts val="1100"/>
              <a:buFont typeface="IBM Plex Sans"/>
              <a:buNone/>
            </a:pPr>
            <a:r>
              <a:rPr b="0" i="0" lang="en" sz="1100" u="none" cap="none" strike="noStrike">
                <a:solidFill>
                  <a:srgbClr val="1C2026"/>
                </a:solidFill>
                <a:latin typeface="IBM Plex Sans"/>
                <a:ea typeface="IBM Plex Sans"/>
                <a:cs typeface="IBM Plex Sans"/>
                <a:sym typeface="IBM Plex Sans"/>
              </a:rPr>
              <a:t>For every loan-month, I look six months ahead. If the loan reaches 90+ days delinquent at any point in that window, the row is labeled 1, otherwise 0.</a:t>
            </a:r>
            <a:endParaRPr b="0" i="0" sz="1100" u="none" cap="none" strike="noStrike">
              <a:solidFill>
                <a:schemeClr val="dk1"/>
              </a:solidFill>
              <a:latin typeface="Calibri"/>
              <a:ea typeface="Calibri"/>
              <a:cs typeface="Calibri"/>
              <a:sym typeface="Calibri"/>
            </a:endParaRPr>
          </a:p>
        </p:txBody>
      </p:sp>
      <p:sp>
        <p:nvSpPr>
          <p:cNvPr id="173" name="Google Shape;173;p18"/>
          <p:cNvSpPr/>
          <p:nvPr/>
        </p:nvSpPr>
        <p:spPr>
          <a:xfrm>
            <a:off x="533363" y="3387514"/>
            <a:ext cx="4303030" cy="57604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Rows without a full six-month forward window were dropped, along with a small unlabeled tail. The remaining classes are heavily lopsided, and that imbalance is the central challenge of the whole project.</a:t>
            </a:r>
            <a:endParaRPr b="0" i="0" sz="1000" u="none" cap="none" strike="noStrike">
              <a:solidFill>
                <a:schemeClr val="dk1"/>
              </a:solidFill>
              <a:latin typeface="Calibri"/>
              <a:ea typeface="Calibri"/>
              <a:cs typeface="Calibri"/>
              <a:sym typeface="Calibri"/>
            </a:endParaRPr>
          </a:p>
        </p:txBody>
      </p:sp>
      <p:sp>
        <p:nvSpPr>
          <p:cNvPr id="174" name="Google Shape;174;p18"/>
          <p:cNvSpPr/>
          <p:nvPr/>
        </p:nvSpPr>
        <p:spPr>
          <a:xfrm>
            <a:off x="4977743" y="2240421"/>
            <a:ext cx="3023799" cy="742913"/>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A64437"/>
              </a:buClr>
              <a:buSzPts val="6000"/>
              <a:buFont typeface="IBM Plex Sans"/>
              <a:buNone/>
            </a:pPr>
            <a:r>
              <a:rPr b="1" i="0" lang="en" sz="6000" u="none" cap="none" strike="noStrike">
                <a:solidFill>
                  <a:srgbClr val="A64437"/>
                </a:solidFill>
                <a:latin typeface="IBM Plex Sans"/>
                <a:ea typeface="IBM Plex Sans"/>
                <a:cs typeface="IBM Plex Sans"/>
                <a:sym typeface="IBM Plex Sans"/>
              </a:rPr>
              <a:t>1 in </a:t>
            </a:r>
            <a:r>
              <a:rPr b="1" lang="en" sz="6000">
                <a:solidFill>
                  <a:srgbClr val="A64437"/>
                </a:solidFill>
                <a:latin typeface="IBM Plex Sans"/>
                <a:ea typeface="IBM Plex Sans"/>
                <a:cs typeface="IBM Plex Sans"/>
                <a:sym typeface="IBM Plex Sans"/>
              </a:rPr>
              <a:t>40</a:t>
            </a:r>
            <a:r>
              <a:rPr b="1" i="0" lang="en" sz="6000" u="none" cap="none" strike="noStrike">
                <a:solidFill>
                  <a:srgbClr val="A64437"/>
                </a:solidFill>
                <a:latin typeface="IBM Plex Sans"/>
                <a:ea typeface="IBM Plex Sans"/>
                <a:cs typeface="IBM Plex Sans"/>
                <a:sym typeface="IBM Plex Sans"/>
              </a:rPr>
              <a:t>0</a:t>
            </a:r>
            <a:endParaRPr b="0" i="0" sz="6000" u="none" cap="none" strike="noStrike">
              <a:solidFill>
                <a:schemeClr val="dk1"/>
              </a:solidFill>
              <a:latin typeface="Calibri"/>
              <a:ea typeface="Calibri"/>
              <a:cs typeface="Calibri"/>
              <a:sym typeface="Calibri"/>
            </a:endParaRPr>
          </a:p>
        </p:txBody>
      </p:sp>
      <p:sp>
        <p:nvSpPr>
          <p:cNvPr id="175" name="Google Shape;175;p18"/>
          <p:cNvSpPr/>
          <p:nvPr/>
        </p:nvSpPr>
        <p:spPr>
          <a:xfrm>
            <a:off x="4977743" y="3030885"/>
            <a:ext cx="3023799"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LOAN-MONTHS BECOME </a:t>
            </a:r>
            <a:r>
              <a:rPr lang="en" sz="900">
                <a:solidFill>
                  <a:srgbClr val="757C85"/>
                </a:solidFill>
                <a:latin typeface="IBM Plex Sans"/>
                <a:ea typeface="IBM Plex Sans"/>
                <a:cs typeface="IBM Plex Sans"/>
                <a:sym typeface="IBM Plex Sans"/>
              </a:rPr>
              <a:t>90+ DAYS </a:t>
            </a:r>
            <a:r>
              <a:rPr b="0" i="0" lang="en" sz="900" u="none" cap="none" strike="noStrike">
                <a:solidFill>
                  <a:srgbClr val="757C85"/>
                </a:solidFill>
                <a:latin typeface="IBM Plex Sans"/>
                <a:ea typeface="IBM Plex Sans"/>
                <a:cs typeface="IBM Plex Sans"/>
                <a:sym typeface="IBM Plex Sans"/>
              </a:rPr>
              <a:t>DELINQUENT</a:t>
            </a:r>
            <a:endParaRPr b="0" i="0" sz="900" u="none" cap="none" strike="noStrike">
              <a:solidFill>
                <a:schemeClr val="dk1"/>
              </a:solidFill>
              <a:latin typeface="Calibri"/>
              <a:ea typeface="Calibri"/>
              <a:cs typeface="Calibri"/>
              <a:sym typeface="Calibri"/>
            </a:endParaRPr>
          </a:p>
        </p:txBody>
      </p:sp>
      <p:sp>
        <p:nvSpPr>
          <p:cNvPr id="176" name="Google Shape;176;p18"/>
          <p:cNvSpPr/>
          <p:nvPr/>
        </p:nvSpPr>
        <p:spPr>
          <a:xfrm>
            <a:off x="4977743" y="3322588"/>
            <a:ext cx="956649"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No future 90+ DQ</a:t>
            </a:r>
            <a:endParaRPr b="0" i="0" sz="900" u="none" cap="none" strike="noStrike">
              <a:solidFill>
                <a:schemeClr val="dk1"/>
              </a:solidFill>
              <a:latin typeface="Calibri"/>
              <a:ea typeface="Calibri"/>
              <a:cs typeface="Calibri"/>
              <a:sym typeface="Calibri"/>
            </a:endParaRPr>
          </a:p>
        </p:txBody>
      </p:sp>
      <p:sp>
        <p:nvSpPr>
          <p:cNvPr id="177" name="Google Shape;177;p18"/>
          <p:cNvSpPr/>
          <p:nvPr/>
        </p:nvSpPr>
        <p:spPr>
          <a:xfrm>
            <a:off x="7220549" y="3346288"/>
            <a:ext cx="462300" cy="1680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9</a:t>
            </a:r>
            <a:r>
              <a:rPr lang="en" sz="900">
                <a:solidFill>
                  <a:srgbClr val="757C85"/>
                </a:solidFill>
                <a:latin typeface="IBM Plex Sans"/>
                <a:ea typeface="IBM Plex Sans"/>
                <a:cs typeface="IBM Plex Sans"/>
                <a:sym typeface="IBM Plex Sans"/>
              </a:rPr>
              <a:t>9</a:t>
            </a:r>
            <a:r>
              <a:rPr b="0" i="0" lang="en" sz="900" u="none" cap="none" strike="noStrike">
                <a:solidFill>
                  <a:srgbClr val="757C85"/>
                </a:solidFill>
                <a:latin typeface="IBM Plex Sans"/>
                <a:ea typeface="IBM Plex Sans"/>
                <a:cs typeface="IBM Plex Sans"/>
                <a:sym typeface="IBM Plex Sans"/>
              </a:rPr>
              <a:t>.</a:t>
            </a:r>
            <a:r>
              <a:rPr lang="en" sz="900">
                <a:solidFill>
                  <a:srgbClr val="757C85"/>
                </a:solidFill>
                <a:latin typeface="IBM Plex Sans"/>
                <a:ea typeface="IBM Plex Sans"/>
                <a:cs typeface="IBM Plex Sans"/>
                <a:sym typeface="IBM Plex Sans"/>
              </a:rPr>
              <a:t>7</a:t>
            </a:r>
            <a:r>
              <a:rPr b="0" i="0" lang="en" sz="900" u="none" cap="none" strike="noStrike">
                <a:solidFill>
                  <a:srgbClr val="757C85"/>
                </a:solidFill>
                <a:latin typeface="IBM Plex Sans"/>
                <a:ea typeface="IBM Plex Sans"/>
                <a:cs typeface="IBM Plex Sans"/>
                <a:sym typeface="IBM Plex Sans"/>
              </a:rPr>
              <a:t>5%</a:t>
            </a:r>
            <a:endParaRPr b="0" i="0" sz="900" u="none" cap="none" strike="noStrike">
              <a:solidFill>
                <a:schemeClr val="dk1"/>
              </a:solidFill>
              <a:latin typeface="Calibri"/>
              <a:ea typeface="Calibri"/>
              <a:cs typeface="Calibri"/>
              <a:sym typeface="Calibri"/>
            </a:endParaRPr>
          </a:p>
        </p:txBody>
      </p:sp>
      <p:sp>
        <p:nvSpPr>
          <p:cNvPr id="178" name="Google Shape;178;p18"/>
          <p:cNvSpPr/>
          <p:nvPr/>
        </p:nvSpPr>
        <p:spPr>
          <a:xfrm>
            <a:off x="4977743" y="3504717"/>
            <a:ext cx="2667000"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9" name="Google Shape;179;p18"/>
          <p:cNvSpPr/>
          <p:nvPr/>
        </p:nvSpPr>
        <p:spPr>
          <a:xfrm>
            <a:off x="4977750" y="3504725"/>
            <a:ext cx="2621400" cy="85500"/>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0" name="Google Shape;180;p18"/>
          <p:cNvSpPr/>
          <p:nvPr/>
        </p:nvSpPr>
        <p:spPr>
          <a:xfrm>
            <a:off x="4977743" y="3695124"/>
            <a:ext cx="135223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Future 90+ DQ (positive)</a:t>
            </a:r>
            <a:endParaRPr b="0" i="0" sz="900" u="none" cap="none" strike="noStrike">
              <a:solidFill>
                <a:schemeClr val="dk1"/>
              </a:solidFill>
              <a:latin typeface="Calibri"/>
              <a:ea typeface="Calibri"/>
              <a:cs typeface="Calibri"/>
              <a:sym typeface="Calibri"/>
            </a:endParaRPr>
          </a:p>
        </p:txBody>
      </p:sp>
      <p:sp>
        <p:nvSpPr>
          <p:cNvPr id="181" name="Google Shape;181;p18"/>
          <p:cNvSpPr/>
          <p:nvPr/>
        </p:nvSpPr>
        <p:spPr>
          <a:xfrm>
            <a:off x="7301880" y="3695124"/>
            <a:ext cx="38096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lang="en" sz="900">
                <a:solidFill>
                  <a:srgbClr val="757C85"/>
                </a:solidFill>
                <a:latin typeface="IBM Plex Sans"/>
                <a:ea typeface="IBM Plex Sans"/>
                <a:cs typeface="IBM Plex Sans"/>
                <a:sym typeface="IBM Plex Sans"/>
              </a:rPr>
              <a:t>0</a:t>
            </a:r>
            <a:r>
              <a:rPr b="0" i="0" lang="en" sz="900" u="none" cap="none" strike="noStrike">
                <a:solidFill>
                  <a:srgbClr val="757C85"/>
                </a:solidFill>
                <a:latin typeface="IBM Plex Sans"/>
                <a:ea typeface="IBM Plex Sans"/>
                <a:cs typeface="IBM Plex Sans"/>
                <a:sym typeface="IBM Plex Sans"/>
              </a:rPr>
              <a:t>.2</a:t>
            </a:r>
            <a:r>
              <a:rPr lang="en" sz="900">
                <a:solidFill>
                  <a:srgbClr val="757C85"/>
                </a:solidFill>
                <a:latin typeface="IBM Plex Sans"/>
                <a:ea typeface="IBM Plex Sans"/>
                <a:cs typeface="IBM Plex Sans"/>
                <a:sym typeface="IBM Plex Sans"/>
              </a:rPr>
              <a:t>5</a:t>
            </a:r>
            <a:r>
              <a:rPr b="0" i="0" lang="en" sz="900" u="none" cap="none" strike="noStrike">
                <a:solidFill>
                  <a:srgbClr val="757C85"/>
                </a:solidFill>
                <a:latin typeface="IBM Plex Sans"/>
                <a:ea typeface="IBM Plex Sans"/>
                <a:cs typeface="IBM Plex Sans"/>
                <a:sym typeface="IBM Plex Sans"/>
              </a:rPr>
              <a:t>%</a:t>
            </a:r>
            <a:endParaRPr b="0" i="0" sz="900" u="none" cap="none" strike="noStrike">
              <a:solidFill>
                <a:schemeClr val="dk1"/>
              </a:solidFill>
              <a:latin typeface="Calibri"/>
              <a:ea typeface="Calibri"/>
              <a:cs typeface="Calibri"/>
              <a:sym typeface="Calibri"/>
            </a:endParaRPr>
          </a:p>
        </p:txBody>
      </p:sp>
      <p:sp>
        <p:nvSpPr>
          <p:cNvPr id="182" name="Google Shape;182;p18"/>
          <p:cNvSpPr/>
          <p:nvPr/>
        </p:nvSpPr>
        <p:spPr>
          <a:xfrm>
            <a:off x="4977743" y="3877252"/>
            <a:ext cx="2667000"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3" name="Google Shape;183;p18"/>
          <p:cNvSpPr/>
          <p:nvPr/>
        </p:nvSpPr>
        <p:spPr>
          <a:xfrm>
            <a:off x="4977745" y="3877250"/>
            <a:ext cx="60000" cy="85800"/>
          </a:xfrm>
          <a:prstGeom prst="roundRect">
            <a:avLst>
              <a:gd fmla="val 11118"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4" name="Google Shape;184;p18"/>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185" name="Google Shape;185;p18"/>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190" name="Shape 190"/>
        <p:cNvGrpSpPr/>
        <p:nvPr/>
      </p:nvGrpSpPr>
      <p:grpSpPr>
        <a:xfrm>
          <a:off x="0" y="0"/>
          <a:ext cx="0" cy="0"/>
          <a:chOff x="0" y="0"/>
          <a:chExt cx="0" cy="0"/>
        </a:xfrm>
      </p:grpSpPr>
      <p:sp>
        <p:nvSpPr>
          <p:cNvPr id="191" name="Google Shape;191;p19"/>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2" name="Google Shape;192;p19"/>
          <p:cNvSpPr/>
          <p:nvPr/>
        </p:nvSpPr>
        <p:spPr>
          <a:xfrm>
            <a:off x="533363" y="399976"/>
            <a:ext cx="149537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04 · DATA WRANGLING</a:t>
            </a:r>
            <a:endParaRPr b="0" i="0" sz="900" u="none" cap="none" strike="noStrike">
              <a:solidFill>
                <a:schemeClr val="dk1"/>
              </a:solidFill>
              <a:latin typeface="Calibri"/>
              <a:ea typeface="Calibri"/>
              <a:cs typeface="Calibri"/>
              <a:sym typeface="Calibri"/>
            </a:endParaRPr>
          </a:p>
        </p:txBody>
      </p:sp>
      <p:sp>
        <p:nvSpPr>
          <p:cNvPr id="193" name="Google Shape;193;p19"/>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05</a:t>
            </a:r>
            <a:endParaRPr b="0" i="0" sz="900" u="none" cap="none" strike="noStrike">
              <a:solidFill>
                <a:schemeClr val="dk1"/>
              </a:solidFill>
              <a:latin typeface="Calibri"/>
              <a:ea typeface="Calibri"/>
              <a:cs typeface="Calibri"/>
              <a:sym typeface="Calibri"/>
            </a:endParaRPr>
          </a:p>
        </p:txBody>
      </p:sp>
      <p:sp>
        <p:nvSpPr>
          <p:cNvPr id="194" name="Google Shape;194;p19"/>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rtl="0" algn="l">
              <a:lnSpc>
                <a:spcPct val="106000"/>
              </a:lnSpc>
              <a:spcBef>
                <a:spcPts val="0"/>
              </a:spcBef>
              <a:spcAft>
                <a:spcPts val="0"/>
              </a:spcAft>
              <a:buClr>
                <a:schemeClr val="dk1"/>
              </a:buClr>
              <a:buSzPts val="1100"/>
              <a:buFont typeface="Arial"/>
              <a:buNone/>
            </a:pPr>
            <a:r>
              <a:rPr b="1" lang="en" sz="2600">
                <a:solidFill>
                  <a:srgbClr val="1C2026"/>
                </a:solidFill>
                <a:latin typeface="IBM Plex Sans"/>
                <a:ea typeface="IBM Plex Sans"/>
                <a:cs typeface="IBM Plex Sans"/>
                <a:sym typeface="IBM Plex Sans"/>
              </a:rPr>
              <a:t>Building the Loan-Month Panel</a:t>
            </a:r>
            <a:endParaRPr b="1" sz="2600">
              <a:solidFill>
                <a:srgbClr val="1C2026"/>
              </a:solidFill>
              <a:latin typeface="IBM Plex Sans"/>
              <a:ea typeface="IBM Plex Sans"/>
              <a:cs typeface="IBM Plex Sans"/>
              <a:sym typeface="IBM Plex Sans"/>
            </a:endParaRPr>
          </a:p>
          <a:p>
            <a:pPr indent="0" lvl="0" marL="0" marR="0" rtl="0" algn="l">
              <a:lnSpc>
                <a:spcPct val="106000"/>
              </a:lnSpc>
              <a:spcBef>
                <a:spcPts val="0"/>
              </a:spcBef>
              <a:spcAft>
                <a:spcPts val="0"/>
              </a:spcAft>
              <a:buClr>
                <a:srgbClr val="1C2026"/>
              </a:buClr>
              <a:buSzPts val="2600"/>
              <a:buFont typeface="IBM Plex Sans"/>
              <a:buNone/>
            </a:pPr>
            <a:r>
              <a:t/>
            </a:r>
            <a:endParaRPr b="1" sz="2600">
              <a:solidFill>
                <a:srgbClr val="1C2026"/>
              </a:solidFill>
              <a:latin typeface="IBM Plex Sans"/>
              <a:ea typeface="IBM Plex Sans"/>
              <a:cs typeface="IBM Plex Sans"/>
              <a:sym typeface="IBM Plex Sans"/>
            </a:endParaRPr>
          </a:p>
        </p:txBody>
      </p:sp>
      <p:sp>
        <p:nvSpPr>
          <p:cNvPr id="195" name="Google Shape;195;p19"/>
          <p:cNvSpPr/>
          <p:nvPr/>
        </p:nvSpPr>
        <p:spPr>
          <a:xfrm>
            <a:off x="533363" y="2370088"/>
            <a:ext cx="1632570" cy="399027"/>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46525F"/>
              </a:buClr>
              <a:buSzPts val="3200"/>
              <a:buFont typeface="IBM Plex Sans"/>
              <a:buNone/>
            </a:pPr>
            <a:r>
              <a:rPr b="1" i="0" lang="en" sz="3200" u="none" cap="none" strike="noStrike">
                <a:solidFill>
                  <a:srgbClr val="46525F"/>
                </a:solidFill>
                <a:latin typeface="IBM Plex Sans"/>
                <a:ea typeface="IBM Plex Sans"/>
                <a:cs typeface="IBM Plex Sans"/>
                <a:sym typeface="IBM Plex Sans"/>
              </a:rPr>
              <a:t>Raw</a:t>
            </a:r>
            <a:endParaRPr b="0" i="0" sz="3200" u="none" cap="none" strike="noStrike">
              <a:solidFill>
                <a:schemeClr val="dk1"/>
              </a:solidFill>
              <a:latin typeface="Calibri"/>
              <a:ea typeface="Calibri"/>
              <a:cs typeface="Calibri"/>
              <a:sym typeface="Calibri"/>
            </a:endParaRPr>
          </a:p>
        </p:txBody>
      </p:sp>
      <p:sp>
        <p:nvSpPr>
          <p:cNvPr id="196" name="Google Shape;196;p19"/>
          <p:cNvSpPr/>
          <p:nvPr/>
        </p:nvSpPr>
        <p:spPr>
          <a:xfrm>
            <a:off x="533363" y="2816666"/>
            <a:ext cx="1632570" cy="3167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ACQUISITION + PERFORMANCE FILES</a:t>
            </a:r>
            <a:endParaRPr b="0" i="0" sz="900" u="none" cap="none" strike="noStrike">
              <a:solidFill>
                <a:schemeClr val="dk1"/>
              </a:solidFill>
              <a:latin typeface="Calibri"/>
              <a:ea typeface="Calibri"/>
              <a:cs typeface="Calibri"/>
              <a:sym typeface="Calibri"/>
            </a:endParaRPr>
          </a:p>
        </p:txBody>
      </p:sp>
      <p:sp>
        <p:nvSpPr>
          <p:cNvPr id="197" name="Google Shape;197;p19"/>
          <p:cNvSpPr/>
          <p:nvPr/>
        </p:nvSpPr>
        <p:spPr>
          <a:xfrm>
            <a:off x="2308883" y="2570727"/>
            <a:ext cx="333989" cy="361913"/>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757C85"/>
              </a:buClr>
              <a:buSzPts val="2700"/>
              <a:buFont typeface="IBM Plex Sans"/>
              <a:buNone/>
            </a:pPr>
            <a:r>
              <a:rPr b="0" i="0" lang="en" sz="2700" u="none" cap="none" strike="noStrike">
                <a:solidFill>
                  <a:srgbClr val="757C85"/>
                </a:solidFill>
                <a:latin typeface="IBM Plex Sans"/>
                <a:ea typeface="IBM Plex Sans"/>
                <a:cs typeface="IBM Plex Sans"/>
                <a:sym typeface="IBM Plex Sans"/>
              </a:rPr>
              <a:t>→</a:t>
            </a:r>
            <a:endParaRPr b="0" i="0" sz="2700" u="none" cap="none" strike="noStrike">
              <a:solidFill>
                <a:schemeClr val="dk1"/>
              </a:solidFill>
              <a:latin typeface="Calibri"/>
              <a:ea typeface="Calibri"/>
              <a:cs typeface="Calibri"/>
              <a:sym typeface="Calibri"/>
            </a:endParaRPr>
          </a:p>
        </p:txBody>
      </p:sp>
      <p:sp>
        <p:nvSpPr>
          <p:cNvPr id="198" name="Google Shape;198;p19"/>
          <p:cNvSpPr/>
          <p:nvPr/>
        </p:nvSpPr>
        <p:spPr>
          <a:xfrm>
            <a:off x="2795271" y="2370088"/>
            <a:ext cx="1290954" cy="399027"/>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1C2026"/>
              </a:buClr>
              <a:buSzPts val="3200"/>
              <a:buFont typeface="IBM Plex Sans"/>
              <a:buNone/>
            </a:pPr>
            <a:r>
              <a:rPr b="1" i="0" lang="en" sz="3200" u="none" cap="none" strike="noStrike">
                <a:solidFill>
                  <a:srgbClr val="1C2026"/>
                </a:solidFill>
                <a:latin typeface="IBM Plex Sans"/>
                <a:ea typeface="IBM Plex Sans"/>
                <a:cs typeface="IBM Plex Sans"/>
                <a:sym typeface="IBM Plex Sans"/>
              </a:rPr>
              <a:t>12.5M</a:t>
            </a:r>
            <a:endParaRPr b="0" i="0" sz="3200" u="none" cap="none" strike="noStrike">
              <a:solidFill>
                <a:schemeClr val="dk1"/>
              </a:solidFill>
              <a:latin typeface="Calibri"/>
              <a:ea typeface="Calibri"/>
              <a:cs typeface="Calibri"/>
              <a:sym typeface="Calibri"/>
            </a:endParaRPr>
          </a:p>
        </p:txBody>
      </p:sp>
      <p:sp>
        <p:nvSpPr>
          <p:cNvPr id="199" name="Google Shape;199;p19"/>
          <p:cNvSpPr/>
          <p:nvPr/>
        </p:nvSpPr>
        <p:spPr>
          <a:xfrm>
            <a:off x="2795271" y="2816666"/>
            <a:ext cx="1290954" cy="3167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LABELED LOAN-MONTH ROWS</a:t>
            </a:r>
            <a:endParaRPr b="0" i="0" sz="900" u="none" cap="none" strike="noStrike">
              <a:solidFill>
                <a:schemeClr val="dk1"/>
              </a:solidFill>
              <a:latin typeface="Calibri"/>
              <a:ea typeface="Calibri"/>
              <a:cs typeface="Calibri"/>
              <a:sym typeface="Calibri"/>
            </a:endParaRPr>
          </a:p>
        </p:txBody>
      </p:sp>
      <p:sp>
        <p:nvSpPr>
          <p:cNvPr id="200" name="Google Shape;200;p19"/>
          <p:cNvSpPr/>
          <p:nvPr/>
        </p:nvSpPr>
        <p:spPr>
          <a:xfrm>
            <a:off x="533363" y="3257196"/>
            <a:ext cx="3139440" cy="57604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Each loan's static origination record is joined to its monthly performance history, then reduced to one tidy row per loan per reporting month.</a:t>
            </a:r>
            <a:endParaRPr b="0" i="0" sz="1000" u="none" cap="none" strike="noStrike">
              <a:solidFill>
                <a:schemeClr val="dk1"/>
              </a:solidFill>
              <a:latin typeface="Calibri"/>
              <a:ea typeface="Calibri"/>
              <a:cs typeface="Calibri"/>
              <a:sym typeface="Calibri"/>
            </a:endParaRPr>
          </a:p>
        </p:txBody>
      </p:sp>
      <p:sp>
        <p:nvSpPr>
          <p:cNvPr id="201" name="Google Shape;201;p19"/>
          <p:cNvSpPr/>
          <p:nvPr/>
        </p:nvSpPr>
        <p:spPr>
          <a:xfrm>
            <a:off x="4314807" y="1567625"/>
            <a:ext cx="4295831"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2" name="Google Shape;202;p19"/>
          <p:cNvSpPr/>
          <p:nvPr/>
        </p:nvSpPr>
        <p:spPr>
          <a:xfrm>
            <a:off x="4314807" y="1678316"/>
            <a:ext cx="371475" cy="19169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1100"/>
              <a:buFont typeface="IBM Plex Sans"/>
              <a:buNone/>
            </a:pPr>
            <a:r>
              <a:rPr b="1" i="0" lang="en" sz="1100" u="none" cap="none" strike="noStrike">
                <a:solidFill>
                  <a:srgbClr val="46525F"/>
                </a:solidFill>
                <a:latin typeface="IBM Plex Sans"/>
                <a:ea typeface="IBM Plex Sans"/>
                <a:cs typeface="IBM Plex Sans"/>
                <a:sym typeface="IBM Plex Sans"/>
              </a:rPr>
              <a:t>01</a:t>
            </a:r>
            <a:endParaRPr b="0" i="0" sz="1100" u="none" cap="none" strike="noStrike">
              <a:solidFill>
                <a:schemeClr val="dk1"/>
              </a:solidFill>
              <a:latin typeface="Calibri"/>
              <a:ea typeface="Calibri"/>
              <a:cs typeface="Calibri"/>
              <a:sym typeface="Calibri"/>
            </a:endParaRPr>
          </a:p>
        </p:txBody>
      </p:sp>
      <p:sp>
        <p:nvSpPr>
          <p:cNvPr id="203" name="Google Shape;203;p19"/>
          <p:cNvSpPr/>
          <p:nvPr/>
        </p:nvSpPr>
        <p:spPr>
          <a:xfrm>
            <a:off x="4781476" y="1690222"/>
            <a:ext cx="3944037" cy="17978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1" i="0" lang="en" sz="1000" u="none" cap="none" strike="noStrike">
                <a:solidFill>
                  <a:srgbClr val="1C2026"/>
                </a:solidFill>
                <a:latin typeface="IBM Plex Sans"/>
                <a:ea typeface="IBM Plex Sans"/>
                <a:cs typeface="IBM Plex Sans"/>
                <a:sym typeface="IBM Plex Sans"/>
              </a:rPr>
              <a:t>Join acquisition + performance</a:t>
            </a:r>
            <a:endParaRPr b="0" i="0" sz="1000" u="none" cap="none" strike="noStrike">
              <a:solidFill>
                <a:schemeClr val="dk1"/>
              </a:solidFill>
              <a:latin typeface="Calibri"/>
              <a:ea typeface="Calibri"/>
              <a:cs typeface="Calibri"/>
              <a:sym typeface="Calibri"/>
            </a:endParaRPr>
          </a:p>
        </p:txBody>
      </p:sp>
      <p:sp>
        <p:nvSpPr>
          <p:cNvPr id="204" name="Google Shape;204;p19"/>
          <p:cNvSpPr/>
          <p:nvPr/>
        </p:nvSpPr>
        <p:spPr>
          <a:xfrm>
            <a:off x="4781476" y="1879513"/>
            <a:ext cx="3944037" cy="339031"/>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One record per loan-month, balance and status aligned to origination terms.</a:t>
            </a:r>
            <a:endParaRPr b="0" i="0" sz="900" u="none" cap="none" strike="noStrike">
              <a:solidFill>
                <a:schemeClr val="dk1"/>
              </a:solidFill>
              <a:latin typeface="Calibri"/>
              <a:ea typeface="Calibri"/>
              <a:cs typeface="Calibri"/>
              <a:sym typeface="Calibri"/>
            </a:endParaRPr>
          </a:p>
        </p:txBody>
      </p:sp>
      <p:sp>
        <p:nvSpPr>
          <p:cNvPr id="205" name="Google Shape;205;p19"/>
          <p:cNvSpPr/>
          <p:nvPr/>
        </p:nvSpPr>
        <p:spPr>
          <a:xfrm>
            <a:off x="4314807" y="2304232"/>
            <a:ext cx="4295831"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6" name="Google Shape;206;p19"/>
          <p:cNvSpPr/>
          <p:nvPr/>
        </p:nvSpPr>
        <p:spPr>
          <a:xfrm>
            <a:off x="4314807" y="2414923"/>
            <a:ext cx="371475" cy="19169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1100"/>
              <a:buFont typeface="IBM Plex Sans"/>
              <a:buNone/>
            </a:pPr>
            <a:r>
              <a:rPr b="1" i="0" lang="en" sz="1100" u="none" cap="none" strike="noStrike">
                <a:solidFill>
                  <a:srgbClr val="46525F"/>
                </a:solidFill>
                <a:latin typeface="IBM Plex Sans"/>
                <a:ea typeface="IBM Plex Sans"/>
                <a:cs typeface="IBM Plex Sans"/>
                <a:sym typeface="IBM Plex Sans"/>
              </a:rPr>
              <a:t>02</a:t>
            </a:r>
            <a:endParaRPr b="0" i="0" sz="1100" u="none" cap="none" strike="noStrike">
              <a:solidFill>
                <a:schemeClr val="dk1"/>
              </a:solidFill>
              <a:latin typeface="Calibri"/>
              <a:ea typeface="Calibri"/>
              <a:cs typeface="Calibri"/>
              <a:sym typeface="Calibri"/>
            </a:endParaRPr>
          </a:p>
        </p:txBody>
      </p:sp>
      <p:sp>
        <p:nvSpPr>
          <p:cNvPr id="207" name="Google Shape;207;p19"/>
          <p:cNvSpPr/>
          <p:nvPr/>
        </p:nvSpPr>
        <p:spPr>
          <a:xfrm>
            <a:off x="4781476" y="2426829"/>
            <a:ext cx="3944037" cy="17978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1" i="0" lang="en" sz="1000" u="none" cap="none" strike="noStrike">
                <a:solidFill>
                  <a:srgbClr val="1C2026"/>
                </a:solidFill>
                <a:latin typeface="IBM Plex Sans"/>
                <a:ea typeface="IBM Plex Sans"/>
                <a:cs typeface="IBM Plex Sans"/>
                <a:sym typeface="IBM Plex Sans"/>
              </a:rPr>
              <a:t>Standardize &amp; downcast</a:t>
            </a:r>
            <a:endParaRPr b="0" i="0" sz="1000" u="none" cap="none" strike="noStrike">
              <a:solidFill>
                <a:schemeClr val="dk1"/>
              </a:solidFill>
              <a:latin typeface="Calibri"/>
              <a:ea typeface="Calibri"/>
              <a:cs typeface="Calibri"/>
              <a:sym typeface="Calibri"/>
            </a:endParaRPr>
          </a:p>
        </p:txBody>
      </p:sp>
      <p:sp>
        <p:nvSpPr>
          <p:cNvPr id="208" name="Google Shape;208;p19"/>
          <p:cNvSpPr/>
          <p:nvPr/>
        </p:nvSpPr>
        <p:spPr>
          <a:xfrm>
            <a:off x="4781476" y="2616120"/>
            <a:ext cx="3944037"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Memory-conscious dtypes; parse dates once; rename fields for clarity.</a:t>
            </a:r>
            <a:endParaRPr b="0" i="0" sz="900" u="none" cap="none" strike="noStrike">
              <a:solidFill>
                <a:schemeClr val="dk1"/>
              </a:solidFill>
              <a:latin typeface="Calibri"/>
              <a:ea typeface="Calibri"/>
              <a:cs typeface="Calibri"/>
              <a:sym typeface="Calibri"/>
            </a:endParaRPr>
          </a:p>
        </p:txBody>
      </p:sp>
      <p:sp>
        <p:nvSpPr>
          <p:cNvPr id="209" name="Google Shape;209;p19"/>
          <p:cNvSpPr/>
          <p:nvPr/>
        </p:nvSpPr>
        <p:spPr>
          <a:xfrm>
            <a:off x="4314807" y="2880848"/>
            <a:ext cx="4295831"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0" name="Google Shape;210;p19"/>
          <p:cNvSpPr/>
          <p:nvPr/>
        </p:nvSpPr>
        <p:spPr>
          <a:xfrm>
            <a:off x="4314807" y="2991539"/>
            <a:ext cx="371475" cy="19169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1100"/>
              <a:buFont typeface="IBM Plex Sans"/>
              <a:buNone/>
            </a:pPr>
            <a:r>
              <a:rPr b="1" i="0" lang="en" sz="1100" u="none" cap="none" strike="noStrike">
                <a:solidFill>
                  <a:srgbClr val="46525F"/>
                </a:solidFill>
                <a:latin typeface="IBM Plex Sans"/>
                <a:ea typeface="IBM Plex Sans"/>
                <a:cs typeface="IBM Plex Sans"/>
                <a:sym typeface="IBM Plex Sans"/>
              </a:rPr>
              <a:t>03</a:t>
            </a:r>
            <a:endParaRPr b="0" i="0" sz="1100" u="none" cap="none" strike="noStrike">
              <a:solidFill>
                <a:schemeClr val="dk1"/>
              </a:solidFill>
              <a:latin typeface="Calibri"/>
              <a:ea typeface="Calibri"/>
              <a:cs typeface="Calibri"/>
              <a:sym typeface="Calibri"/>
            </a:endParaRPr>
          </a:p>
        </p:txBody>
      </p:sp>
      <p:sp>
        <p:nvSpPr>
          <p:cNvPr id="211" name="Google Shape;211;p19"/>
          <p:cNvSpPr/>
          <p:nvPr/>
        </p:nvSpPr>
        <p:spPr>
          <a:xfrm>
            <a:off x="4781476" y="3003445"/>
            <a:ext cx="3944037" cy="17978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1" i="0" lang="en" sz="1000" u="none" cap="none" strike="noStrike">
                <a:solidFill>
                  <a:srgbClr val="1C2026"/>
                </a:solidFill>
                <a:latin typeface="IBM Plex Sans"/>
                <a:ea typeface="IBM Plex Sans"/>
                <a:cs typeface="IBM Plex Sans"/>
                <a:sym typeface="IBM Plex Sans"/>
              </a:rPr>
              <a:t>Engineer delinquency history</a:t>
            </a:r>
            <a:endParaRPr b="0" i="0" sz="1000" u="none" cap="none" strike="noStrike">
              <a:solidFill>
                <a:schemeClr val="dk1"/>
              </a:solidFill>
              <a:latin typeface="Calibri"/>
              <a:ea typeface="Calibri"/>
              <a:cs typeface="Calibri"/>
              <a:sym typeface="Calibri"/>
            </a:endParaRPr>
          </a:p>
        </p:txBody>
      </p:sp>
      <p:sp>
        <p:nvSpPr>
          <p:cNvPr id="212" name="Google Shape;212;p19"/>
          <p:cNvSpPr/>
          <p:nvPr/>
        </p:nvSpPr>
        <p:spPr>
          <a:xfrm>
            <a:off x="4781476" y="3192736"/>
            <a:ext cx="3944037"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Rolling 12-month counts of 30+ and 60+ day past-due spells per loan.</a:t>
            </a:r>
            <a:endParaRPr b="0" i="0" sz="900" u="none" cap="none" strike="noStrike">
              <a:solidFill>
                <a:schemeClr val="dk1"/>
              </a:solidFill>
              <a:latin typeface="Calibri"/>
              <a:ea typeface="Calibri"/>
              <a:cs typeface="Calibri"/>
              <a:sym typeface="Calibri"/>
            </a:endParaRPr>
          </a:p>
        </p:txBody>
      </p:sp>
      <p:sp>
        <p:nvSpPr>
          <p:cNvPr id="213" name="Google Shape;213;p19"/>
          <p:cNvSpPr/>
          <p:nvPr/>
        </p:nvSpPr>
        <p:spPr>
          <a:xfrm>
            <a:off x="4314807" y="3457464"/>
            <a:ext cx="4295831"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4" name="Google Shape;214;p19"/>
          <p:cNvSpPr/>
          <p:nvPr/>
        </p:nvSpPr>
        <p:spPr>
          <a:xfrm>
            <a:off x="4314807" y="3568155"/>
            <a:ext cx="371475" cy="19169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1100"/>
              <a:buFont typeface="IBM Plex Sans"/>
              <a:buNone/>
            </a:pPr>
            <a:r>
              <a:rPr b="1" i="0" lang="en" sz="1100" u="none" cap="none" strike="noStrike">
                <a:solidFill>
                  <a:srgbClr val="46525F"/>
                </a:solidFill>
                <a:latin typeface="IBM Plex Sans"/>
                <a:ea typeface="IBM Plex Sans"/>
                <a:cs typeface="IBM Plex Sans"/>
                <a:sym typeface="IBM Plex Sans"/>
              </a:rPr>
              <a:t>04</a:t>
            </a:r>
            <a:endParaRPr b="0" i="0" sz="1100" u="none" cap="none" strike="noStrike">
              <a:solidFill>
                <a:schemeClr val="dk1"/>
              </a:solidFill>
              <a:latin typeface="Calibri"/>
              <a:ea typeface="Calibri"/>
              <a:cs typeface="Calibri"/>
              <a:sym typeface="Calibri"/>
            </a:endParaRPr>
          </a:p>
        </p:txBody>
      </p:sp>
      <p:sp>
        <p:nvSpPr>
          <p:cNvPr id="215" name="Google Shape;215;p19"/>
          <p:cNvSpPr/>
          <p:nvPr/>
        </p:nvSpPr>
        <p:spPr>
          <a:xfrm>
            <a:off x="4781476" y="3580061"/>
            <a:ext cx="3944037" cy="17978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1" i="0" lang="en" sz="1000" u="none" cap="none" strike="noStrike">
                <a:solidFill>
                  <a:srgbClr val="1C2026"/>
                </a:solidFill>
                <a:latin typeface="IBM Plex Sans"/>
                <a:ea typeface="IBM Plex Sans"/>
                <a:cs typeface="IBM Plex Sans"/>
                <a:sym typeface="IBM Plex Sans"/>
              </a:rPr>
              <a:t>Build the forward label</a:t>
            </a:r>
            <a:endParaRPr b="0" i="0" sz="1000" u="none" cap="none" strike="noStrike">
              <a:solidFill>
                <a:schemeClr val="dk1"/>
              </a:solidFill>
              <a:latin typeface="Calibri"/>
              <a:ea typeface="Calibri"/>
              <a:cs typeface="Calibri"/>
              <a:sym typeface="Calibri"/>
            </a:endParaRPr>
          </a:p>
        </p:txBody>
      </p:sp>
      <p:sp>
        <p:nvSpPr>
          <p:cNvPr id="216" name="Google Shape;216;p19"/>
          <p:cNvSpPr/>
          <p:nvPr/>
        </p:nvSpPr>
        <p:spPr>
          <a:xfrm>
            <a:off x="4781476" y="3769352"/>
            <a:ext cx="3944037"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Look six months ahead to set future_</a:t>
            </a:r>
            <a:r>
              <a:rPr lang="en" sz="900">
                <a:solidFill>
                  <a:srgbClr val="454C55"/>
                </a:solidFill>
                <a:latin typeface="IBM Plex Sans"/>
                <a:ea typeface="IBM Plex Sans"/>
                <a:cs typeface="IBM Plex Sans"/>
                <a:sym typeface="IBM Plex Sans"/>
              </a:rPr>
              <a:t>90plus</a:t>
            </a:r>
            <a:r>
              <a:rPr b="0" i="0" lang="en" sz="900" u="none" cap="none" strike="noStrike">
                <a:solidFill>
                  <a:srgbClr val="454C55"/>
                </a:solidFill>
                <a:latin typeface="IBM Plex Sans"/>
                <a:ea typeface="IBM Plex Sans"/>
                <a:cs typeface="IBM Plex Sans"/>
                <a:sym typeface="IBM Plex Sans"/>
              </a:rPr>
              <a:t>_dq_6m for each row.</a:t>
            </a:r>
            <a:endParaRPr b="0" i="0" sz="900" u="none" cap="none" strike="noStrike">
              <a:solidFill>
                <a:schemeClr val="dk1"/>
              </a:solidFill>
              <a:latin typeface="Calibri"/>
              <a:ea typeface="Calibri"/>
              <a:cs typeface="Calibri"/>
              <a:sym typeface="Calibri"/>
            </a:endParaRPr>
          </a:p>
        </p:txBody>
      </p:sp>
      <p:sp>
        <p:nvSpPr>
          <p:cNvPr id="217" name="Google Shape;217;p19"/>
          <p:cNvSpPr/>
          <p:nvPr/>
        </p:nvSpPr>
        <p:spPr>
          <a:xfrm>
            <a:off x="4314807" y="4610696"/>
            <a:ext cx="4295831"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8" name="Google Shape;218;p19"/>
          <p:cNvSpPr/>
          <p:nvPr/>
        </p:nvSpPr>
        <p:spPr>
          <a:xfrm>
            <a:off x="4314807" y="4034080"/>
            <a:ext cx="4295831"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19" name="Google Shape;219;p19"/>
          <p:cNvSpPr/>
          <p:nvPr/>
        </p:nvSpPr>
        <p:spPr>
          <a:xfrm>
            <a:off x="4314807" y="4144771"/>
            <a:ext cx="371475" cy="19169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1100"/>
              <a:buFont typeface="IBM Plex Sans"/>
              <a:buNone/>
            </a:pPr>
            <a:r>
              <a:rPr b="1" i="0" lang="en" sz="1100" u="none" cap="none" strike="noStrike">
                <a:solidFill>
                  <a:srgbClr val="46525F"/>
                </a:solidFill>
                <a:latin typeface="IBM Plex Sans"/>
                <a:ea typeface="IBM Plex Sans"/>
                <a:cs typeface="IBM Plex Sans"/>
                <a:sym typeface="IBM Plex Sans"/>
              </a:rPr>
              <a:t>05</a:t>
            </a:r>
            <a:endParaRPr b="0" i="0" sz="1100" u="none" cap="none" strike="noStrike">
              <a:solidFill>
                <a:schemeClr val="dk1"/>
              </a:solidFill>
              <a:latin typeface="Calibri"/>
              <a:ea typeface="Calibri"/>
              <a:cs typeface="Calibri"/>
              <a:sym typeface="Calibri"/>
            </a:endParaRPr>
          </a:p>
        </p:txBody>
      </p:sp>
      <p:sp>
        <p:nvSpPr>
          <p:cNvPr id="220" name="Google Shape;220;p19"/>
          <p:cNvSpPr/>
          <p:nvPr/>
        </p:nvSpPr>
        <p:spPr>
          <a:xfrm>
            <a:off x="4781476" y="4156677"/>
            <a:ext cx="3944037" cy="179785"/>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1" i="0" lang="en" sz="1000" u="none" cap="none" strike="noStrike">
                <a:solidFill>
                  <a:srgbClr val="1C2026"/>
                </a:solidFill>
                <a:latin typeface="IBM Plex Sans"/>
                <a:ea typeface="IBM Plex Sans"/>
                <a:cs typeface="IBM Plex Sans"/>
                <a:sym typeface="IBM Plex Sans"/>
              </a:rPr>
              <a:t>Drop the unlabeled tail</a:t>
            </a:r>
            <a:endParaRPr b="0" i="0" sz="1000" u="none" cap="none" strike="noStrike">
              <a:solidFill>
                <a:schemeClr val="dk1"/>
              </a:solidFill>
              <a:latin typeface="Calibri"/>
              <a:ea typeface="Calibri"/>
              <a:cs typeface="Calibri"/>
              <a:sym typeface="Calibri"/>
            </a:endParaRPr>
          </a:p>
        </p:txBody>
      </p:sp>
      <p:sp>
        <p:nvSpPr>
          <p:cNvPr id="221" name="Google Shape;221;p19"/>
          <p:cNvSpPr/>
          <p:nvPr/>
        </p:nvSpPr>
        <p:spPr>
          <a:xfrm>
            <a:off x="4781476" y="4345968"/>
            <a:ext cx="3944037" cy="179040"/>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Remove rows lacking a full six-month forward window.</a:t>
            </a:r>
            <a:endParaRPr b="0" i="0" sz="900" u="none" cap="none" strike="noStrike">
              <a:solidFill>
                <a:schemeClr val="dk1"/>
              </a:solidFill>
              <a:latin typeface="Calibri"/>
              <a:ea typeface="Calibri"/>
              <a:cs typeface="Calibri"/>
              <a:sym typeface="Calibri"/>
            </a:endParaRPr>
          </a:p>
        </p:txBody>
      </p:sp>
      <p:sp>
        <p:nvSpPr>
          <p:cNvPr id="222" name="Google Shape;222;p19"/>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223" name="Google Shape;223;p19"/>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228" name="Shape 228"/>
        <p:cNvGrpSpPr/>
        <p:nvPr/>
      </p:nvGrpSpPr>
      <p:grpSpPr>
        <a:xfrm>
          <a:off x="0" y="0"/>
          <a:ext cx="0" cy="0"/>
          <a:chOff x="0" y="0"/>
          <a:chExt cx="0" cy="0"/>
        </a:xfrm>
      </p:grpSpPr>
      <p:sp>
        <p:nvSpPr>
          <p:cNvPr id="229" name="Google Shape;229;p20"/>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0" name="Google Shape;230;p20"/>
          <p:cNvSpPr/>
          <p:nvPr/>
        </p:nvSpPr>
        <p:spPr>
          <a:xfrm>
            <a:off x="533363" y="399976"/>
            <a:ext cx="1929001"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05 · EXPLORATORY ANALYSIS</a:t>
            </a:r>
            <a:endParaRPr b="0" i="0" sz="900" u="none" cap="none" strike="noStrike">
              <a:solidFill>
                <a:schemeClr val="dk1"/>
              </a:solidFill>
              <a:latin typeface="Calibri"/>
              <a:ea typeface="Calibri"/>
              <a:cs typeface="Calibri"/>
              <a:sym typeface="Calibri"/>
            </a:endParaRPr>
          </a:p>
        </p:txBody>
      </p:sp>
      <p:sp>
        <p:nvSpPr>
          <p:cNvPr id="231" name="Google Shape;231;p20"/>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06</a:t>
            </a:r>
            <a:endParaRPr b="0" i="0" sz="900" u="none" cap="none" strike="noStrike">
              <a:solidFill>
                <a:schemeClr val="dk1"/>
              </a:solidFill>
              <a:latin typeface="Calibri"/>
              <a:ea typeface="Calibri"/>
              <a:cs typeface="Calibri"/>
              <a:sym typeface="Calibri"/>
            </a:endParaRPr>
          </a:p>
        </p:txBody>
      </p:sp>
      <p:sp>
        <p:nvSpPr>
          <p:cNvPr id="232" name="Google Shape;232;p20"/>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rtl="0" algn="l">
              <a:lnSpc>
                <a:spcPct val="102000"/>
              </a:lnSpc>
              <a:spcBef>
                <a:spcPts val="1100"/>
              </a:spcBef>
              <a:spcAft>
                <a:spcPts val="0"/>
              </a:spcAft>
              <a:buClr>
                <a:schemeClr val="dk1"/>
              </a:buClr>
              <a:buSzPts val="1100"/>
              <a:buFont typeface="Arial"/>
              <a:buNone/>
            </a:pPr>
            <a:r>
              <a:rPr lang="en" sz="3450">
                <a:solidFill>
                  <a:srgbClr val="16170F"/>
                </a:solidFill>
                <a:latin typeface="Times New Roman"/>
                <a:ea typeface="Times New Roman"/>
                <a:cs typeface="Times New Roman"/>
                <a:sym typeface="Times New Roman"/>
              </a:rPr>
              <a:t>Credit Score: The Primary Risk Driver</a:t>
            </a:r>
            <a:endParaRPr sz="3450">
              <a:solidFill>
                <a:srgbClr val="16170F"/>
              </a:solidFill>
              <a:latin typeface="Times New Roman"/>
              <a:ea typeface="Times New Roman"/>
              <a:cs typeface="Times New Roman"/>
              <a:sym typeface="Times New Roman"/>
            </a:endParaRPr>
          </a:p>
          <a:p>
            <a:pPr indent="0" lvl="0" marL="0" marR="0" rtl="0" algn="l">
              <a:lnSpc>
                <a:spcPct val="106000"/>
              </a:lnSpc>
              <a:spcBef>
                <a:spcPts val="0"/>
              </a:spcBef>
              <a:spcAft>
                <a:spcPts val="0"/>
              </a:spcAft>
              <a:buClr>
                <a:srgbClr val="1C2026"/>
              </a:buClr>
              <a:buSzPts val="2600"/>
              <a:buFont typeface="IBM Plex Sans"/>
              <a:buNone/>
            </a:pPr>
            <a:r>
              <a:t/>
            </a:r>
            <a:endParaRPr b="1" sz="2600">
              <a:solidFill>
                <a:srgbClr val="1C2026"/>
              </a:solidFill>
              <a:latin typeface="IBM Plex Sans"/>
              <a:ea typeface="IBM Plex Sans"/>
              <a:cs typeface="IBM Plex Sans"/>
              <a:sym typeface="IBM Plex Sans"/>
            </a:endParaRPr>
          </a:p>
        </p:txBody>
      </p:sp>
      <p:sp>
        <p:nvSpPr>
          <p:cNvPr id="233" name="Google Shape;233;p20"/>
          <p:cNvSpPr/>
          <p:nvPr/>
        </p:nvSpPr>
        <p:spPr>
          <a:xfrm>
            <a:off x="533363" y="2468501"/>
            <a:ext cx="3139440" cy="761702"/>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1" lang="en" sz="900">
                <a:solidFill>
                  <a:srgbClr val="46525F"/>
                </a:solidFill>
                <a:latin typeface="IBM Plex Sans"/>
                <a:ea typeface="IBM Plex Sans"/>
                <a:cs typeface="IBM Plex Sans"/>
                <a:sym typeface="IBM Plex Sans"/>
              </a:rPr>
              <a:t>90+DAY</a:t>
            </a:r>
            <a:r>
              <a:rPr b="0" i="0" lang="en" sz="1000" u="none" cap="none" strike="noStrike">
                <a:solidFill>
                  <a:srgbClr val="454C55"/>
                </a:solidFill>
                <a:latin typeface="IBM Plex Sans"/>
                <a:ea typeface="IBM Plex Sans"/>
                <a:cs typeface="IBM Plex Sans"/>
                <a:sym typeface="IBM Plex Sans"/>
              </a:rPr>
              <a:t>-delinquency rate falls almost ten-fold from the lowest score band to the highest. It is the single strongest signal in the data. Reassuringly, it bends in exactly the direction underwriting intuition expects.</a:t>
            </a:r>
            <a:endParaRPr b="0" i="0" sz="1000" u="none" cap="none" strike="noStrike">
              <a:solidFill>
                <a:schemeClr val="dk1"/>
              </a:solidFill>
              <a:latin typeface="Calibri"/>
              <a:ea typeface="Calibri"/>
              <a:cs typeface="Calibri"/>
              <a:sym typeface="Calibri"/>
            </a:endParaRPr>
          </a:p>
        </p:txBody>
      </p:sp>
      <p:sp>
        <p:nvSpPr>
          <p:cNvPr id="234" name="Google Shape;234;p20"/>
          <p:cNvSpPr/>
          <p:nvPr/>
        </p:nvSpPr>
        <p:spPr>
          <a:xfrm>
            <a:off x="533363" y="3334959"/>
            <a:ext cx="3139440" cy="390376"/>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757C85"/>
              </a:buClr>
              <a:buSzPts val="1000"/>
              <a:buFont typeface="IBM Plex Sans"/>
              <a:buNone/>
            </a:pPr>
            <a:r>
              <a:rPr b="0" i="0" lang="en" sz="1000" u="none" cap="none" strike="noStrike">
                <a:solidFill>
                  <a:srgbClr val="757C85"/>
                </a:solidFill>
                <a:latin typeface="IBM Plex Sans"/>
                <a:ea typeface="IBM Plex Sans"/>
                <a:cs typeface="IBM Plex Sans"/>
                <a:sym typeface="IBM Plex Sans"/>
              </a:rPr>
              <a:t>Dashed line marks the </a:t>
            </a:r>
            <a:r>
              <a:rPr lang="en" sz="1000">
                <a:solidFill>
                  <a:srgbClr val="757C85"/>
                </a:solidFill>
                <a:latin typeface="IBM Plex Sans"/>
                <a:ea typeface="IBM Plex Sans"/>
                <a:cs typeface="IBM Plex Sans"/>
                <a:sym typeface="IBM Plex Sans"/>
              </a:rPr>
              <a:t>0</a:t>
            </a:r>
            <a:r>
              <a:rPr b="0" i="0" lang="en" sz="1000" u="none" cap="none" strike="noStrike">
                <a:solidFill>
                  <a:srgbClr val="757C85"/>
                </a:solidFill>
                <a:latin typeface="IBM Plex Sans"/>
                <a:ea typeface="IBM Plex Sans"/>
                <a:cs typeface="IBM Plex Sans"/>
                <a:sym typeface="IBM Plex Sans"/>
              </a:rPr>
              <a:t>.3</a:t>
            </a:r>
            <a:r>
              <a:rPr lang="en" sz="1000">
                <a:solidFill>
                  <a:srgbClr val="757C85"/>
                </a:solidFill>
                <a:latin typeface="IBM Plex Sans"/>
                <a:ea typeface="IBM Plex Sans"/>
                <a:cs typeface="IBM Plex Sans"/>
                <a:sym typeface="IBM Plex Sans"/>
              </a:rPr>
              <a:t>3</a:t>
            </a:r>
            <a:r>
              <a:rPr b="0" i="0" lang="en" sz="1000" u="none" cap="none" strike="noStrike">
                <a:solidFill>
                  <a:srgbClr val="757C85"/>
                </a:solidFill>
                <a:latin typeface="IBM Plex Sans"/>
                <a:ea typeface="IBM Plex Sans"/>
                <a:cs typeface="IBM Plex Sans"/>
                <a:sym typeface="IBM Plex Sans"/>
              </a:rPr>
              <a:t>% sample-average rate. Bands above it carry above-average risk.</a:t>
            </a:r>
            <a:endParaRPr b="0" i="0" sz="1000" u="none" cap="none" strike="noStrike">
              <a:solidFill>
                <a:schemeClr val="dk1"/>
              </a:solidFill>
              <a:latin typeface="Calibri"/>
              <a:ea typeface="Calibri"/>
              <a:cs typeface="Calibri"/>
              <a:sym typeface="Calibri"/>
            </a:endParaRPr>
          </a:p>
        </p:txBody>
      </p:sp>
      <p:sp>
        <p:nvSpPr>
          <p:cNvPr id="235" name="Google Shape;235;p20"/>
          <p:cNvSpPr/>
          <p:nvPr/>
        </p:nvSpPr>
        <p:spPr>
          <a:xfrm>
            <a:off x="4119469" y="1943230"/>
            <a:ext cx="462590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lang="en" sz="900">
                <a:solidFill>
                  <a:srgbClr val="46525F"/>
                </a:solidFill>
                <a:latin typeface="IBM Plex Sans"/>
                <a:ea typeface="IBM Plex Sans"/>
                <a:cs typeface="IBM Plex Sans"/>
                <a:sym typeface="IBM Plex Sans"/>
              </a:rPr>
              <a:t>90+DAY</a:t>
            </a:r>
            <a:r>
              <a:rPr b="1" i="0" lang="en" sz="900" u="none" cap="none" strike="noStrike">
                <a:solidFill>
                  <a:srgbClr val="46525F"/>
                </a:solidFill>
                <a:latin typeface="IBM Plex Sans"/>
                <a:ea typeface="IBM Plex Sans"/>
                <a:cs typeface="IBM Plex Sans"/>
                <a:sym typeface="IBM Plex Sans"/>
              </a:rPr>
              <a:t>-DELINQUENCY RATE (%) BY ORIGINATION CREDIT SCORE</a:t>
            </a:r>
            <a:endParaRPr b="0" i="0" sz="900" u="none" cap="none" strike="noStrike">
              <a:solidFill>
                <a:schemeClr val="dk1"/>
              </a:solidFill>
              <a:latin typeface="Calibri"/>
              <a:ea typeface="Calibri"/>
              <a:cs typeface="Calibri"/>
              <a:sym typeface="Calibri"/>
            </a:endParaRPr>
          </a:p>
        </p:txBody>
      </p:sp>
      <p:sp>
        <p:nvSpPr>
          <p:cNvPr id="236" name="Google Shape;236;p20"/>
          <p:cNvSpPr/>
          <p:nvPr/>
        </p:nvSpPr>
        <p:spPr>
          <a:xfrm>
            <a:off x="4119470" y="4010081"/>
            <a:ext cx="4491167"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7" name="Google Shape;237;p20"/>
          <p:cNvSpPr/>
          <p:nvPr/>
        </p:nvSpPr>
        <p:spPr>
          <a:xfrm>
            <a:off x="4119470" y="3360260"/>
            <a:ext cx="4491167" cy="5953"/>
          </a:xfrm>
          <a:prstGeom prst="rect">
            <a:avLst/>
          </a:prstGeom>
          <a:solidFill>
            <a:srgbClr val="46525F">
              <a:alpha val="6000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8" name="Google Shape;238;p20"/>
          <p:cNvSpPr/>
          <p:nvPr/>
        </p:nvSpPr>
        <p:spPr>
          <a:xfrm>
            <a:off x="8018301" y="3142971"/>
            <a:ext cx="592336" cy="148828"/>
          </a:xfrm>
          <a:prstGeom prst="rect">
            <a:avLst/>
          </a:prstGeom>
          <a:solidFill>
            <a:srgbClr val="F7F7F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9" name="Google Shape;239;p20"/>
          <p:cNvSpPr/>
          <p:nvPr/>
        </p:nvSpPr>
        <p:spPr>
          <a:xfrm>
            <a:off x="8056401" y="3142971"/>
            <a:ext cx="59233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0" i="0" lang="en" sz="900" u="none" cap="none" strike="noStrike">
                <a:solidFill>
                  <a:srgbClr val="46525F"/>
                </a:solidFill>
                <a:latin typeface="IBM Plex Sans"/>
                <a:ea typeface="IBM Plex Sans"/>
                <a:cs typeface="IBM Plex Sans"/>
                <a:sym typeface="IBM Plex Sans"/>
              </a:rPr>
              <a:t>avg </a:t>
            </a:r>
            <a:r>
              <a:rPr lang="en" sz="900">
                <a:solidFill>
                  <a:srgbClr val="46525F"/>
                </a:solidFill>
                <a:latin typeface="IBM Plex Sans"/>
                <a:ea typeface="IBM Plex Sans"/>
                <a:cs typeface="IBM Plex Sans"/>
                <a:sym typeface="IBM Plex Sans"/>
              </a:rPr>
              <a:t>0</a:t>
            </a:r>
            <a:r>
              <a:rPr b="0" i="0" lang="en" sz="900" u="none" cap="none" strike="noStrike">
                <a:solidFill>
                  <a:srgbClr val="46525F"/>
                </a:solidFill>
                <a:latin typeface="IBM Plex Sans"/>
                <a:ea typeface="IBM Plex Sans"/>
                <a:cs typeface="IBM Plex Sans"/>
                <a:sym typeface="IBM Plex Sans"/>
              </a:rPr>
              <a:t>.32%</a:t>
            </a:r>
            <a:endParaRPr b="0" i="0" sz="900" u="none" cap="none" strike="noStrike">
              <a:solidFill>
                <a:schemeClr val="dk1"/>
              </a:solidFill>
              <a:latin typeface="Calibri"/>
              <a:ea typeface="Calibri"/>
              <a:cs typeface="Calibri"/>
              <a:sym typeface="Calibri"/>
            </a:endParaRPr>
          </a:p>
        </p:txBody>
      </p:sp>
      <p:sp>
        <p:nvSpPr>
          <p:cNvPr id="240" name="Google Shape;240;p20"/>
          <p:cNvSpPr/>
          <p:nvPr/>
        </p:nvSpPr>
        <p:spPr>
          <a:xfrm>
            <a:off x="4119470" y="2422829"/>
            <a:ext cx="389093" cy="1587252"/>
          </a:xfrm>
          <a:prstGeom prst="roundRect">
            <a:avLst>
              <a:gd fmla="val 3672"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1" name="Google Shape;241;p20"/>
          <p:cNvSpPr/>
          <p:nvPr/>
        </p:nvSpPr>
        <p:spPr>
          <a:xfrm>
            <a:off x="4575163" y="2897218"/>
            <a:ext cx="389186" cy="1112862"/>
          </a:xfrm>
          <a:prstGeom prst="roundRect">
            <a:avLst>
              <a:gd fmla="val 3671"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2" name="Google Shape;242;p20"/>
          <p:cNvSpPr/>
          <p:nvPr/>
        </p:nvSpPr>
        <p:spPr>
          <a:xfrm>
            <a:off x="5030949" y="3120833"/>
            <a:ext cx="389186" cy="889248"/>
          </a:xfrm>
          <a:prstGeom prst="roundRect">
            <a:avLst>
              <a:gd fmla="val 3671"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3" name="Google Shape;243;p20"/>
          <p:cNvSpPr/>
          <p:nvPr/>
        </p:nvSpPr>
        <p:spPr>
          <a:xfrm>
            <a:off x="5486735" y="3312077"/>
            <a:ext cx="389186" cy="698004"/>
          </a:xfrm>
          <a:prstGeom prst="roundRect">
            <a:avLst>
              <a:gd fmla="val 3671"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4" name="Google Shape;244;p20"/>
          <p:cNvSpPr/>
          <p:nvPr/>
        </p:nvSpPr>
        <p:spPr>
          <a:xfrm>
            <a:off x="5942521" y="3438302"/>
            <a:ext cx="389186" cy="571779"/>
          </a:xfrm>
          <a:prstGeom prst="roundRect">
            <a:avLst>
              <a:gd fmla="val 3671"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5" name="Google Shape;245;p20"/>
          <p:cNvSpPr/>
          <p:nvPr/>
        </p:nvSpPr>
        <p:spPr>
          <a:xfrm>
            <a:off x="6398307" y="3600711"/>
            <a:ext cx="389186" cy="409371"/>
          </a:xfrm>
          <a:prstGeom prst="roundRect">
            <a:avLst>
              <a:gd fmla="val 3671"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6" name="Google Shape;246;p20"/>
          <p:cNvSpPr/>
          <p:nvPr/>
        </p:nvSpPr>
        <p:spPr>
          <a:xfrm>
            <a:off x="6854094" y="3629546"/>
            <a:ext cx="389185" cy="380535"/>
          </a:xfrm>
          <a:prstGeom prst="roundRect">
            <a:avLst>
              <a:gd fmla="val 3755"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7" name="Google Shape;247;p20"/>
          <p:cNvSpPr/>
          <p:nvPr/>
        </p:nvSpPr>
        <p:spPr>
          <a:xfrm>
            <a:off x="7309880" y="3687217"/>
            <a:ext cx="389185" cy="322864"/>
          </a:xfrm>
          <a:prstGeom prst="roundRect">
            <a:avLst>
              <a:gd fmla="val 4425"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8" name="Google Shape;248;p20"/>
          <p:cNvSpPr/>
          <p:nvPr/>
        </p:nvSpPr>
        <p:spPr>
          <a:xfrm>
            <a:off x="7765666" y="3781072"/>
            <a:ext cx="389185" cy="229010"/>
          </a:xfrm>
          <a:prstGeom prst="roundRect">
            <a:avLst>
              <a:gd fmla="val 6239"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49" name="Google Shape;249;p20"/>
          <p:cNvSpPr/>
          <p:nvPr/>
        </p:nvSpPr>
        <p:spPr>
          <a:xfrm>
            <a:off x="8221452" y="3838743"/>
            <a:ext cx="389185" cy="171339"/>
          </a:xfrm>
          <a:prstGeom prst="roundRect">
            <a:avLst>
              <a:gd fmla="val 8339"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50" name="Google Shape;250;p20"/>
          <p:cNvSpPr/>
          <p:nvPr/>
        </p:nvSpPr>
        <p:spPr>
          <a:xfrm>
            <a:off x="4100420" y="4082635"/>
            <a:ext cx="427193"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&lt;692</a:t>
            </a:r>
            <a:endParaRPr b="0" i="0" sz="900" u="none" cap="none" strike="noStrike">
              <a:solidFill>
                <a:schemeClr val="dk1"/>
              </a:solidFill>
              <a:latin typeface="Calibri"/>
              <a:ea typeface="Calibri"/>
              <a:cs typeface="Calibri"/>
              <a:sym typeface="Calibri"/>
            </a:endParaRPr>
          </a:p>
        </p:txBody>
      </p:sp>
      <p:sp>
        <p:nvSpPr>
          <p:cNvPr id="251" name="Google Shape;251;p20"/>
          <p:cNvSpPr/>
          <p:nvPr/>
        </p:nvSpPr>
        <p:spPr>
          <a:xfrm>
            <a:off x="4556113" y="4082635"/>
            <a:ext cx="427285"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692</a:t>
            </a:r>
            <a:endParaRPr b="0" i="0" sz="900" u="none" cap="none" strike="noStrike">
              <a:solidFill>
                <a:schemeClr val="dk1"/>
              </a:solidFill>
              <a:latin typeface="Calibri"/>
              <a:ea typeface="Calibri"/>
              <a:cs typeface="Calibri"/>
              <a:sym typeface="Calibri"/>
            </a:endParaRPr>
          </a:p>
        </p:txBody>
      </p:sp>
      <p:sp>
        <p:nvSpPr>
          <p:cNvPr id="252" name="Google Shape;252;p20"/>
          <p:cNvSpPr/>
          <p:nvPr/>
        </p:nvSpPr>
        <p:spPr>
          <a:xfrm>
            <a:off x="5011899" y="4082635"/>
            <a:ext cx="427285"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714</a:t>
            </a:r>
            <a:endParaRPr b="0" i="0" sz="900" u="none" cap="none" strike="noStrike">
              <a:solidFill>
                <a:schemeClr val="dk1"/>
              </a:solidFill>
              <a:latin typeface="Calibri"/>
              <a:ea typeface="Calibri"/>
              <a:cs typeface="Calibri"/>
              <a:sym typeface="Calibri"/>
            </a:endParaRPr>
          </a:p>
        </p:txBody>
      </p:sp>
      <p:sp>
        <p:nvSpPr>
          <p:cNvPr id="253" name="Google Shape;253;p20"/>
          <p:cNvSpPr/>
          <p:nvPr/>
        </p:nvSpPr>
        <p:spPr>
          <a:xfrm>
            <a:off x="5467685" y="4082635"/>
            <a:ext cx="427286"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730</a:t>
            </a:r>
            <a:endParaRPr b="0" i="0" sz="900" u="none" cap="none" strike="noStrike">
              <a:solidFill>
                <a:schemeClr val="dk1"/>
              </a:solidFill>
              <a:latin typeface="Calibri"/>
              <a:ea typeface="Calibri"/>
              <a:cs typeface="Calibri"/>
              <a:sym typeface="Calibri"/>
            </a:endParaRPr>
          </a:p>
        </p:txBody>
      </p:sp>
      <p:sp>
        <p:nvSpPr>
          <p:cNvPr id="254" name="Google Shape;254;p20"/>
          <p:cNvSpPr/>
          <p:nvPr/>
        </p:nvSpPr>
        <p:spPr>
          <a:xfrm>
            <a:off x="5923471" y="4082635"/>
            <a:ext cx="427286"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745</a:t>
            </a:r>
            <a:endParaRPr b="0" i="0" sz="900" u="none" cap="none" strike="noStrike">
              <a:solidFill>
                <a:schemeClr val="dk1"/>
              </a:solidFill>
              <a:latin typeface="Calibri"/>
              <a:ea typeface="Calibri"/>
              <a:cs typeface="Calibri"/>
              <a:sym typeface="Calibri"/>
            </a:endParaRPr>
          </a:p>
        </p:txBody>
      </p:sp>
      <p:sp>
        <p:nvSpPr>
          <p:cNvPr id="255" name="Google Shape;255;p20"/>
          <p:cNvSpPr/>
          <p:nvPr/>
        </p:nvSpPr>
        <p:spPr>
          <a:xfrm>
            <a:off x="6379257" y="4082635"/>
            <a:ext cx="427286"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758</a:t>
            </a:r>
            <a:endParaRPr b="0" i="0" sz="900" u="none" cap="none" strike="noStrike">
              <a:solidFill>
                <a:schemeClr val="dk1"/>
              </a:solidFill>
              <a:latin typeface="Calibri"/>
              <a:ea typeface="Calibri"/>
              <a:cs typeface="Calibri"/>
              <a:sym typeface="Calibri"/>
            </a:endParaRPr>
          </a:p>
        </p:txBody>
      </p:sp>
      <p:sp>
        <p:nvSpPr>
          <p:cNvPr id="256" name="Google Shape;256;p20"/>
          <p:cNvSpPr/>
          <p:nvPr/>
        </p:nvSpPr>
        <p:spPr>
          <a:xfrm>
            <a:off x="6835044" y="4082635"/>
            <a:ext cx="427285"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770</a:t>
            </a:r>
            <a:endParaRPr b="0" i="0" sz="900" u="none" cap="none" strike="noStrike">
              <a:solidFill>
                <a:schemeClr val="dk1"/>
              </a:solidFill>
              <a:latin typeface="Calibri"/>
              <a:ea typeface="Calibri"/>
              <a:cs typeface="Calibri"/>
              <a:sym typeface="Calibri"/>
            </a:endParaRPr>
          </a:p>
        </p:txBody>
      </p:sp>
      <p:sp>
        <p:nvSpPr>
          <p:cNvPr id="257" name="Google Shape;257;p20"/>
          <p:cNvSpPr/>
          <p:nvPr/>
        </p:nvSpPr>
        <p:spPr>
          <a:xfrm>
            <a:off x="7290830" y="4082635"/>
            <a:ext cx="427285"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781</a:t>
            </a:r>
            <a:endParaRPr b="0" i="0" sz="900" u="none" cap="none" strike="noStrike">
              <a:solidFill>
                <a:schemeClr val="dk1"/>
              </a:solidFill>
              <a:latin typeface="Calibri"/>
              <a:ea typeface="Calibri"/>
              <a:cs typeface="Calibri"/>
              <a:sym typeface="Calibri"/>
            </a:endParaRPr>
          </a:p>
        </p:txBody>
      </p:sp>
      <p:sp>
        <p:nvSpPr>
          <p:cNvPr id="258" name="Google Shape;258;p20"/>
          <p:cNvSpPr/>
          <p:nvPr/>
        </p:nvSpPr>
        <p:spPr>
          <a:xfrm>
            <a:off x="7746616" y="4082635"/>
            <a:ext cx="427285"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791</a:t>
            </a:r>
            <a:endParaRPr b="0" i="0" sz="900" u="none" cap="none" strike="noStrike">
              <a:solidFill>
                <a:schemeClr val="dk1"/>
              </a:solidFill>
              <a:latin typeface="Calibri"/>
              <a:ea typeface="Calibri"/>
              <a:cs typeface="Calibri"/>
              <a:sym typeface="Calibri"/>
            </a:endParaRPr>
          </a:p>
        </p:txBody>
      </p:sp>
      <p:sp>
        <p:nvSpPr>
          <p:cNvPr id="259" name="Google Shape;259;p20"/>
          <p:cNvSpPr/>
          <p:nvPr/>
        </p:nvSpPr>
        <p:spPr>
          <a:xfrm>
            <a:off x="8202402" y="4082635"/>
            <a:ext cx="427285" cy="16787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802+</a:t>
            </a:r>
            <a:endParaRPr b="0" i="0" sz="900" u="none" cap="none" strike="noStrike">
              <a:solidFill>
                <a:schemeClr val="dk1"/>
              </a:solidFill>
              <a:latin typeface="Calibri"/>
              <a:ea typeface="Calibri"/>
              <a:cs typeface="Calibri"/>
              <a:sym typeface="Calibri"/>
            </a:endParaRPr>
          </a:p>
        </p:txBody>
      </p:sp>
      <p:sp>
        <p:nvSpPr>
          <p:cNvPr id="260" name="Google Shape;260;p20"/>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261" name="Google Shape;261;p20"/>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266" name="Shape 266"/>
        <p:cNvGrpSpPr/>
        <p:nvPr/>
      </p:nvGrpSpPr>
      <p:grpSpPr>
        <a:xfrm>
          <a:off x="0" y="0"/>
          <a:ext cx="0" cy="0"/>
          <a:chOff x="0" y="0"/>
          <a:chExt cx="0" cy="0"/>
        </a:xfrm>
      </p:grpSpPr>
      <p:sp>
        <p:nvSpPr>
          <p:cNvPr id="267" name="Google Shape;267;p21"/>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8" name="Google Shape;268;p21"/>
          <p:cNvSpPr/>
          <p:nvPr/>
        </p:nvSpPr>
        <p:spPr>
          <a:xfrm>
            <a:off x="533363" y="399976"/>
            <a:ext cx="246773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06 · EXPLORATORY ANALYSIS (CONT.)</a:t>
            </a:r>
            <a:endParaRPr b="0" i="0" sz="900" u="none" cap="none" strike="noStrike">
              <a:solidFill>
                <a:schemeClr val="dk1"/>
              </a:solidFill>
              <a:latin typeface="Calibri"/>
              <a:ea typeface="Calibri"/>
              <a:cs typeface="Calibri"/>
              <a:sym typeface="Calibri"/>
            </a:endParaRPr>
          </a:p>
        </p:txBody>
      </p:sp>
      <p:sp>
        <p:nvSpPr>
          <p:cNvPr id="269" name="Google Shape;269;p21"/>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07</a:t>
            </a:r>
            <a:endParaRPr b="0" i="0" sz="900" u="none" cap="none" strike="noStrike">
              <a:solidFill>
                <a:schemeClr val="dk1"/>
              </a:solidFill>
              <a:latin typeface="Calibri"/>
              <a:ea typeface="Calibri"/>
              <a:cs typeface="Calibri"/>
              <a:sym typeface="Calibri"/>
            </a:endParaRPr>
          </a:p>
        </p:txBody>
      </p:sp>
      <p:sp>
        <p:nvSpPr>
          <p:cNvPr id="270" name="Google Shape;270;p21"/>
          <p:cNvSpPr/>
          <p:nvPr/>
        </p:nvSpPr>
        <p:spPr>
          <a:xfrm>
            <a:off x="533363" y="849995"/>
            <a:ext cx="8319600" cy="362400"/>
          </a:xfrm>
          <a:prstGeom prst="rect">
            <a:avLst/>
          </a:prstGeom>
          <a:noFill/>
          <a:ln>
            <a:noFill/>
          </a:ln>
        </p:spPr>
        <p:txBody>
          <a:bodyPr anchorCtr="0" anchor="t" bIns="12700" lIns="12700" spcFirstLastPara="1" rIns="12700" wrap="square" tIns="12700">
            <a:noAutofit/>
          </a:bodyPr>
          <a:lstStyle/>
          <a:p>
            <a:pPr indent="0" lvl="0" marL="0" marR="0" rtl="0" algn="l">
              <a:lnSpc>
                <a:spcPct val="106000"/>
              </a:lnSpc>
              <a:spcBef>
                <a:spcPts val="0"/>
              </a:spcBef>
              <a:spcAft>
                <a:spcPts val="0"/>
              </a:spcAft>
              <a:buClr>
                <a:srgbClr val="1C2026"/>
              </a:buClr>
              <a:buSzPts val="2600"/>
              <a:buFont typeface="IBM Plex Sans"/>
              <a:buNone/>
            </a:pPr>
            <a:r>
              <a:rPr b="1" i="0" lang="en" sz="2600" u="none" cap="none" strike="noStrike">
                <a:solidFill>
                  <a:srgbClr val="1C2026"/>
                </a:solidFill>
                <a:latin typeface="IBM Plex Sans"/>
                <a:ea typeface="IBM Plex Sans"/>
                <a:cs typeface="IBM Plex Sans"/>
                <a:sym typeface="IBM Plex Sans"/>
              </a:rPr>
              <a:t>Leverage, </a:t>
            </a:r>
            <a:r>
              <a:rPr b="1" lang="en" sz="2600">
                <a:solidFill>
                  <a:srgbClr val="1C2026"/>
                </a:solidFill>
                <a:latin typeface="IBM Plex Sans"/>
                <a:ea typeface="IBM Plex Sans"/>
                <a:cs typeface="IBM Plex Sans"/>
                <a:sym typeface="IBM Plex Sans"/>
              </a:rPr>
              <a:t>C</a:t>
            </a:r>
            <a:r>
              <a:rPr b="1" i="0" lang="en" sz="2600" u="none" cap="none" strike="noStrike">
                <a:solidFill>
                  <a:srgbClr val="1C2026"/>
                </a:solidFill>
                <a:latin typeface="IBM Plex Sans"/>
                <a:ea typeface="IBM Plex Sans"/>
                <a:cs typeface="IBM Plex Sans"/>
                <a:sym typeface="IBM Plex Sans"/>
              </a:rPr>
              <a:t>hannel, and </a:t>
            </a:r>
            <a:r>
              <a:rPr b="1" lang="en" sz="2600">
                <a:solidFill>
                  <a:srgbClr val="1C2026"/>
                </a:solidFill>
                <a:latin typeface="IBM Plex Sans"/>
                <a:ea typeface="IBM Plex Sans"/>
                <a:cs typeface="IBM Plex Sans"/>
                <a:sym typeface="IBM Plex Sans"/>
              </a:rPr>
              <a:t>Recent History</a:t>
            </a:r>
            <a:endParaRPr b="0" i="0" sz="2600" u="none" cap="none" strike="noStrike">
              <a:solidFill>
                <a:schemeClr val="dk1"/>
              </a:solidFill>
              <a:latin typeface="Calibri"/>
              <a:ea typeface="Calibri"/>
              <a:cs typeface="Calibri"/>
              <a:sym typeface="Calibri"/>
            </a:endParaRPr>
          </a:p>
        </p:txBody>
      </p:sp>
      <p:sp>
        <p:nvSpPr>
          <p:cNvPr id="271" name="Google Shape;271;p21"/>
          <p:cNvSpPr/>
          <p:nvPr/>
        </p:nvSpPr>
        <p:spPr>
          <a:xfrm>
            <a:off x="533363" y="1383729"/>
            <a:ext cx="259659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LEVERAGE RISES RISK</a:t>
            </a:r>
            <a:endParaRPr b="0" i="0" sz="900" u="none" cap="none" strike="noStrike">
              <a:solidFill>
                <a:schemeClr val="dk1"/>
              </a:solidFill>
              <a:latin typeface="Calibri"/>
              <a:ea typeface="Calibri"/>
              <a:cs typeface="Calibri"/>
              <a:sym typeface="Calibri"/>
            </a:endParaRPr>
          </a:p>
        </p:txBody>
      </p:sp>
      <p:sp>
        <p:nvSpPr>
          <p:cNvPr id="272" name="Google Shape;272;p21"/>
          <p:cNvSpPr/>
          <p:nvPr/>
        </p:nvSpPr>
        <p:spPr>
          <a:xfrm>
            <a:off x="533363" y="1589670"/>
            <a:ext cx="2596592" cy="533344"/>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Higher debt-to-income climbs steadily with delinquency rate, the mirror image of the credit-score curve.</a:t>
            </a:r>
            <a:endParaRPr b="0" i="0" sz="900" u="none" cap="none" strike="noStrike">
              <a:solidFill>
                <a:schemeClr val="dk1"/>
              </a:solidFill>
              <a:latin typeface="Calibri"/>
              <a:ea typeface="Calibri"/>
              <a:cs typeface="Calibri"/>
              <a:sym typeface="Calibri"/>
            </a:endParaRPr>
          </a:p>
        </p:txBody>
      </p:sp>
      <p:sp>
        <p:nvSpPr>
          <p:cNvPr id="273" name="Google Shape;273;p21"/>
          <p:cNvSpPr/>
          <p:nvPr/>
        </p:nvSpPr>
        <p:spPr>
          <a:xfrm>
            <a:off x="533363" y="4420847"/>
            <a:ext cx="2520963"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4" name="Google Shape;274;p21"/>
          <p:cNvSpPr/>
          <p:nvPr/>
        </p:nvSpPr>
        <p:spPr>
          <a:xfrm>
            <a:off x="533363" y="4192116"/>
            <a:ext cx="217847" cy="228730"/>
          </a:xfrm>
          <a:prstGeom prst="roundRect">
            <a:avLst>
              <a:gd fmla="val 6559"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5" name="Google Shape;275;p21"/>
          <p:cNvSpPr/>
          <p:nvPr/>
        </p:nvSpPr>
        <p:spPr>
          <a:xfrm>
            <a:off x="789254" y="4061427"/>
            <a:ext cx="217940" cy="359420"/>
          </a:xfrm>
          <a:prstGeom prst="roundRect">
            <a:avLst>
              <a:gd fmla="val 6556"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6" name="Google Shape;276;p21"/>
          <p:cNvSpPr/>
          <p:nvPr/>
        </p:nvSpPr>
        <p:spPr>
          <a:xfrm>
            <a:off x="1045239" y="3919761"/>
            <a:ext cx="217847" cy="501086"/>
          </a:xfrm>
          <a:prstGeom prst="roundRect">
            <a:avLst>
              <a:gd fmla="val 6559"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7" name="Google Shape;277;p21"/>
          <p:cNvSpPr/>
          <p:nvPr/>
        </p:nvSpPr>
        <p:spPr>
          <a:xfrm>
            <a:off x="1301130" y="3832604"/>
            <a:ext cx="217847" cy="588243"/>
          </a:xfrm>
          <a:prstGeom prst="roundRect">
            <a:avLst>
              <a:gd fmla="val 6559"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8" name="Google Shape;278;p21"/>
          <p:cNvSpPr/>
          <p:nvPr/>
        </p:nvSpPr>
        <p:spPr>
          <a:xfrm>
            <a:off x="1557021" y="3789071"/>
            <a:ext cx="217847" cy="631775"/>
          </a:xfrm>
          <a:prstGeom prst="roundRect">
            <a:avLst>
              <a:gd fmla="val 6559"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9" name="Google Shape;279;p21"/>
          <p:cNvSpPr/>
          <p:nvPr/>
        </p:nvSpPr>
        <p:spPr>
          <a:xfrm>
            <a:off x="1812913" y="3690938"/>
            <a:ext cx="217847" cy="729909"/>
          </a:xfrm>
          <a:prstGeom prst="roundRect">
            <a:avLst>
              <a:gd fmla="val 6559"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0" name="Google Shape;280;p21"/>
          <p:cNvSpPr/>
          <p:nvPr/>
        </p:nvSpPr>
        <p:spPr>
          <a:xfrm>
            <a:off x="2068804" y="3462207"/>
            <a:ext cx="217847" cy="958639"/>
          </a:xfrm>
          <a:prstGeom prst="roundRect">
            <a:avLst>
              <a:gd fmla="val 6559"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1" name="Google Shape;281;p21"/>
          <p:cNvSpPr/>
          <p:nvPr/>
        </p:nvSpPr>
        <p:spPr>
          <a:xfrm>
            <a:off x="2324696" y="3407699"/>
            <a:ext cx="217847" cy="1013147"/>
          </a:xfrm>
          <a:prstGeom prst="roundRect">
            <a:avLst>
              <a:gd fmla="val 6559"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2" name="Google Shape;282;p21"/>
          <p:cNvSpPr/>
          <p:nvPr/>
        </p:nvSpPr>
        <p:spPr>
          <a:xfrm>
            <a:off x="2580587" y="3571131"/>
            <a:ext cx="217847" cy="849715"/>
          </a:xfrm>
          <a:prstGeom prst="roundRect">
            <a:avLst>
              <a:gd fmla="val 6559"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3" name="Google Shape;283;p21"/>
          <p:cNvSpPr/>
          <p:nvPr/>
        </p:nvSpPr>
        <p:spPr>
          <a:xfrm>
            <a:off x="2836478" y="3331425"/>
            <a:ext cx="217847" cy="1089422"/>
          </a:xfrm>
          <a:prstGeom prst="roundRect">
            <a:avLst>
              <a:gd fmla="val 6559"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4" name="Google Shape;284;p21"/>
          <p:cNvSpPr/>
          <p:nvPr/>
        </p:nvSpPr>
        <p:spPr>
          <a:xfrm>
            <a:off x="514313" y="4483913"/>
            <a:ext cx="436029" cy="31670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low DTI</a:t>
            </a:r>
            <a:endParaRPr b="0" i="0" sz="900" u="none" cap="none" strike="noStrike">
              <a:solidFill>
                <a:schemeClr val="dk1"/>
              </a:solidFill>
              <a:latin typeface="Calibri"/>
              <a:ea typeface="Calibri"/>
              <a:cs typeface="Calibri"/>
              <a:sym typeface="Calibri"/>
            </a:endParaRPr>
          </a:p>
        </p:txBody>
      </p:sp>
      <p:sp>
        <p:nvSpPr>
          <p:cNvPr id="285" name="Google Shape;285;p21"/>
          <p:cNvSpPr/>
          <p:nvPr/>
        </p:nvSpPr>
        <p:spPr>
          <a:xfrm>
            <a:off x="2637346" y="4483913"/>
            <a:ext cx="436029" cy="31670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high DTI</a:t>
            </a:r>
            <a:endParaRPr b="0" i="0" sz="900" u="none" cap="none" strike="noStrike">
              <a:solidFill>
                <a:schemeClr val="dk1"/>
              </a:solidFill>
              <a:latin typeface="Calibri"/>
              <a:ea typeface="Calibri"/>
              <a:cs typeface="Calibri"/>
              <a:sym typeface="Calibri"/>
            </a:endParaRPr>
          </a:p>
        </p:txBody>
      </p:sp>
      <p:sp>
        <p:nvSpPr>
          <p:cNvPr id="286" name="Google Shape;286;p21"/>
          <p:cNvSpPr/>
          <p:nvPr/>
        </p:nvSpPr>
        <p:spPr>
          <a:xfrm>
            <a:off x="3311426" y="1383729"/>
            <a:ext cx="259668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CHANNEL MATTERS</a:t>
            </a:r>
            <a:endParaRPr b="0" i="0" sz="900" u="none" cap="none" strike="noStrike">
              <a:solidFill>
                <a:schemeClr val="dk1"/>
              </a:solidFill>
              <a:latin typeface="Calibri"/>
              <a:ea typeface="Calibri"/>
              <a:cs typeface="Calibri"/>
              <a:sym typeface="Calibri"/>
            </a:endParaRPr>
          </a:p>
        </p:txBody>
      </p:sp>
      <p:sp>
        <p:nvSpPr>
          <p:cNvPr id="287" name="Google Shape;287;p21"/>
          <p:cNvSpPr/>
          <p:nvPr/>
        </p:nvSpPr>
        <p:spPr>
          <a:xfrm>
            <a:off x="3311426" y="1589671"/>
            <a:ext cx="2596687" cy="361913"/>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Retail-originated loans run noticeably safer than broker and correspondent channels.</a:t>
            </a:r>
            <a:endParaRPr b="0" i="0" sz="900" u="none" cap="none" strike="noStrike">
              <a:solidFill>
                <a:schemeClr val="dk1"/>
              </a:solidFill>
              <a:latin typeface="Calibri"/>
              <a:ea typeface="Calibri"/>
              <a:cs typeface="Calibri"/>
              <a:sym typeface="Calibri"/>
            </a:endParaRPr>
          </a:p>
        </p:txBody>
      </p:sp>
      <p:sp>
        <p:nvSpPr>
          <p:cNvPr id="288" name="Google Shape;288;p21"/>
          <p:cNvSpPr/>
          <p:nvPr/>
        </p:nvSpPr>
        <p:spPr>
          <a:xfrm>
            <a:off x="3311426" y="3749725"/>
            <a:ext cx="38803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Broker</a:t>
            </a:r>
            <a:endParaRPr b="0" i="0" sz="900" u="none" cap="none" strike="noStrike">
              <a:solidFill>
                <a:schemeClr val="dk1"/>
              </a:solidFill>
              <a:latin typeface="Calibri"/>
              <a:ea typeface="Calibri"/>
              <a:cs typeface="Calibri"/>
              <a:sym typeface="Calibri"/>
            </a:endParaRPr>
          </a:p>
        </p:txBody>
      </p:sp>
      <p:sp>
        <p:nvSpPr>
          <p:cNvPr id="289" name="Google Shape;289;p21"/>
          <p:cNvSpPr/>
          <p:nvPr/>
        </p:nvSpPr>
        <p:spPr>
          <a:xfrm>
            <a:off x="5489619" y="3749725"/>
            <a:ext cx="38096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1.61%</a:t>
            </a:r>
            <a:endParaRPr b="0" i="0" sz="900" u="none" cap="none" strike="noStrike">
              <a:solidFill>
                <a:schemeClr val="dk1"/>
              </a:solidFill>
              <a:latin typeface="Calibri"/>
              <a:ea typeface="Calibri"/>
              <a:cs typeface="Calibri"/>
              <a:sym typeface="Calibri"/>
            </a:endParaRPr>
          </a:p>
        </p:txBody>
      </p:sp>
      <p:sp>
        <p:nvSpPr>
          <p:cNvPr id="290" name="Google Shape;290;p21"/>
          <p:cNvSpPr/>
          <p:nvPr/>
        </p:nvSpPr>
        <p:spPr>
          <a:xfrm>
            <a:off x="3311426" y="3931853"/>
            <a:ext cx="2521056"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1" name="Google Shape;291;p21"/>
          <p:cNvSpPr/>
          <p:nvPr/>
        </p:nvSpPr>
        <p:spPr>
          <a:xfrm>
            <a:off x="3311426" y="3931853"/>
            <a:ext cx="2521056" cy="85669"/>
          </a:xfrm>
          <a:prstGeom prst="roundRect">
            <a:avLst>
              <a:gd fmla="val 11118"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2" name="Google Shape;292;p21"/>
          <p:cNvSpPr/>
          <p:nvPr/>
        </p:nvSpPr>
        <p:spPr>
          <a:xfrm>
            <a:off x="3311426" y="4131748"/>
            <a:ext cx="81907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Correspondent</a:t>
            </a:r>
            <a:endParaRPr b="0" i="0" sz="900" u="none" cap="none" strike="noStrike">
              <a:solidFill>
                <a:schemeClr val="dk1"/>
              </a:solidFill>
              <a:latin typeface="Calibri"/>
              <a:ea typeface="Calibri"/>
              <a:cs typeface="Calibri"/>
              <a:sym typeface="Calibri"/>
            </a:endParaRPr>
          </a:p>
        </p:txBody>
      </p:sp>
      <p:sp>
        <p:nvSpPr>
          <p:cNvPr id="293" name="Google Shape;293;p21"/>
          <p:cNvSpPr/>
          <p:nvPr/>
        </p:nvSpPr>
        <p:spPr>
          <a:xfrm>
            <a:off x="5489619" y="4131748"/>
            <a:ext cx="38096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1.58%</a:t>
            </a:r>
            <a:endParaRPr b="0" i="0" sz="900" u="none" cap="none" strike="noStrike">
              <a:solidFill>
                <a:schemeClr val="dk1"/>
              </a:solidFill>
              <a:latin typeface="Calibri"/>
              <a:ea typeface="Calibri"/>
              <a:cs typeface="Calibri"/>
              <a:sym typeface="Calibri"/>
            </a:endParaRPr>
          </a:p>
        </p:txBody>
      </p:sp>
      <p:sp>
        <p:nvSpPr>
          <p:cNvPr id="294" name="Google Shape;294;p21"/>
          <p:cNvSpPr/>
          <p:nvPr/>
        </p:nvSpPr>
        <p:spPr>
          <a:xfrm>
            <a:off x="3311426" y="4313876"/>
            <a:ext cx="2521056"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5" name="Google Shape;295;p21"/>
          <p:cNvSpPr/>
          <p:nvPr/>
        </p:nvSpPr>
        <p:spPr>
          <a:xfrm>
            <a:off x="3311426" y="4313876"/>
            <a:ext cx="2470547" cy="85669"/>
          </a:xfrm>
          <a:prstGeom prst="roundRect">
            <a:avLst>
              <a:gd fmla="val 11118"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6" name="Google Shape;296;p21"/>
          <p:cNvSpPr/>
          <p:nvPr/>
        </p:nvSpPr>
        <p:spPr>
          <a:xfrm>
            <a:off x="3311426" y="4513771"/>
            <a:ext cx="34003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Retail</a:t>
            </a:r>
            <a:endParaRPr b="0" i="0" sz="900" u="none" cap="none" strike="noStrike">
              <a:solidFill>
                <a:schemeClr val="dk1"/>
              </a:solidFill>
              <a:latin typeface="Calibri"/>
              <a:ea typeface="Calibri"/>
              <a:cs typeface="Calibri"/>
              <a:sym typeface="Calibri"/>
            </a:endParaRPr>
          </a:p>
        </p:txBody>
      </p:sp>
      <p:sp>
        <p:nvSpPr>
          <p:cNvPr id="297" name="Google Shape;297;p21"/>
          <p:cNvSpPr/>
          <p:nvPr/>
        </p:nvSpPr>
        <p:spPr>
          <a:xfrm>
            <a:off x="5489619" y="4513771"/>
            <a:ext cx="38096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1.10%</a:t>
            </a:r>
            <a:endParaRPr b="0" i="0" sz="900" u="none" cap="none" strike="noStrike">
              <a:solidFill>
                <a:schemeClr val="dk1"/>
              </a:solidFill>
              <a:latin typeface="Calibri"/>
              <a:ea typeface="Calibri"/>
              <a:cs typeface="Calibri"/>
              <a:sym typeface="Calibri"/>
            </a:endParaRPr>
          </a:p>
        </p:txBody>
      </p:sp>
      <p:sp>
        <p:nvSpPr>
          <p:cNvPr id="298" name="Google Shape;298;p21"/>
          <p:cNvSpPr/>
          <p:nvPr/>
        </p:nvSpPr>
        <p:spPr>
          <a:xfrm>
            <a:off x="3311426" y="4695900"/>
            <a:ext cx="2521056"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9" name="Google Shape;299;p21"/>
          <p:cNvSpPr/>
          <p:nvPr/>
        </p:nvSpPr>
        <p:spPr>
          <a:xfrm>
            <a:off x="3311426" y="4695900"/>
            <a:ext cx="1714314"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0" name="Google Shape;300;p21"/>
          <p:cNvSpPr/>
          <p:nvPr/>
        </p:nvSpPr>
        <p:spPr>
          <a:xfrm>
            <a:off x="6089582" y="1383729"/>
            <a:ext cx="259659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RECENT LATENESS SHOUTS</a:t>
            </a:r>
            <a:endParaRPr b="0" i="0" sz="900" u="none" cap="none" strike="noStrike">
              <a:solidFill>
                <a:schemeClr val="dk1"/>
              </a:solidFill>
              <a:latin typeface="Calibri"/>
              <a:ea typeface="Calibri"/>
              <a:cs typeface="Calibri"/>
              <a:sym typeface="Calibri"/>
            </a:endParaRPr>
          </a:p>
        </p:txBody>
      </p:sp>
      <p:sp>
        <p:nvSpPr>
          <p:cNvPr id="301" name="Google Shape;301;p21"/>
          <p:cNvSpPr/>
          <p:nvPr/>
        </p:nvSpPr>
        <p:spPr>
          <a:xfrm>
            <a:off x="6089582" y="1589671"/>
            <a:ext cx="2596592" cy="361913"/>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A loan already past due this month is the loudest near-term signal of where it heads next.</a:t>
            </a:r>
            <a:endParaRPr b="0" i="0" sz="900" u="none" cap="none" strike="noStrike">
              <a:solidFill>
                <a:schemeClr val="dk1"/>
              </a:solidFill>
              <a:latin typeface="Calibri"/>
              <a:ea typeface="Calibri"/>
              <a:cs typeface="Calibri"/>
              <a:sym typeface="Calibri"/>
            </a:endParaRPr>
          </a:p>
        </p:txBody>
      </p:sp>
      <p:sp>
        <p:nvSpPr>
          <p:cNvPr id="302" name="Google Shape;302;p21"/>
          <p:cNvSpPr/>
          <p:nvPr/>
        </p:nvSpPr>
        <p:spPr>
          <a:xfrm>
            <a:off x="6089582" y="3749725"/>
            <a:ext cx="43314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Current</a:t>
            </a:r>
            <a:endParaRPr b="0" i="0" sz="900" u="none" cap="none" strike="noStrike">
              <a:solidFill>
                <a:schemeClr val="dk1"/>
              </a:solidFill>
              <a:latin typeface="Calibri"/>
              <a:ea typeface="Calibri"/>
              <a:cs typeface="Calibri"/>
              <a:sym typeface="Calibri"/>
            </a:endParaRPr>
          </a:p>
        </p:txBody>
      </p:sp>
      <p:sp>
        <p:nvSpPr>
          <p:cNvPr id="303" name="Google Shape;303;p21"/>
          <p:cNvSpPr/>
          <p:nvPr/>
        </p:nvSpPr>
        <p:spPr>
          <a:xfrm>
            <a:off x="8336329" y="3749725"/>
            <a:ext cx="31231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0.8%</a:t>
            </a:r>
            <a:endParaRPr b="0" i="0" sz="900" u="none" cap="none" strike="noStrike">
              <a:solidFill>
                <a:schemeClr val="dk1"/>
              </a:solidFill>
              <a:latin typeface="Calibri"/>
              <a:ea typeface="Calibri"/>
              <a:cs typeface="Calibri"/>
              <a:sym typeface="Calibri"/>
            </a:endParaRPr>
          </a:p>
        </p:txBody>
      </p:sp>
      <p:sp>
        <p:nvSpPr>
          <p:cNvPr id="304" name="Google Shape;304;p21"/>
          <p:cNvSpPr/>
          <p:nvPr/>
        </p:nvSpPr>
        <p:spPr>
          <a:xfrm>
            <a:off x="6089582" y="3931853"/>
            <a:ext cx="2520963"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5" name="Google Shape;305;p21"/>
          <p:cNvSpPr/>
          <p:nvPr/>
        </p:nvSpPr>
        <p:spPr>
          <a:xfrm>
            <a:off x="6089582" y="3931853"/>
            <a:ext cx="30231" cy="85669"/>
          </a:xfrm>
          <a:prstGeom prst="roundRect">
            <a:avLst>
              <a:gd fmla="val 3150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6" name="Google Shape;306;p21"/>
          <p:cNvSpPr/>
          <p:nvPr/>
        </p:nvSpPr>
        <p:spPr>
          <a:xfrm>
            <a:off x="6089582" y="4131748"/>
            <a:ext cx="67648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30 days late</a:t>
            </a:r>
            <a:endParaRPr b="0" i="0" sz="900" u="none" cap="none" strike="noStrike">
              <a:solidFill>
                <a:schemeClr val="dk1"/>
              </a:solidFill>
              <a:latin typeface="Calibri"/>
              <a:ea typeface="Calibri"/>
              <a:cs typeface="Calibri"/>
              <a:sym typeface="Calibri"/>
            </a:endParaRPr>
          </a:p>
        </p:txBody>
      </p:sp>
      <p:sp>
        <p:nvSpPr>
          <p:cNvPr id="307" name="Google Shape;307;p21"/>
          <p:cNvSpPr/>
          <p:nvPr/>
        </p:nvSpPr>
        <p:spPr>
          <a:xfrm>
            <a:off x="8367396" y="4131748"/>
            <a:ext cx="28124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28%</a:t>
            </a:r>
            <a:endParaRPr b="0" i="0" sz="900" u="none" cap="none" strike="noStrike">
              <a:solidFill>
                <a:schemeClr val="dk1"/>
              </a:solidFill>
              <a:latin typeface="Calibri"/>
              <a:ea typeface="Calibri"/>
              <a:cs typeface="Calibri"/>
              <a:sym typeface="Calibri"/>
            </a:endParaRPr>
          </a:p>
        </p:txBody>
      </p:sp>
      <p:sp>
        <p:nvSpPr>
          <p:cNvPr id="308" name="Google Shape;308;p21"/>
          <p:cNvSpPr/>
          <p:nvPr/>
        </p:nvSpPr>
        <p:spPr>
          <a:xfrm>
            <a:off x="6089582" y="4313876"/>
            <a:ext cx="2520963"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09" name="Google Shape;309;p21"/>
          <p:cNvSpPr/>
          <p:nvPr/>
        </p:nvSpPr>
        <p:spPr>
          <a:xfrm>
            <a:off x="6089582" y="4313876"/>
            <a:ext cx="1033519" cy="85669"/>
          </a:xfrm>
          <a:prstGeom prst="roundRect">
            <a:avLst>
              <a:gd fmla="val 11118"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0" name="Google Shape;310;p21"/>
          <p:cNvSpPr/>
          <p:nvPr/>
        </p:nvSpPr>
        <p:spPr>
          <a:xfrm>
            <a:off x="6089582" y="4513771"/>
            <a:ext cx="67648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60 days late</a:t>
            </a:r>
            <a:endParaRPr b="0" i="0" sz="900" u="none" cap="none" strike="noStrike">
              <a:solidFill>
                <a:schemeClr val="dk1"/>
              </a:solidFill>
              <a:latin typeface="Calibri"/>
              <a:ea typeface="Calibri"/>
              <a:cs typeface="Calibri"/>
              <a:sym typeface="Calibri"/>
            </a:endParaRPr>
          </a:p>
        </p:txBody>
      </p:sp>
      <p:sp>
        <p:nvSpPr>
          <p:cNvPr id="311" name="Google Shape;311;p21"/>
          <p:cNvSpPr/>
          <p:nvPr/>
        </p:nvSpPr>
        <p:spPr>
          <a:xfrm>
            <a:off x="8367396" y="4513771"/>
            <a:ext cx="28124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68%</a:t>
            </a:r>
            <a:endParaRPr b="0" i="0" sz="900" u="none" cap="none" strike="noStrike">
              <a:solidFill>
                <a:schemeClr val="dk1"/>
              </a:solidFill>
              <a:latin typeface="Calibri"/>
              <a:ea typeface="Calibri"/>
              <a:cs typeface="Calibri"/>
              <a:sym typeface="Calibri"/>
            </a:endParaRPr>
          </a:p>
        </p:txBody>
      </p:sp>
      <p:sp>
        <p:nvSpPr>
          <p:cNvPr id="312" name="Google Shape;312;p21"/>
          <p:cNvSpPr/>
          <p:nvPr/>
        </p:nvSpPr>
        <p:spPr>
          <a:xfrm>
            <a:off x="6089582" y="4695900"/>
            <a:ext cx="2520963"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3" name="Google Shape;313;p21"/>
          <p:cNvSpPr/>
          <p:nvPr/>
        </p:nvSpPr>
        <p:spPr>
          <a:xfrm>
            <a:off x="6089582" y="4695900"/>
            <a:ext cx="2520963" cy="85669"/>
          </a:xfrm>
          <a:prstGeom prst="roundRect">
            <a:avLst>
              <a:gd fmla="val 11118"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4" name="Google Shape;314;p21"/>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315" name="Google Shape;315;p21"/>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320" name="Shape 320"/>
        <p:cNvGrpSpPr/>
        <p:nvPr/>
      </p:nvGrpSpPr>
      <p:grpSpPr>
        <a:xfrm>
          <a:off x="0" y="0"/>
          <a:ext cx="0" cy="0"/>
          <a:chOff x="0" y="0"/>
          <a:chExt cx="0" cy="0"/>
        </a:xfrm>
      </p:grpSpPr>
      <p:sp>
        <p:nvSpPr>
          <p:cNvPr id="321" name="Google Shape;321;p22"/>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2" name="Google Shape;322;p22"/>
          <p:cNvSpPr/>
          <p:nvPr/>
        </p:nvSpPr>
        <p:spPr>
          <a:xfrm>
            <a:off x="533363" y="399976"/>
            <a:ext cx="1867779"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07 · FEATURE ENGINEERING</a:t>
            </a:r>
            <a:endParaRPr b="0" i="0" sz="900" u="none" cap="none" strike="noStrike">
              <a:solidFill>
                <a:schemeClr val="dk1"/>
              </a:solidFill>
              <a:latin typeface="Calibri"/>
              <a:ea typeface="Calibri"/>
              <a:cs typeface="Calibri"/>
              <a:sym typeface="Calibri"/>
            </a:endParaRPr>
          </a:p>
        </p:txBody>
      </p:sp>
      <p:sp>
        <p:nvSpPr>
          <p:cNvPr id="323" name="Google Shape;323;p22"/>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08</a:t>
            </a:r>
            <a:endParaRPr b="0" i="0" sz="900" u="none" cap="none" strike="noStrike">
              <a:solidFill>
                <a:schemeClr val="dk1"/>
              </a:solidFill>
              <a:latin typeface="Calibri"/>
              <a:ea typeface="Calibri"/>
              <a:cs typeface="Calibri"/>
              <a:sym typeface="Calibri"/>
            </a:endParaRPr>
          </a:p>
        </p:txBody>
      </p:sp>
      <p:sp>
        <p:nvSpPr>
          <p:cNvPr id="324" name="Google Shape;324;p22"/>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rtl="0" algn="l">
              <a:lnSpc>
                <a:spcPct val="106000"/>
              </a:lnSpc>
              <a:spcBef>
                <a:spcPts val="0"/>
              </a:spcBef>
              <a:spcAft>
                <a:spcPts val="0"/>
              </a:spcAft>
              <a:buClr>
                <a:schemeClr val="dk1"/>
              </a:buClr>
              <a:buSzPts val="1100"/>
              <a:buFont typeface="Arial"/>
              <a:buNone/>
            </a:pPr>
            <a:r>
              <a:rPr b="1" lang="en" sz="2600">
                <a:solidFill>
                  <a:srgbClr val="1C2026"/>
                </a:solidFill>
                <a:latin typeface="IBM Plex Sans"/>
                <a:ea typeface="IBM Plex Sans"/>
                <a:cs typeface="IBM Plex Sans"/>
                <a:sym typeface="IBM Plex Sans"/>
              </a:rPr>
              <a:t>Feature Construction &amp; Preprocessing</a:t>
            </a:r>
            <a:endParaRPr b="1" sz="2600">
              <a:solidFill>
                <a:srgbClr val="1C2026"/>
              </a:solidFill>
              <a:latin typeface="IBM Plex Sans"/>
              <a:ea typeface="IBM Plex Sans"/>
              <a:cs typeface="IBM Plex Sans"/>
              <a:sym typeface="IBM Plex Sans"/>
            </a:endParaRPr>
          </a:p>
          <a:p>
            <a:pPr indent="0" lvl="0" marL="0" marR="0" rtl="0" algn="l">
              <a:lnSpc>
                <a:spcPct val="106000"/>
              </a:lnSpc>
              <a:spcBef>
                <a:spcPts val="0"/>
              </a:spcBef>
              <a:spcAft>
                <a:spcPts val="0"/>
              </a:spcAft>
              <a:buClr>
                <a:srgbClr val="1C2026"/>
              </a:buClr>
              <a:buSzPts val="2600"/>
              <a:buFont typeface="IBM Plex Sans"/>
              <a:buNone/>
            </a:pPr>
            <a:r>
              <a:t/>
            </a:r>
            <a:endParaRPr b="1" sz="2600">
              <a:solidFill>
                <a:srgbClr val="1C2026"/>
              </a:solidFill>
              <a:latin typeface="IBM Plex Sans"/>
              <a:ea typeface="IBM Plex Sans"/>
              <a:cs typeface="IBM Plex Sans"/>
              <a:sym typeface="IBM Plex Sans"/>
            </a:endParaRPr>
          </a:p>
        </p:txBody>
      </p:sp>
      <p:sp>
        <p:nvSpPr>
          <p:cNvPr id="325" name="Google Shape;325;p22"/>
          <p:cNvSpPr/>
          <p:nvPr/>
        </p:nvSpPr>
        <p:spPr>
          <a:xfrm>
            <a:off x="533363" y="1412286"/>
            <a:ext cx="19327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ORIGINATION TERMS</a:t>
            </a:r>
            <a:endParaRPr b="0" i="0" sz="900" u="none" cap="none" strike="noStrike">
              <a:solidFill>
                <a:schemeClr val="dk1"/>
              </a:solidFill>
              <a:latin typeface="Calibri"/>
              <a:ea typeface="Calibri"/>
              <a:cs typeface="Calibri"/>
              <a:sym typeface="Calibri"/>
            </a:endParaRPr>
          </a:p>
        </p:txBody>
      </p:sp>
      <p:sp>
        <p:nvSpPr>
          <p:cNvPr id="326" name="Google Shape;326;p22"/>
          <p:cNvSpPr/>
          <p:nvPr/>
        </p:nvSpPr>
        <p:spPr>
          <a:xfrm>
            <a:off x="533363" y="1618227"/>
            <a:ext cx="1932737" cy="727472"/>
          </a:xfrm>
          <a:prstGeom prst="rect">
            <a:avLst/>
          </a:prstGeom>
          <a:noFill/>
          <a:ln>
            <a:noFill/>
          </a:ln>
        </p:spPr>
        <p:txBody>
          <a:bodyPr anchorCtr="0" anchor="t" bIns="12700" lIns="12700" spcFirstLastPara="1" rIns="12700" wrap="square" tIns="12700">
            <a:noAutofit/>
          </a:bodyPr>
          <a:lstStyle/>
          <a:p>
            <a:pPr indent="0" lvl="0" marL="0" marR="0" rtl="0" algn="l">
              <a:lnSpc>
                <a:spcPct val="155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Borrower &amp; co-borrower credit scores, DTI, original LTV / CLTV, interest rate, loan purpose, occupancy.</a:t>
            </a:r>
            <a:endParaRPr b="0" i="0" sz="900" u="none" cap="none" strike="noStrike">
              <a:solidFill>
                <a:schemeClr val="dk1"/>
              </a:solidFill>
              <a:latin typeface="Calibri"/>
              <a:ea typeface="Calibri"/>
              <a:cs typeface="Calibri"/>
              <a:sym typeface="Calibri"/>
            </a:endParaRPr>
          </a:p>
        </p:txBody>
      </p:sp>
      <p:sp>
        <p:nvSpPr>
          <p:cNvPr id="327" name="Google Shape;327;p22"/>
          <p:cNvSpPr/>
          <p:nvPr/>
        </p:nvSpPr>
        <p:spPr>
          <a:xfrm>
            <a:off x="2600307" y="1412286"/>
            <a:ext cx="19327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BALANCE &amp; PAYDOWN</a:t>
            </a:r>
            <a:endParaRPr b="0" i="0" sz="900" u="none" cap="none" strike="noStrike">
              <a:solidFill>
                <a:schemeClr val="dk1"/>
              </a:solidFill>
              <a:latin typeface="Calibri"/>
              <a:ea typeface="Calibri"/>
              <a:cs typeface="Calibri"/>
              <a:sym typeface="Calibri"/>
            </a:endParaRPr>
          </a:p>
        </p:txBody>
      </p:sp>
      <p:sp>
        <p:nvSpPr>
          <p:cNvPr id="328" name="Google Shape;328;p22"/>
          <p:cNvSpPr/>
          <p:nvPr/>
        </p:nvSpPr>
        <p:spPr>
          <a:xfrm>
            <a:off x="2600307" y="1618227"/>
            <a:ext cx="1932737" cy="550367"/>
          </a:xfrm>
          <a:prstGeom prst="rect">
            <a:avLst/>
          </a:prstGeom>
          <a:noFill/>
          <a:ln>
            <a:noFill/>
          </a:ln>
        </p:spPr>
        <p:txBody>
          <a:bodyPr anchorCtr="0" anchor="t" bIns="12700" lIns="12700" spcFirstLastPara="1" rIns="12700" wrap="square" tIns="12700">
            <a:noAutofit/>
          </a:bodyPr>
          <a:lstStyle/>
          <a:p>
            <a:pPr indent="0" lvl="0" marL="0" marR="0" rtl="0" algn="l">
              <a:lnSpc>
                <a:spcPct val="155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Original and current UPB, UPB ratio, paydown %, total principal paid to date.</a:t>
            </a:r>
            <a:endParaRPr b="0" i="0" sz="900" u="none" cap="none" strike="noStrike">
              <a:solidFill>
                <a:schemeClr val="dk1"/>
              </a:solidFill>
              <a:latin typeface="Calibri"/>
              <a:ea typeface="Calibri"/>
              <a:cs typeface="Calibri"/>
              <a:sym typeface="Calibri"/>
            </a:endParaRPr>
          </a:p>
        </p:txBody>
      </p:sp>
      <p:sp>
        <p:nvSpPr>
          <p:cNvPr id="329" name="Google Shape;329;p22"/>
          <p:cNvSpPr/>
          <p:nvPr/>
        </p:nvSpPr>
        <p:spPr>
          <a:xfrm>
            <a:off x="4667250" y="1412286"/>
            <a:ext cx="19327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DELINQUENCY HISTORY</a:t>
            </a:r>
            <a:endParaRPr b="0" i="0" sz="900" u="none" cap="none" strike="noStrike">
              <a:solidFill>
                <a:schemeClr val="dk1"/>
              </a:solidFill>
              <a:latin typeface="Calibri"/>
              <a:ea typeface="Calibri"/>
              <a:cs typeface="Calibri"/>
              <a:sym typeface="Calibri"/>
            </a:endParaRPr>
          </a:p>
        </p:txBody>
      </p:sp>
      <p:sp>
        <p:nvSpPr>
          <p:cNvPr id="330" name="Google Shape;330;p22"/>
          <p:cNvSpPr/>
          <p:nvPr/>
        </p:nvSpPr>
        <p:spPr>
          <a:xfrm>
            <a:off x="4667250" y="1618227"/>
            <a:ext cx="1932737" cy="550367"/>
          </a:xfrm>
          <a:prstGeom prst="rect">
            <a:avLst/>
          </a:prstGeom>
          <a:noFill/>
          <a:ln>
            <a:noFill/>
          </a:ln>
        </p:spPr>
        <p:txBody>
          <a:bodyPr anchorCtr="0" anchor="t" bIns="12700" lIns="12700" spcFirstLastPara="1" rIns="12700" wrap="square" tIns="12700">
            <a:noAutofit/>
          </a:bodyPr>
          <a:lstStyle/>
          <a:p>
            <a:pPr indent="0" lvl="0" marL="0" marR="0" rtl="0" algn="l">
              <a:lnSpc>
                <a:spcPct val="155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Rolling 30+ and 60+ day past-due counts over 12 months, prior status, status-change flags.</a:t>
            </a:r>
            <a:endParaRPr b="0" i="0" sz="900" u="none" cap="none" strike="noStrike">
              <a:solidFill>
                <a:schemeClr val="dk1"/>
              </a:solidFill>
              <a:latin typeface="Calibri"/>
              <a:ea typeface="Calibri"/>
              <a:cs typeface="Calibri"/>
              <a:sym typeface="Calibri"/>
            </a:endParaRPr>
          </a:p>
        </p:txBody>
      </p:sp>
      <p:sp>
        <p:nvSpPr>
          <p:cNvPr id="331" name="Google Shape;331;p22"/>
          <p:cNvSpPr/>
          <p:nvPr/>
        </p:nvSpPr>
        <p:spPr>
          <a:xfrm>
            <a:off x="6734194" y="1412286"/>
            <a:ext cx="19327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TIME CONTEXT</a:t>
            </a:r>
            <a:endParaRPr b="0" i="0" sz="900" u="none" cap="none" strike="noStrike">
              <a:solidFill>
                <a:schemeClr val="dk1"/>
              </a:solidFill>
              <a:latin typeface="Calibri"/>
              <a:ea typeface="Calibri"/>
              <a:cs typeface="Calibri"/>
              <a:sym typeface="Calibri"/>
            </a:endParaRPr>
          </a:p>
        </p:txBody>
      </p:sp>
      <p:sp>
        <p:nvSpPr>
          <p:cNvPr id="332" name="Google Shape;332;p22"/>
          <p:cNvSpPr/>
          <p:nvPr/>
        </p:nvSpPr>
        <p:spPr>
          <a:xfrm>
            <a:off x="6734194" y="1618227"/>
            <a:ext cx="1932737" cy="550367"/>
          </a:xfrm>
          <a:prstGeom prst="rect">
            <a:avLst/>
          </a:prstGeom>
          <a:noFill/>
          <a:ln>
            <a:noFill/>
          </a:ln>
        </p:spPr>
        <p:txBody>
          <a:bodyPr anchorCtr="0" anchor="t" bIns="12700" lIns="12700" spcFirstLastPara="1" rIns="12700" wrap="square" tIns="12700">
            <a:noAutofit/>
          </a:bodyPr>
          <a:lstStyle/>
          <a:p>
            <a:pPr indent="0" lvl="0" marL="0" marR="0" rtl="0" algn="l">
              <a:lnSpc>
                <a:spcPct val="155000"/>
              </a:lnSpc>
              <a:spcBef>
                <a:spcPts val="0"/>
              </a:spcBef>
              <a:spcAft>
                <a:spcPts val="0"/>
              </a:spcAft>
              <a:buClr>
                <a:srgbClr val="454C55"/>
              </a:buClr>
              <a:buSzPts val="900"/>
              <a:buFont typeface="IBM Plex Sans"/>
              <a:buNone/>
            </a:pPr>
            <a:r>
              <a:rPr b="0" i="0" lang="en" sz="900" u="none" cap="none" strike="noStrike">
                <a:solidFill>
                  <a:srgbClr val="454C55"/>
                </a:solidFill>
                <a:latin typeface="IBM Plex Sans"/>
                <a:ea typeface="IBM Plex Sans"/>
                <a:cs typeface="IBM Plex Sans"/>
                <a:sym typeface="IBM Plex Sans"/>
              </a:rPr>
              <a:t>Loan age, months remaining to maturity, reporting month, quarter and year.</a:t>
            </a:r>
            <a:endParaRPr b="0" i="0" sz="900" u="none" cap="none" strike="noStrike">
              <a:solidFill>
                <a:schemeClr val="dk1"/>
              </a:solidFill>
              <a:latin typeface="Calibri"/>
              <a:ea typeface="Calibri"/>
              <a:cs typeface="Calibri"/>
              <a:sym typeface="Calibri"/>
            </a:endParaRPr>
          </a:p>
        </p:txBody>
      </p:sp>
      <p:sp>
        <p:nvSpPr>
          <p:cNvPr id="333" name="Google Shape;333;p22"/>
          <p:cNvSpPr/>
          <p:nvPr/>
        </p:nvSpPr>
        <p:spPr>
          <a:xfrm>
            <a:off x="533363" y="3887577"/>
            <a:ext cx="8077275"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4" name="Google Shape;334;p22"/>
          <p:cNvSpPr/>
          <p:nvPr/>
        </p:nvSpPr>
        <p:spPr>
          <a:xfrm>
            <a:off x="533363" y="4055381"/>
            <a:ext cx="1085850" cy="380982"/>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46525F"/>
              </a:buClr>
              <a:buSzPts val="3000"/>
              <a:buFont typeface="IBM Plex Sans"/>
              <a:buNone/>
            </a:pPr>
            <a:r>
              <a:rPr b="1" i="0" lang="en" sz="3000" u="none" cap="none" strike="noStrike">
                <a:solidFill>
                  <a:srgbClr val="46525F"/>
                </a:solidFill>
                <a:latin typeface="IBM Plex Sans"/>
                <a:ea typeface="IBM Plex Sans"/>
                <a:cs typeface="IBM Plex Sans"/>
                <a:sym typeface="IBM Plex Sans"/>
              </a:rPr>
              <a:t>172</a:t>
            </a:r>
            <a:endParaRPr b="0" i="0" sz="3000" u="none" cap="none" strike="noStrike">
              <a:solidFill>
                <a:schemeClr val="dk1"/>
              </a:solidFill>
              <a:latin typeface="Calibri"/>
              <a:ea typeface="Calibri"/>
              <a:cs typeface="Calibri"/>
              <a:sym typeface="Calibri"/>
            </a:endParaRPr>
          </a:p>
        </p:txBody>
      </p:sp>
      <p:sp>
        <p:nvSpPr>
          <p:cNvPr id="335" name="Google Shape;335;p22"/>
          <p:cNvSpPr/>
          <p:nvPr/>
        </p:nvSpPr>
        <p:spPr>
          <a:xfrm>
            <a:off x="533363" y="4483913"/>
            <a:ext cx="1085850" cy="3167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MODEL FEATURES</a:t>
            </a:r>
            <a:endParaRPr b="0" i="0" sz="900" u="none" cap="none" strike="noStrike">
              <a:solidFill>
                <a:schemeClr val="dk1"/>
              </a:solidFill>
              <a:latin typeface="Calibri"/>
              <a:ea typeface="Calibri"/>
              <a:cs typeface="Calibri"/>
              <a:sym typeface="Calibri"/>
            </a:endParaRPr>
          </a:p>
        </p:txBody>
      </p:sp>
      <p:sp>
        <p:nvSpPr>
          <p:cNvPr id="336" name="Google Shape;336;p22"/>
          <p:cNvSpPr/>
          <p:nvPr/>
        </p:nvSpPr>
        <p:spPr>
          <a:xfrm>
            <a:off x="1771613" y="4139934"/>
            <a:ext cx="5788343" cy="576039"/>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1" i="0" lang="en" sz="1000" u="none" cap="none" strike="noStrike">
                <a:solidFill>
                  <a:srgbClr val="454C55"/>
                </a:solidFill>
                <a:latin typeface="IBM Plex Sans"/>
                <a:ea typeface="IBM Plex Sans"/>
                <a:cs typeface="IBM Plex Sans"/>
                <a:sym typeface="IBM Plex Sans"/>
              </a:rPr>
              <a:t>Pipeline. </a:t>
            </a:r>
            <a:r>
              <a:rPr b="0" i="0" lang="en" sz="1000" u="none" cap="none" strike="noStrike">
                <a:solidFill>
                  <a:srgbClr val="454C55"/>
                </a:solidFill>
                <a:latin typeface="IBM Plex Sans"/>
                <a:ea typeface="IBM Plex Sans"/>
                <a:cs typeface="IBM Plex Sans"/>
                <a:sym typeface="IBM Plex Sans"/>
              </a:rPr>
              <a:t>One-hot encoding for categoricals → standard scaling for numerics → a 172-column feature matrix. Trees don't need scaling, but the pipeline applies it uniformly so every model is compared on identical inputs.</a:t>
            </a:r>
            <a:endParaRPr b="0" i="0" sz="1000" u="none" cap="none" strike="noStrike">
              <a:solidFill>
                <a:schemeClr val="dk1"/>
              </a:solidFill>
              <a:latin typeface="Calibri"/>
              <a:ea typeface="Calibri"/>
              <a:cs typeface="Calibri"/>
              <a:sym typeface="Calibri"/>
            </a:endParaRPr>
          </a:p>
        </p:txBody>
      </p:sp>
      <p:sp>
        <p:nvSpPr>
          <p:cNvPr id="337" name="Google Shape;337;p22"/>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338" name="Google Shape;338;p22"/>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343" name="Shape 343"/>
        <p:cNvGrpSpPr/>
        <p:nvPr/>
      </p:nvGrpSpPr>
      <p:grpSpPr>
        <a:xfrm>
          <a:off x="0" y="0"/>
          <a:ext cx="0" cy="0"/>
          <a:chOff x="0" y="0"/>
          <a:chExt cx="0" cy="0"/>
        </a:xfrm>
      </p:grpSpPr>
      <p:sp>
        <p:nvSpPr>
          <p:cNvPr id="344" name="Google Shape;344;p23"/>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5" name="Google Shape;345;p23"/>
          <p:cNvSpPr/>
          <p:nvPr/>
        </p:nvSpPr>
        <p:spPr>
          <a:xfrm>
            <a:off x="533363" y="399976"/>
            <a:ext cx="160660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08 · TRAIN / TEST SPLIT</a:t>
            </a:r>
            <a:endParaRPr b="0" i="0" sz="900" u="none" cap="none" strike="noStrike">
              <a:solidFill>
                <a:schemeClr val="dk1"/>
              </a:solidFill>
              <a:latin typeface="Calibri"/>
              <a:ea typeface="Calibri"/>
              <a:cs typeface="Calibri"/>
              <a:sym typeface="Calibri"/>
            </a:endParaRPr>
          </a:p>
        </p:txBody>
      </p:sp>
      <p:sp>
        <p:nvSpPr>
          <p:cNvPr id="346" name="Google Shape;346;p23"/>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09</a:t>
            </a:r>
            <a:endParaRPr b="0" i="0" sz="900" u="none" cap="none" strike="noStrike">
              <a:solidFill>
                <a:schemeClr val="dk1"/>
              </a:solidFill>
              <a:latin typeface="Calibri"/>
              <a:ea typeface="Calibri"/>
              <a:cs typeface="Calibri"/>
              <a:sym typeface="Calibri"/>
            </a:endParaRPr>
          </a:p>
        </p:txBody>
      </p:sp>
      <p:sp>
        <p:nvSpPr>
          <p:cNvPr id="347" name="Google Shape;347;p23"/>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marR="0" rtl="0" algn="l">
              <a:lnSpc>
                <a:spcPct val="106000"/>
              </a:lnSpc>
              <a:spcBef>
                <a:spcPts val="0"/>
              </a:spcBef>
              <a:spcAft>
                <a:spcPts val="0"/>
              </a:spcAft>
              <a:buClr>
                <a:srgbClr val="1C2026"/>
              </a:buClr>
              <a:buSzPts val="2600"/>
              <a:buFont typeface="IBM Plex Sans"/>
              <a:buNone/>
            </a:pPr>
            <a:r>
              <a:rPr b="1" i="0" lang="en" sz="2600" u="none" cap="none" strike="noStrike">
                <a:solidFill>
                  <a:srgbClr val="1C2026"/>
                </a:solidFill>
                <a:latin typeface="IBM Plex Sans"/>
                <a:ea typeface="IBM Plex Sans"/>
                <a:cs typeface="IBM Plex Sans"/>
                <a:sym typeface="IBM Plex Sans"/>
              </a:rPr>
              <a:t>Splitting on </a:t>
            </a:r>
            <a:r>
              <a:rPr b="1" lang="en" sz="2600">
                <a:solidFill>
                  <a:srgbClr val="1C2026"/>
                </a:solidFill>
                <a:latin typeface="IBM Plex Sans"/>
                <a:ea typeface="IBM Plex Sans"/>
                <a:cs typeface="IBM Plex Sans"/>
                <a:sym typeface="IBM Plex Sans"/>
              </a:rPr>
              <a:t>Time</a:t>
            </a:r>
            <a:endParaRPr b="0" i="0" sz="2600" u="none" cap="none" strike="noStrike">
              <a:solidFill>
                <a:schemeClr val="dk1"/>
              </a:solidFill>
              <a:latin typeface="Calibri"/>
              <a:ea typeface="Calibri"/>
              <a:cs typeface="Calibri"/>
              <a:sym typeface="Calibri"/>
            </a:endParaRPr>
          </a:p>
        </p:txBody>
      </p:sp>
      <p:sp>
        <p:nvSpPr>
          <p:cNvPr id="348" name="Google Shape;348;p23"/>
          <p:cNvSpPr/>
          <p:nvPr/>
        </p:nvSpPr>
        <p:spPr>
          <a:xfrm>
            <a:off x="533363" y="2451292"/>
            <a:ext cx="4022408" cy="424792"/>
          </a:xfrm>
          <a:prstGeom prst="rect">
            <a:avLst/>
          </a:prstGeom>
          <a:noFill/>
          <a:ln>
            <a:noFill/>
          </a:ln>
        </p:spPr>
        <p:txBody>
          <a:bodyPr anchorCtr="0" anchor="t" bIns="12700" lIns="12700" spcFirstLastPara="1" rIns="12700" wrap="square" tIns="12700">
            <a:noAutofit/>
          </a:bodyPr>
          <a:lstStyle/>
          <a:p>
            <a:pPr indent="0" lvl="0" marL="0" marR="0" rtl="0" algn="l">
              <a:lnSpc>
                <a:spcPct val="142000"/>
              </a:lnSpc>
              <a:spcBef>
                <a:spcPts val="0"/>
              </a:spcBef>
              <a:spcAft>
                <a:spcPts val="0"/>
              </a:spcAft>
              <a:buClr>
                <a:srgbClr val="1C2026"/>
              </a:buClr>
              <a:buSzPts val="1100"/>
              <a:buFont typeface="IBM Plex Sans"/>
              <a:buNone/>
            </a:pPr>
            <a:r>
              <a:rPr b="0" i="0" lang="en" sz="1100" u="none" cap="none" strike="noStrike">
                <a:solidFill>
                  <a:srgbClr val="1C2026"/>
                </a:solidFill>
                <a:latin typeface="IBM Plex Sans"/>
                <a:ea typeface="IBM Plex Sans"/>
                <a:cs typeface="IBM Plex Sans"/>
                <a:sym typeface="IBM Plex Sans"/>
              </a:rPr>
              <a:t>This is a forecasting problem, so the test set has to live in the future relative to training.</a:t>
            </a:r>
            <a:endParaRPr b="0" i="0" sz="1100" u="none" cap="none" strike="noStrike">
              <a:solidFill>
                <a:schemeClr val="dk1"/>
              </a:solidFill>
              <a:latin typeface="Calibri"/>
              <a:ea typeface="Calibri"/>
              <a:cs typeface="Calibri"/>
              <a:sym typeface="Calibri"/>
            </a:endParaRPr>
          </a:p>
        </p:txBody>
      </p:sp>
      <p:sp>
        <p:nvSpPr>
          <p:cNvPr id="349" name="Google Shape;349;p23"/>
          <p:cNvSpPr/>
          <p:nvPr/>
        </p:nvSpPr>
        <p:spPr>
          <a:xfrm>
            <a:off x="533363" y="2999910"/>
            <a:ext cx="4022408" cy="761703"/>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A random split would let the model peek at later months while scoring earlier ones, inflating every metric. Instead I split chronologically: the earliest 80% of the timeline to train, the latest 20% held out and touched only once, at the very end.</a:t>
            </a:r>
            <a:endParaRPr b="0" i="0" sz="1000" u="none" cap="none" strike="noStrike">
              <a:solidFill>
                <a:schemeClr val="dk1"/>
              </a:solidFill>
              <a:latin typeface="Calibri"/>
              <a:ea typeface="Calibri"/>
              <a:cs typeface="Calibri"/>
              <a:sym typeface="Calibri"/>
            </a:endParaRPr>
          </a:p>
        </p:txBody>
      </p:sp>
      <p:sp>
        <p:nvSpPr>
          <p:cNvPr id="350" name="Google Shape;350;p23"/>
          <p:cNvSpPr/>
          <p:nvPr/>
        </p:nvSpPr>
        <p:spPr>
          <a:xfrm>
            <a:off x="4891236" y="2381622"/>
            <a:ext cx="3719401" cy="457181"/>
          </a:xfrm>
          <a:prstGeom prst="roundRect">
            <a:avLst>
              <a:gd fmla="val 8334" name="adj"/>
            </a:avLst>
          </a:prstGeom>
          <a:noFill/>
          <a:ln cap="flat" cmpd="sng" w="11900">
            <a:solidFill>
              <a:srgbClr val="1C2026">
                <a:alpha val="1607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1" name="Google Shape;351;p23"/>
          <p:cNvSpPr/>
          <p:nvPr/>
        </p:nvSpPr>
        <p:spPr>
          <a:xfrm>
            <a:off x="4897190" y="2387575"/>
            <a:ext cx="2965959" cy="445275"/>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2" name="Google Shape;352;p23"/>
          <p:cNvSpPr/>
          <p:nvPr/>
        </p:nvSpPr>
        <p:spPr>
          <a:xfrm>
            <a:off x="4852700" y="2387575"/>
            <a:ext cx="3054938" cy="464325"/>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IBM Plex Sans"/>
              <a:buNone/>
            </a:pPr>
            <a:r>
              <a:rPr b="1" i="0" lang="en" sz="900" u="none" cap="none" strike="noStrike">
                <a:solidFill>
                  <a:srgbClr val="FFFFFF"/>
                </a:solidFill>
                <a:latin typeface="IBM Plex Sans"/>
                <a:ea typeface="IBM Plex Sans"/>
                <a:cs typeface="IBM Plex Sans"/>
                <a:sym typeface="IBM Plex Sans"/>
              </a:rPr>
              <a:t>TRAIN · 80%</a:t>
            </a:r>
            <a:endParaRPr b="0" i="0" sz="900" u="none" cap="none" strike="noStrike">
              <a:solidFill>
                <a:schemeClr val="dk1"/>
              </a:solidFill>
              <a:latin typeface="Calibri"/>
              <a:ea typeface="Calibri"/>
              <a:cs typeface="Calibri"/>
              <a:sym typeface="Calibri"/>
            </a:endParaRPr>
          </a:p>
        </p:txBody>
      </p:sp>
      <p:sp>
        <p:nvSpPr>
          <p:cNvPr id="353" name="Google Shape;353;p23"/>
          <p:cNvSpPr/>
          <p:nvPr/>
        </p:nvSpPr>
        <p:spPr>
          <a:xfrm>
            <a:off x="7863148" y="2387575"/>
            <a:ext cx="741536" cy="445275"/>
          </a:xfrm>
          <a:prstGeom prst="rect">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4" name="Google Shape;354;p23"/>
          <p:cNvSpPr/>
          <p:nvPr/>
        </p:nvSpPr>
        <p:spPr>
          <a:xfrm>
            <a:off x="7844098" y="2387575"/>
            <a:ext cx="779636" cy="464325"/>
          </a:xfrm>
          <a:prstGeom prst="rect">
            <a:avLst/>
          </a:prstGeom>
          <a:no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FFFFFF"/>
              </a:buClr>
              <a:buSzPts val="900"/>
              <a:buFont typeface="IBM Plex Sans"/>
              <a:buNone/>
            </a:pPr>
            <a:r>
              <a:rPr b="1" i="0" lang="en" sz="900" u="none" cap="none" strike="noStrike">
                <a:solidFill>
                  <a:srgbClr val="FFFFFF"/>
                </a:solidFill>
                <a:latin typeface="IBM Plex Sans"/>
                <a:ea typeface="IBM Plex Sans"/>
                <a:cs typeface="IBM Plex Sans"/>
                <a:sym typeface="IBM Plex Sans"/>
              </a:rPr>
              <a:t>TEST · 20%</a:t>
            </a:r>
            <a:endParaRPr b="0" i="0" sz="900" u="none" cap="none" strike="noStrike">
              <a:solidFill>
                <a:schemeClr val="dk1"/>
              </a:solidFill>
              <a:latin typeface="Calibri"/>
              <a:ea typeface="Calibri"/>
              <a:cs typeface="Calibri"/>
              <a:sym typeface="Calibri"/>
            </a:endParaRPr>
          </a:p>
        </p:txBody>
      </p:sp>
      <p:sp>
        <p:nvSpPr>
          <p:cNvPr id="355" name="Google Shape;355;p23"/>
          <p:cNvSpPr/>
          <p:nvPr/>
        </p:nvSpPr>
        <p:spPr>
          <a:xfrm>
            <a:off x="4891237" y="2972098"/>
            <a:ext cx="1079711" cy="173831"/>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 earliest months</a:t>
            </a:r>
            <a:endParaRPr b="0" i="0" sz="900" u="none" cap="none" strike="noStrike">
              <a:solidFill>
                <a:schemeClr val="dk1"/>
              </a:solidFill>
              <a:latin typeface="Calibri"/>
              <a:ea typeface="Calibri"/>
              <a:cs typeface="Calibri"/>
              <a:sym typeface="Calibri"/>
            </a:endParaRPr>
          </a:p>
        </p:txBody>
      </p:sp>
      <p:sp>
        <p:nvSpPr>
          <p:cNvPr id="356" name="Google Shape;356;p23"/>
          <p:cNvSpPr/>
          <p:nvPr/>
        </p:nvSpPr>
        <p:spPr>
          <a:xfrm>
            <a:off x="7676369" y="2972098"/>
            <a:ext cx="972368" cy="173831"/>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latest months ▶</a:t>
            </a:r>
            <a:endParaRPr b="0" i="0" sz="900" u="none" cap="none" strike="noStrike">
              <a:solidFill>
                <a:schemeClr val="dk1"/>
              </a:solidFill>
              <a:latin typeface="Calibri"/>
              <a:ea typeface="Calibri"/>
              <a:cs typeface="Calibri"/>
              <a:sym typeface="Calibri"/>
            </a:endParaRPr>
          </a:p>
        </p:txBody>
      </p:sp>
      <p:sp>
        <p:nvSpPr>
          <p:cNvPr id="357" name="Google Shape;357;p23"/>
          <p:cNvSpPr/>
          <p:nvPr/>
        </p:nvSpPr>
        <p:spPr>
          <a:xfrm>
            <a:off x="4891236" y="3298218"/>
            <a:ext cx="1105570" cy="317636"/>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1C2026"/>
              </a:buClr>
              <a:buSzPts val="2500"/>
              <a:buFont typeface="IBM Plex Sans"/>
              <a:buNone/>
            </a:pPr>
            <a:r>
              <a:rPr b="1" i="0" lang="en" sz="2400" u="none" cap="none" strike="noStrike">
                <a:solidFill>
                  <a:srgbClr val="1C2026"/>
                </a:solidFill>
                <a:latin typeface="IBM Plex Sans"/>
                <a:ea typeface="IBM Plex Sans"/>
                <a:cs typeface="IBM Plex Sans"/>
                <a:sym typeface="IBM Plex Sans"/>
              </a:rPr>
              <a:t>10.06M</a:t>
            </a:r>
            <a:endParaRPr b="0" i="0" sz="2400" u="none" cap="none" strike="noStrike">
              <a:solidFill>
                <a:schemeClr val="dk1"/>
              </a:solidFill>
              <a:latin typeface="Calibri"/>
              <a:ea typeface="Calibri"/>
              <a:cs typeface="Calibri"/>
              <a:sym typeface="Calibri"/>
            </a:endParaRPr>
          </a:p>
        </p:txBody>
      </p:sp>
      <p:sp>
        <p:nvSpPr>
          <p:cNvPr id="358" name="Google Shape;358;p23"/>
          <p:cNvSpPr/>
          <p:nvPr/>
        </p:nvSpPr>
        <p:spPr>
          <a:xfrm>
            <a:off x="4891236" y="3663405"/>
            <a:ext cx="110557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TRAINING ROWS</a:t>
            </a:r>
            <a:endParaRPr b="0" i="0" sz="900" u="none" cap="none" strike="noStrike">
              <a:solidFill>
                <a:schemeClr val="dk1"/>
              </a:solidFill>
              <a:latin typeface="Calibri"/>
              <a:ea typeface="Calibri"/>
              <a:cs typeface="Calibri"/>
              <a:sym typeface="Calibri"/>
            </a:endParaRPr>
          </a:p>
        </p:txBody>
      </p:sp>
      <p:sp>
        <p:nvSpPr>
          <p:cNvPr id="359" name="Google Shape;359;p23"/>
          <p:cNvSpPr/>
          <p:nvPr/>
        </p:nvSpPr>
        <p:spPr>
          <a:xfrm>
            <a:off x="6225388" y="3298218"/>
            <a:ext cx="1375804" cy="317636"/>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A64437"/>
              </a:buClr>
              <a:buSzPts val="2500"/>
              <a:buFont typeface="IBM Plex Sans"/>
              <a:buNone/>
            </a:pPr>
            <a:r>
              <a:rPr b="1" i="0" lang="en" sz="2500" u="none" cap="none" strike="noStrike">
                <a:solidFill>
                  <a:srgbClr val="A64437"/>
                </a:solidFill>
                <a:latin typeface="IBM Plex Sans"/>
                <a:ea typeface="IBM Plex Sans"/>
                <a:cs typeface="IBM Plex Sans"/>
                <a:sym typeface="IBM Plex Sans"/>
              </a:rPr>
              <a:t>2.47M</a:t>
            </a:r>
            <a:endParaRPr b="0" i="0" sz="2500" u="none" cap="none" strike="noStrike">
              <a:solidFill>
                <a:schemeClr val="dk1"/>
              </a:solidFill>
              <a:latin typeface="Calibri"/>
              <a:ea typeface="Calibri"/>
              <a:cs typeface="Calibri"/>
              <a:sym typeface="Calibri"/>
            </a:endParaRPr>
          </a:p>
        </p:txBody>
      </p:sp>
      <p:sp>
        <p:nvSpPr>
          <p:cNvPr id="360" name="Google Shape;360;p23"/>
          <p:cNvSpPr/>
          <p:nvPr/>
        </p:nvSpPr>
        <p:spPr>
          <a:xfrm>
            <a:off x="6225388" y="3663405"/>
            <a:ext cx="137580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HELD-OUT TEST ROWS</a:t>
            </a:r>
            <a:endParaRPr b="0" i="0" sz="900" u="none" cap="none" strike="noStrike">
              <a:solidFill>
                <a:schemeClr val="dk1"/>
              </a:solidFill>
              <a:latin typeface="Calibri"/>
              <a:ea typeface="Calibri"/>
              <a:cs typeface="Calibri"/>
              <a:sym typeface="Calibri"/>
            </a:endParaRPr>
          </a:p>
        </p:txBody>
      </p:sp>
      <p:sp>
        <p:nvSpPr>
          <p:cNvPr id="361" name="Google Shape;361;p23"/>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362" name="Google Shape;362;p23"/>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09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367" name="Shape 367"/>
        <p:cNvGrpSpPr/>
        <p:nvPr/>
      </p:nvGrpSpPr>
      <p:grpSpPr>
        <a:xfrm>
          <a:off x="0" y="0"/>
          <a:ext cx="0" cy="0"/>
          <a:chOff x="0" y="0"/>
          <a:chExt cx="0" cy="0"/>
        </a:xfrm>
      </p:grpSpPr>
      <p:sp>
        <p:nvSpPr>
          <p:cNvPr id="368" name="Google Shape;368;p24"/>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9" name="Google Shape;369;p24"/>
          <p:cNvSpPr/>
          <p:nvPr/>
        </p:nvSpPr>
        <p:spPr>
          <a:xfrm>
            <a:off x="533363" y="399976"/>
            <a:ext cx="108445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09 · IMBALANCE</a:t>
            </a:r>
            <a:endParaRPr b="0" i="0" sz="900" u="none" cap="none" strike="noStrike">
              <a:solidFill>
                <a:schemeClr val="dk1"/>
              </a:solidFill>
              <a:latin typeface="Calibri"/>
              <a:ea typeface="Calibri"/>
              <a:cs typeface="Calibri"/>
              <a:sym typeface="Calibri"/>
            </a:endParaRPr>
          </a:p>
        </p:txBody>
      </p:sp>
      <p:sp>
        <p:nvSpPr>
          <p:cNvPr id="370" name="Google Shape;370;p24"/>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10</a:t>
            </a:r>
            <a:endParaRPr b="0" i="0" sz="900" u="none" cap="none" strike="noStrike">
              <a:solidFill>
                <a:schemeClr val="dk1"/>
              </a:solidFill>
              <a:latin typeface="Calibri"/>
              <a:ea typeface="Calibri"/>
              <a:cs typeface="Calibri"/>
              <a:sym typeface="Calibri"/>
            </a:endParaRPr>
          </a:p>
        </p:txBody>
      </p:sp>
      <p:sp>
        <p:nvSpPr>
          <p:cNvPr id="371" name="Google Shape;371;p24"/>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rtl="0" algn="l">
              <a:lnSpc>
                <a:spcPct val="106000"/>
              </a:lnSpc>
              <a:spcBef>
                <a:spcPts val="0"/>
              </a:spcBef>
              <a:spcAft>
                <a:spcPts val="0"/>
              </a:spcAft>
              <a:buClr>
                <a:schemeClr val="dk1"/>
              </a:buClr>
              <a:buSzPts val="1100"/>
              <a:buFont typeface="Arial"/>
              <a:buNone/>
            </a:pPr>
            <a:r>
              <a:rPr b="1" lang="en" sz="2600">
                <a:solidFill>
                  <a:srgbClr val="1C2026"/>
                </a:solidFill>
                <a:latin typeface="IBM Plex Sans"/>
                <a:ea typeface="IBM Plex Sans"/>
                <a:cs typeface="IBM Plex Sans"/>
                <a:sym typeface="IBM Plex Sans"/>
              </a:rPr>
              <a:t>Class Imbalance &amp; Metric Selection</a:t>
            </a:r>
            <a:endParaRPr b="1" sz="2600">
              <a:solidFill>
                <a:srgbClr val="1C2026"/>
              </a:solidFill>
              <a:latin typeface="IBM Plex Sans"/>
              <a:ea typeface="IBM Plex Sans"/>
              <a:cs typeface="IBM Plex Sans"/>
              <a:sym typeface="IBM Plex Sans"/>
            </a:endParaRPr>
          </a:p>
          <a:p>
            <a:pPr indent="0" lvl="0" marL="0" marR="0" rtl="0" algn="l">
              <a:lnSpc>
                <a:spcPct val="106000"/>
              </a:lnSpc>
              <a:spcBef>
                <a:spcPts val="0"/>
              </a:spcBef>
              <a:spcAft>
                <a:spcPts val="0"/>
              </a:spcAft>
              <a:buClr>
                <a:srgbClr val="1C2026"/>
              </a:buClr>
              <a:buSzPts val="2600"/>
              <a:buFont typeface="IBM Plex Sans"/>
              <a:buNone/>
            </a:pPr>
            <a:r>
              <a:t/>
            </a:r>
            <a:endParaRPr b="1" sz="2600">
              <a:solidFill>
                <a:srgbClr val="1C2026"/>
              </a:solidFill>
              <a:latin typeface="IBM Plex Sans"/>
              <a:ea typeface="IBM Plex Sans"/>
              <a:cs typeface="IBM Plex Sans"/>
              <a:sym typeface="IBM Plex Sans"/>
            </a:endParaRPr>
          </a:p>
        </p:txBody>
      </p:sp>
      <p:sp>
        <p:nvSpPr>
          <p:cNvPr id="372" name="Google Shape;372;p24"/>
          <p:cNvSpPr/>
          <p:nvPr/>
        </p:nvSpPr>
        <p:spPr>
          <a:xfrm>
            <a:off x="533363" y="1953183"/>
            <a:ext cx="3728085" cy="761702"/>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A model that simply predicts "never delinquent" for every loan scores 99% accurate and is useless. So I oversampled the rare positive class during training, and judged models on the precision–recall curve rather than accuracy.</a:t>
            </a:r>
            <a:endParaRPr b="0" i="0" sz="1000" u="none" cap="none" strike="noStrike">
              <a:solidFill>
                <a:schemeClr val="dk1"/>
              </a:solidFill>
              <a:latin typeface="Calibri"/>
              <a:ea typeface="Calibri"/>
              <a:cs typeface="Calibri"/>
              <a:sym typeface="Calibri"/>
            </a:endParaRPr>
          </a:p>
        </p:txBody>
      </p:sp>
      <p:sp>
        <p:nvSpPr>
          <p:cNvPr id="373" name="Google Shape;373;p24"/>
          <p:cNvSpPr/>
          <p:nvPr/>
        </p:nvSpPr>
        <p:spPr>
          <a:xfrm>
            <a:off x="533363" y="2829130"/>
            <a:ext cx="3728085" cy="761703"/>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Here ROC-AUC barely separates the models (all 0.90–0.95), because true negatives are so abundant. PR-AUC, measured against the ~1.3% base rate, is the honest yardstick for a rare-event problem.</a:t>
            </a:r>
            <a:endParaRPr b="0" i="0" sz="1000" u="none" cap="none" strike="noStrike">
              <a:solidFill>
                <a:schemeClr val="dk1"/>
              </a:solidFill>
              <a:latin typeface="Calibri"/>
              <a:ea typeface="Calibri"/>
              <a:cs typeface="Calibri"/>
              <a:sym typeface="Calibri"/>
            </a:endParaRPr>
          </a:p>
        </p:txBody>
      </p:sp>
      <p:sp>
        <p:nvSpPr>
          <p:cNvPr id="374" name="Google Shape;374;p24"/>
          <p:cNvSpPr/>
          <p:nvPr/>
        </p:nvSpPr>
        <p:spPr>
          <a:xfrm>
            <a:off x="533363" y="3743121"/>
            <a:ext cx="1294954" cy="308614"/>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46525F"/>
              </a:buClr>
              <a:buSzPts val="2400"/>
              <a:buFont typeface="IBM Plex Sans"/>
              <a:buNone/>
            </a:pPr>
            <a:r>
              <a:rPr b="1" lang="en" sz="2400">
                <a:solidFill>
                  <a:srgbClr val="46525F"/>
                </a:solidFill>
                <a:latin typeface="IBM Plex Sans"/>
                <a:ea typeface="IBM Plex Sans"/>
                <a:cs typeface="IBM Plex Sans"/>
                <a:sym typeface="IBM Plex Sans"/>
              </a:rPr>
              <a:t>0</a:t>
            </a:r>
            <a:r>
              <a:rPr b="1" i="0" lang="en" sz="2400" u="none" cap="none" strike="noStrike">
                <a:solidFill>
                  <a:srgbClr val="46525F"/>
                </a:solidFill>
                <a:latin typeface="IBM Plex Sans"/>
                <a:ea typeface="IBM Plex Sans"/>
                <a:cs typeface="IBM Plex Sans"/>
                <a:sym typeface="IBM Plex Sans"/>
              </a:rPr>
              <a:t>.</a:t>
            </a:r>
            <a:r>
              <a:rPr b="1" lang="en" sz="2400">
                <a:solidFill>
                  <a:srgbClr val="46525F"/>
                </a:solidFill>
                <a:latin typeface="IBM Plex Sans"/>
                <a:ea typeface="IBM Plex Sans"/>
                <a:cs typeface="IBM Plex Sans"/>
                <a:sym typeface="IBM Plex Sans"/>
              </a:rPr>
              <a:t>30</a:t>
            </a:r>
            <a:r>
              <a:rPr b="1" i="0" lang="en" sz="2400" u="none" cap="none" strike="noStrike">
                <a:solidFill>
                  <a:srgbClr val="46525F"/>
                </a:solidFill>
                <a:latin typeface="IBM Plex Sans"/>
                <a:ea typeface="IBM Plex Sans"/>
                <a:cs typeface="IBM Plex Sans"/>
                <a:sym typeface="IBM Plex Sans"/>
              </a:rPr>
              <a:t>%</a:t>
            </a:r>
            <a:endParaRPr b="0" i="0" sz="2400" u="none" cap="none" strike="noStrike">
              <a:solidFill>
                <a:schemeClr val="dk1"/>
              </a:solidFill>
              <a:latin typeface="Calibri"/>
              <a:ea typeface="Calibri"/>
              <a:cs typeface="Calibri"/>
              <a:sym typeface="Calibri"/>
            </a:endParaRPr>
          </a:p>
        </p:txBody>
      </p:sp>
      <p:sp>
        <p:nvSpPr>
          <p:cNvPr id="375" name="Google Shape;375;p24"/>
          <p:cNvSpPr/>
          <p:nvPr/>
        </p:nvSpPr>
        <p:spPr>
          <a:xfrm>
            <a:off x="533363" y="4099285"/>
            <a:ext cx="129495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POSITIVE BASE RATE</a:t>
            </a:r>
            <a:endParaRPr b="0" i="0" sz="900" u="none" cap="none" strike="noStrike">
              <a:solidFill>
                <a:schemeClr val="dk1"/>
              </a:solidFill>
              <a:latin typeface="Calibri"/>
              <a:ea typeface="Calibri"/>
              <a:cs typeface="Calibri"/>
              <a:sym typeface="Calibri"/>
            </a:endParaRPr>
          </a:p>
        </p:txBody>
      </p:sp>
      <p:sp>
        <p:nvSpPr>
          <p:cNvPr id="376" name="Google Shape;376;p24"/>
          <p:cNvSpPr/>
          <p:nvPr/>
        </p:nvSpPr>
        <p:spPr>
          <a:xfrm>
            <a:off x="2056898" y="3743121"/>
            <a:ext cx="1116453" cy="308614"/>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1C2026"/>
              </a:buClr>
              <a:buSzPts val="2400"/>
              <a:buFont typeface="IBM Plex Sans"/>
              <a:buNone/>
            </a:pPr>
            <a:r>
              <a:rPr b="1" i="0" lang="en" sz="2300" u="none" cap="none" strike="noStrike">
                <a:solidFill>
                  <a:srgbClr val="1C2026"/>
                </a:solidFill>
                <a:latin typeface="IBM Plex Sans"/>
                <a:ea typeface="IBM Plex Sans"/>
                <a:cs typeface="IBM Plex Sans"/>
                <a:sym typeface="IBM Plex Sans"/>
              </a:rPr>
              <a:t>PR-AUC</a:t>
            </a:r>
            <a:endParaRPr b="0" i="0" sz="2300" u="none" cap="none" strike="noStrike">
              <a:solidFill>
                <a:schemeClr val="dk1"/>
              </a:solidFill>
              <a:latin typeface="Calibri"/>
              <a:ea typeface="Calibri"/>
              <a:cs typeface="Calibri"/>
              <a:sym typeface="Calibri"/>
            </a:endParaRPr>
          </a:p>
        </p:txBody>
      </p:sp>
      <p:sp>
        <p:nvSpPr>
          <p:cNvPr id="377" name="Google Shape;377;p24"/>
          <p:cNvSpPr/>
          <p:nvPr/>
        </p:nvSpPr>
        <p:spPr>
          <a:xfrm>
            <a:off x="2056898" y="4099285"/>
            <a:ext cx="111645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PRIMARY METRIC</a:t>
            </a:r>
            <a:endParaRPr b="0" i="0" sz="900" u="none" cap="none" strike="noStrike">
              <a:solidFill>
                <a:schemeClr val="dk1"/>
              </a:solidFill>
              <a:latin typeface="Calibri"/>
              <a:ea typeface="Calibri"/>
              <a:cs typeface="Calibri"/>
              <a:sym typeface="Calibri"/>
            </a:endParaRPr>
          </a:p>
        </p:txBody>
      </p:sp>
      <p:sp>
        <p:nvSpPr>
          <p:cNvPr id="378" name="Google Shape;378;p24"/>
          <p:cNvSpPr/>
          <p:nvPr/>
        </p:nvSpPr>
        <p:spPr>
          <a:xfrm>
            <a:off x="4432846" y="1374149"/>
            <a:ext cx="4177699" cy="3453092"/>
          </a:xfrm>
          <a:prstGeom prst="roundRect">
            <a:avLst>
              <a:gd fmla="val 828" name="adj"/>
            </a:avLst>
          </a:prstGeom>
          <a:solidFill>
            <a:srgbClr val="FFFFFF"/>
          </a:solidFill>
          <a:ln cap="flat" cmpd="sng" w="11900">
            <a:solidFill>
              <a:srgbClr val="1C2026">
                <a:alpha val="16078"/>
              </a:srgbClr>
            </a:solidFill>
            <a:prstDash val="solid"/>
            <a:round/>
            <a:headEnd len="sm" w="sm" type="none"/>
            <a:tailEnd len="sm" w="sm" type="none"/>
          </a:ln>
          <a:effectLst>
            <a:outerShdw blurRad="19050" rotWithShape="0" algn="bl" dir="5400000" dist="9525">
              <a:srgbClr val="14202E">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379" name="Google Shape;379;p24"/>
          <p:cNvPicPr preferRelativeResize="0"/>
          <p:nvPr/>
        </p:nvPicPr>
        <p:blipFill rotWithShape="1">
          <a:blip r:embed="rId3">
            <a:alphaModFix/>
          </a:blip>
          <a:srcRect b="0" l="-1" r="-1" t="0"/>
          <a:stretch/>
        </p:blipFill>
        <p:spPr>
          <a:xfrm>
            <a:off x="4543536" y="1484839"/>
            <a:ext cx="3956317" cy="2637514"/>
          </a:xfrm>
          <a:prstGeom prst="rect">
            <a:avLst/>
          </a:prstGeom>
          <a:noFill/>
          <a:ln>
            <a:noFill/>
          </a:ln>
        </p:spPr>
      </p:pic>
      <p:sp>
        <p:nvSpPr>
          <p:cNvPr id="380" name="Google Shape;380;p24"/>
          <p:cNvSpPr/>
          <p:nvPr/>
        </p:nvSpPr>
        <p:spPr>
          <a:xfrm>
            <a:off x="4543536" y="4122353"/>
            <a:ext cx="4075006" cy="499021"/>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FIG 01 </a:t>
            </a:r>
            <a:r>
              <a:rPr b="0" i="0" lang="en" sz="900" u="none" cap="none" strike="noStrike">
                <a:solidFill>
                  <a:srgbClr val="757C85"/>
                </a:solidFill>
                <a:latin typeface="IBM Plex Sans"/>
                <a:ea typeface="IBM Plex Sans"/>
                <a:cs typeface="IBM Plex Sans"/>
                <a:sym typeface="IBM Plex Sans"/>
              </a:rPr>
              <a:t>Precision–recall curves on the held-out test set. Oversampled LightGBM leads on area under the curve; the no-skill floor sits near the 1.3% base rate.</a:t>
            </a:r>
            <a:endParaRPr b="0" i="0" sz="900" u="none" cap="none" strike="noStrike">
              <a:solidFill>
                <a:schemeClr val="dk1"/>
              </a:solidFill>
              <a:latin typeface="Calibri"/>
              <a:ea typeface="Calibri"/>
              <a:cs typeface="Calibri"/>
              <a:sym typeface="Calibri"/>
            </a:endParaRPr>
          </a:p>
        </p:txBody>
      </p:sp>
      <p:sp>
        <p:nvSpPr>
          <p:cNvPr id="381" name="Google Shape;381;p24"/>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382" name="Google Shape;382;p24"/>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387" name="Shape 387"/>
        <p:cNvGrpSpPr/>
        <p:nvPr/>
      </p:nvGrpSpPr>
      <p:grpSpPr>
        <a:xfrm>
          <a:off x="0" y="0"/>
          <a:ext cx="0" cy="0"/>
          <a:chOff x="0" y="0"/>
          <a:chExt cx="0" cy="0"/>
        </a:xfrm>
      </p:grpSpPr>
      <p:sp>
        <p:nvSpPr>
          <p:cNvPr id="388" name="Google Shape;388;p25"/>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89" name="Google Shape;389;p25"/>
          <p:cNvSpPr/>
          <p:nvPr/>
        </p:nvSpPr>
        <p:spPr>
          <a:xfrm>
            <a:off x="533363" y="399976"/>
            <a:ext cx="846329"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10 · MODELS</a:t>
            </a:r>
            <a:endParaRPr b="0" i="0" sz="900" u="none" cap="none" strike="noStrike">
              <a:solidFill>
                <a:schemeClr val="dk1"/>
              </a:solidFill>
              <a:latin typeface="Calibri"/>
              <a:ea typeface="Calibri"/>
              <a:cs typeface="Calibri"/>
              <a:sym typeface="Calibri"/>
            </a:endParaRPr>
          </a:p>
        </p:txBody>
      </p:sp>
      <p:sp>
        <p:nvSpPr>
          <p:cNvPr id="390" name="Google Shape;390;p25"/>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11</a:t>
            </a:r>
            <a:endParaRPr b="0" i="0" sz="900" u="none" cap="none" strike="noStrike">
              <a:solidFill>
                <a:schemeClr val="dk1"/>
              </a:solidFill>
              <a:latin typeface="Calibri"/>
              <a:ea typeface="Calibri"/>
              <a:cs typeface="Calibri"/>
              <a:sym typeface="Calibri"/>
            </a:endParaRPr>
          </a:p>
        </p:txBody>
      </p:sp>
      <p:sp>
        <p:nvSpPr>
          <p:cNvPr id="391" name="Google Shape;391;p25"/>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marR="0" rtl="0" algn="l">
              <a:lnSpc>
                <a:spcPct val="106000"/>
              </a:lnSpc>
              <a:spcBef>
                <a:spcPts val="0"/>
              </a:spcBef>
              <a:spcAft>
                <a:spcPts val="0"/>
              </a:spcAft>
              <a:buClr>
                <a:srgbClr val="1C2026"/>
              </a:buClr>
              <a:buSzPts val="2600"/>
              <a:buFont typeface="IBM Plex Sans"/>
              <a:buNone/>
            </a:pPr>
            <a:r>
              <a:rPr b="1" lang="en" sz="2600">
                <a:solidFill>
                  <a:srgbClr val="1C2026"/>
                </a:solidFill>
                <a:latin typeface="IBM Plex Sans"/>
                <a:ea typeface="IBM Plex Sans"/>
                <a:cs typeface="IBM Plex Sans"/>
                <a:sym typeface="IBM Plex Sans"/>
              </a:rPr>
              <a:t>Top Models Compared</a:t>
            </a:r>
            <a:endParaRPr b="0" i="0" sz="2600" u="none" cap="none" strike="noStrike">
              <a:solidFill>
                <a:schemeClr val="dk1"/>
              </a:solidFill>
              <a:latin typeface="Calibri"/>
              <a:ea typeface="Calibri"/>
              <a:cs typeface="Calibri"/>
              <a:sym typeface="Calibri"/>
            </a:endParaRPr>
          </a:p>
        </p:txBody>
      </p:sp>
      <p:sp>
        <p:nvSpPr>
          <p:cNvPr id="392" name="Google Shape;392;p25"/>
          <p:cNvSpPr/>
          <p:nvPr/>
        </p:nvSpPr>
        <p:spPr>
          <a:xfrm>
            <a:off x="533363" y="2133544"/>
            <a:ext cx="2207586"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93" name="Google Shape;393;p25"/>
          <p:cNvSpPr/>
          <p:nvPr/>
        </p:nvSpPr>
        <p:spPr>
          <a:xfrm>
            <a:off x="533363" y="1902024"/>
            <a:ext cx="2273814" cy="164846"/>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1" i="0" lang="en" sz="900" u="none" cap="none" strike="noStrike">
                <a:solidFill>
                  <a:srgbClr val="757C85"/>
                </a:solidFill>
                <a:latin typeface="IBM Plex Sans"/>
                <a:ea typeface="IBM Plex Sans"/>
                <a:cs typeface="IBM Plex Sans"/>
                <a:sym typeface="IBM Plex Sans"/>
              </a:rPr>
              <a:t>MODEL</a:t>
            </a:r>
            <a:endParaRPr b="0" i="0" sz="900" u="none" cap="none" strike="noStrike">
              <a:solidFill>
                <a:schemeClr val="dk1"/>
              </a:solidFill>
              <a:latin typeface="Calibri"/>
              <a:ea typeface="Calibri"/>
              <a:cs typeface="Calibri"/>
              <a:sym typeface="Calibri"/>
            </a:endParaRPr>
          </a:p>
        </p:txBody>
      </p:sp>
      <p:sp>
        <p:nvSpPr>
          <p:cNvPr id="394" name="Google Shape;394;p25"/>
          <p:cNvSpPr/>
          <p:nvPr/>
        </p:nvSpPr>
        <p:spPr>
          <a:xfrm>
            <a:off x="2740949" y="2133544"/>
            <a:ext cx="64749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95" name="Google Shape;395;p25"/>
          <p:cNvSpPr/>
          <p:nvPr/>
        </p:nvSpPr>
        <p:spPr>
          <a:xfrm>
            <a:off x="2702849" y="1902024"/>
            <a:ext cx="685595" cy="164846"/>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1" i="0" lang="en" sz="900" u="none" cap="none" strike="noStrike">
                <a:solidFill>
                  <a:srgbClr val="757C85"/>
                </a:solidFill>
                <a:latin typeface="IBM Plex Sans"/>
                <a:ea typeface="IBM Plex Sans"/>
                <a:cs typeface="IBM Plex Sans"/>
                <a:sym typeface="IBM Plex Sans"/>
              </a:rPr>
              <a:t>ROC-AUC</a:t>
            </a:r>
            <a:endParaRPr b="0" i="0" sz="900" u="none" cap="none" strike="noStrike">
              <a:solidFill>
                <a:schemeClr val="dk1"/>
              </a:solidFill>
              <a:latin typeface="Calibri"/>
              <a:ea typeface="Calibri"/>
              <a:cs typeface="Calibri"/>
              <a:sym typeface="Calibri"/>
            </a:endParaRPr>
          </a:p>
        </p:txBody>
      </p:sp>
      <p:sp>
        <p:nvSpPr>
          <p:cNvPr id="396" name="Google Shape;396;p25"/>
          <p:cNvSpPr/>
          <p:nvPr/>
        </p:nvSpPr>
        <p:spPr>
          <a:xfrm>
            <a:off x="3388445" y="2133544"/>
            <a:ext cx="544153"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97" name="Google Shape;397;p25"/>
          <p:cNvSpPr/>
          <p:nvPr/>
        </p:nvSpPr>
        <p:spPr>
          <a:xfrm>
            <a:off x="3350345" y="1902024"/>
            <a:ext cx="582253" cy="164846"/>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1" i="0" lang="en" sz="900" u="none" cap="none" strike="noStrike">
                <a:solidFill>
                  <a:srgbClr val="757C85"/>
                </a:solidFill>
                <a:latin typeface="IBM Plex Sans"/>
                <a:ea typeface="IBM Plex Sans"/>
                <a:cs typeface="IBM Plex Sans"/>
                <a:sym typeface="IBM Plex Sans"/>
              </a:rPr>
              <a:t>PR-AUC</a:t>
            </a:r>
            <a:endParaRPr b="0" i="0" sz="900" u="none" cap="none" strike="noStrike">
              <a:solidFill>
                <a:schemeClr val="dk1"/>
              </a:solidFill>
              <a:latin typeface="Calibri"/>
              <a:ea typeface="Calibri"/>
              <a:cs typeface="Calibri"/>
              <a:sym typeface="Calibri"/>
            </a:endParaRPr>
          </a:p>
        </p:txBody>
      </p:sp>
      <p:sp>
        <p:nvSpPr>
          <p:cNvPr id="398" name="Google Shape;398;p25"/>
          <p:cNvSpPr/>
          <p:nvPr/>
        </p:nvSpPr>
        <p:spPr>
          <a:xfrm>
            <a:off x="3932597" y="2133544"/>
            <a:ext cx="538479"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99" name="Google Shape;399;p25"/>
          <p:cNvSpPr/>
          <p:nvPr/>
        </p:nvSpPr>
        <p:spPr>
          <a:xfrm>
            <a:off x="3894497" y="1902024"/>
            <a:ext cx="576579" cy="164846"/>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1" i="0" lang="en" sz="900" u="none" cap="none" strike="noStrike">
                <a:solidFill>
                  <a:srgbClr val="757C85"/>
                </a:solidFill>
                <a:latin typeface="IBM Plex Sans"/>
                <a:ea typeface="IBM Plex Sans"/>
                <a:cs typeface="IBM Plex Sans"/>
                <a:sym typeface="IBM Plex Sans"/>
              </a:rPr>
              <a:t>RECALL</a:t>
            </a:r>
            <a:endParaRPr b="0" i="0" sz="900" u="none" cap="none" strike="noStrike">
              <a:solidFill>
                <a:schemeClr val="dk1"/>
              </a:solidFill>
              <a:latin typeface="Calibri"/>
              <a:ea typeface="Calibri"/>
              <a:cs typeface="Calibri"/>
              <a:sym typeface="Calibri"/>
            </a:endParaRPr>
          </a:p>
        </p:txBody>
      </p:sp>
      <p:sp>
        <p:nvSpPr>
          <p:cNvPr id="400" name="Google Shape;400;p25"/>
          <p:cNvSpPr/>
          <p:nvPr/>
        </p:nvSpPr>
        <p:spPr>
          <a:xfrm>
            <a:off x="4471076" y="2133544"/>
            <a:ext cx="809811"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1" name="Google Shape;401;p25"/>
          <p:cNvSpPr/>
          <p:nvPr/>
        </p:nvSpPr>
        <p:spPr>
          <a:xfrm>
            <a:off x="4432976" y="1902024"/>
            <a:ext cx="847911" cy="164846"/>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900"/>
              <a:buFont typeface="IBM Plex Sans"/>
              <a:buNone/>
            </a:pPr>
            <a:r>
              <a:rPr b="1" i="0" lang="en" sz="900" u="none" cap="none" strike="noStrike">
                <a:solidFill>
                  <a:srgbClr val="757C85"/>
                </a:solidFill>
                <a:latin typeface="IBM Plex Sans"/>
                <a:ea typeface="IBM Plex Sans"/>
                <a:cs typeface="IBM Plex Sans"/>
                <a:sym typeface="IBM Plex Sans"/>
              </a:rPr>
              <a:t>PRECISION</a:t>
            </a:r>
            <a:endParaRPr b="0" i="0" sz="900" u="none" cap="none" strike="noStrike">
              <a:solidFill>
                <a:schemeClr val="dk1"/>
              </a:solidFill>
              <a:latin typeface="Calibri"/>
              <a:ea typeface="Calibri"/>
              <a:cs typeface="Calibri"/>
              <a:sym typeface="Calibri"/>
            </a:endParaRPr>
          </a:p>
        </p:txBody>
      </p:sp>
      <p:sp>
        <p:nvSpPr>
          <p:cNvPr id="402" name="Google Shape;402;p25"/>
          <p:cNvSpPr/>
          <p:nvPr/>
        </p:nvSpPr>
        <p:spPr>
          <a:xfrm>
            <a:off x="533363" y="2139498"/>
            <a:ext cx="2207586" cy="353467"/>
          </a:xfrm>
          <a:prstGeom prst="rect">
            <a:avLst/>
          </a:prstGeom>
          <a:solidFill>
            <a:srgbClr val="E6E9E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3" name="Google Shape;403;p25"/>
          <p:cNvSpPr/>
          <p:nvPr/>
        </p:nvSpPr>
        <p:spPr>
          <a:xfrm>
            <a:off x="533363" y="2487011"/>
            <a:ext cx="2207586"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4" name="Google Shape;404;p25"/>
          <p:cNvSpPr/>
          <p:nvPr/>
        </p:nvSpPr>
        <p:spPr>
          <a:xfrm>
            <a:off x="533363" y="2229985"/>
            <a:ext cx="2273814" cy="185588"/>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333D48"/>
              </a:buClr>
              <a:buSzPts val="1000"/>
              <a:buFont typeface="IBM Plex Sans"/>
              <a:buNone/>
            </a:pPr>
            <a:r>
              <a:rPr b="1" i="0" lang="en" sz="1000" u="none" cap="none" strike="noStrike">
                <a:solidFill>
                  <a:srgbClr val="333D48"/>
                </a:solidFill>
                <a:highlight>
                  <a:srgbClr val="E6E9EC"/>
                </a:highlight>
                <a:latin typeface="IBM Plex Sans"/>
                <a:ea typeface="IBM Plex Sans"/>
                <a:cs typeface="IBM Plex Sans"/>
                <a:sym typeface="IBM Plex Sans"/>
              </a:rPr>
              <a:t>Oversampled LightGBM </a:t>
            </a:r>
            <a:r>
              <a:rPr b="1" i="0" lang="en" sz="800" u="none" cap="none" strike="noStrike">
                <a:solidFill>
                  <a:srgbClr val="FFFFFF"/>
                </a:solidFill>
                <a:highlight>
                  <a:srgbClr val="46525F"/>
                </a:highlight>
                <a:latin typeface="IBM Plex Sans"/>
                <a:ea typeface="IBM Plex Sans"/>
                <a:cs typeface="IBM Plex Sans"/>
                <a:sym typeface="IBM Plex Sans"/>
              </a:rPr>
              <a:t>FINAL</a:t>
            </a:r>
            <a:endParaRPr b="0" i="0" sz="1000" u="none" cap="none" strike="noStrike">
              <a:solidFill>
                <a:schemeClr val="dk1"/>
              </a:solidFill>
              <a:latin typeface="Calibri"/>
              <a:ea typeface="Calibri"/>
              <a:cs typeface="Calibri"/>
              <a:sym typeface="Calibri"/>
            </a:endParaRPr>
          </a:p>
        </p:txBody>
      </p:sp>
      <p:sp>
        <p:nvSpPr>
          <p:cNvPr id="405" name="Google Shape;405;p25"/>
          <p:cNvSpPr/>
          <p:nvPr/>
        </p:nvSpPr>
        <p:spPr>
          <a:xfrm>
            <a:off x="2740949" y="2139498"/>
            <a:ext cx="647495" cy="353467"/>
          </a:xfrm>
          <a:prstGeom prst="rect">
            <a:avLst/>
          </a:prstGeom>
          <a:solidFill>
            <a:srgbClr val="E6E9E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6" name="Google Shape;406;p25"/>
          <p:cNvSpPr/>
          <p:nvPr/>
        </p:nvSpPr>
        <p:spPr>
          <a:xfrm>
            <a:off x="2740949" y="2487011"/>
            <a:ext cx="647495"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7" name="Google Shape;407;p25"/>
          <p:cNvSpPr/>
          <p:nvPr/>
        </p:nvSpPr>
        <p:spPr>
          <a:xfrm>
            <a:off x="2702849" y="2229985"/>
            <a:ext cx="685595"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333D48"/>
              </a:buClr>
              <a:buSzPts val="1000"/>
              <a:buFont typeface="IBM Plex Sans"/>
              <a:buNone/>
            </a:pPr>
            <a:r>
              <a:rPr b="1" i="0" lang="en" sz="1000" u="none" cap="none" strike="noStrike">
                <a:solidFill>
                  <a:srgbClr val="333D48"/>
                </a:solidFill>
                <a:latin typeface="IBM Plex Sans"/>
                <a:ea typeface="IBM Plex Sans"/>
                <a:cs typeface="IBM Plex Sans"/>
                <a:sym typeface="IBM Plex Sans"/>
              </a:rPr>
              <a:t>0.949</a:t>
            </a:r>
            <a:endParaRPr b="0" i="0" sz="1000" u="none" cap="none" strike="noStrike">
              <a:solidFill>
                <a:schemeClr val="dk1"/>
              </a:solidFill>
              <a:latin typeface="Calibri"/>
              <a:ea typeface="Calibri"/>
              <a:cs typeface="Calibri"/>
              <a:sym typeface="Calibri"/>
            </a:endParaRPr>
          </a:p>
        </p:txBody>
      </p:sp>
      <p:sp>
        <p:nvSpPr>
          <p:cNvPr id="408" name="Google Shape;408;p25"/>
          <p:cNvSpPr/>
          <p:nvPr/>
        </p:nvSpPr>
        <p:spPr>
          <a:xfrm>
            <a:off x="3388445" y="2139498"/>
            <a:ext cx="544153" cy="353467"/>
          </a:xfrm>
          <a:prstGeom prst="rect">
            <a:avLst/>
          </a:prstGeom>
          <a:solidFill>
            <a:srgbClr val="E6E9E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9" name="Google Shape;409;p25"/>
          <p:cNvSpPr/>
          <p:nvPr/>
        </p:nvSpPr>
        <p:spPr>
          <a:xfrm>
            <a:off x="3388445" y="2487011"/>
            <a:ext cx="544153"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0" name="Google Shape;410;p25"/>
          <p:cNvSpPr/>
          <p:nvPr/>
        </p:nvSpPr>
        <p:spPr>
          <a:xfrm>
            <a:off x="3350345" y="2229985"/>
            <a:ext cx="582253"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333D48"/>
              </a:buClr>
              <a:buSzPts val="1000"/>
              <a:buFont typeface="IBM Plex Sans"/>
              <a:buNone/>
            </a:pPr>
            <a:r>
              <a:rPr b="1" i="0" lang="en" sz="1000" u="none" cap="none" strike="noStrike">
                <a:solidFill>
                  <a:srgbClr val="333D48"/>
                </a:solidFill>
                <a:latin typeface="IBM Plex Sans"/>
                <a:ea typeface="IBM Plex Sans"/>
                <a:cs typeface="IBM Plex Sans"/>
                <a:sym typeface="IBM Plex Sans"/>
              </a:rPr>
              <a:t>0.340</a:t>
            </a:r>
            <a:endParaRPr b="0" i="0" sz="1000" u="none" cap="none" strike="noStrike">
              <a:solidFill>
                <a:schemeClr val="dk1"/>
              </a:solidFill>
              <a:latin typeface="Calibri"/>
              <a:ea typeface="Calibri"/>
              <a:cs typeface="Calibri"/>
              <a:sym typeface="Calibri"/>
            </a:endParaRPr>
          </a:p>
        </p:txBody>
      </p:sp>
      <p:sp>
        <p:nvSpPr>
          <p:cNvPr id="411" name="Google Shape;411;p25"/>
          <p:cNvSpPr/>
          <p:nvPr/>
        </p:nvSpPr>
        <p:spPr>
          <a:xfrm>
            <a:off x="3932597" y="2139498"/>
            <a:ext cx="538479" cy="353467"/>
          </a:xfrm>
          <a:prstGeom prst="rect">
            <a:avLst/>
          </a:prstGeom>
          <a:solidFill>
            <a:srgbClr val="E6E9E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2" name="Google Shape;412;p25"/>
          <p:cNvSpPr/>
          <p:nvPr/>
        </p:nvSpPr>
        <p:spPr>
          <a:xfrm>
            <a:off x="3932597" y="2487011"/>
            <a:ext cx="538479"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3" name="Google Shape;413;p25"/>
          <p:cNvSpPr/>
          <p:nvPr/>
        </p:nvSpPr>
        <p:spPr>
          <a:xfrm>
            <a:off x="3894497" y="2229985"/>
            <a:ext cx="576579"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333D48"/>
              </a:buClr>
              <a:buSzPts val="1000"/>
              <a:buFont typeface="IBM Plex Sans"/>
              <a:buNone/>
            </a:pPr>
            <a:r>
              <a:rPr b="1" i="0" lang="en" sz="1000" u="none" cap="none" strike="noStrike">
                <a:solidFill>
                  <a:srgbClr val="333D48"/>
                </a:solidFill>
                <a:latin typeface="IBM Plex Sans"/>
                <a:ea typeface="IBM Plex Sans"/>
                <a:cs typeface="IBM Plex Sans"/>
                <a:sym typeface="IBM Plex Sans"/>
              </a:rPr>
              <a:t>0.75</a:t>
            </a:r>
            <a:endParaRPr b="0" i="0" sz="1000" u="none" cap="none" strike="noStrike">
              <a:solidFill>
                <a:schemeClr val="dk1"/>
              </a:solidFill>
              <a:latin typeface="Calibri"/>
              <a:ea typeface="Calibri"/>
              <a:cs typeface="Calibri"/>
              <a:sym typeface="Calibri"/>
            </a:endParaRPr>
          </a:p>
        </p:txBody>
      </p:sp>
      <p:sp>
        <p:nvSpPr>
          <p:cNvPr id="414" name="Google Shape;414;p25"/>
          <p:cNvSpPr/>
          <p:nvPr/>
        </p:nvSpPr>
        <p:spPr>
          <a:xfrm>
            <a:off x="4471076" y="2139498"/>
            <a:ext cx="809811" cy="353467"/>
          </a:xfrm>
          <a:prstGeom prst="rect">
            <a:avLst/>
          </a:prstGeom>
          <a:solidFill>
            <a:srgbClr val="E6E9E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5" name="Google Shape;415;p25"/>
          <p:cNvSpPr/>
          <p:nvPr/>
        </p:nvSpPr>
        <p:spPr>
          <a:xfrm>
            <a:off x="4471076" y="2487011"/>
            <a:ext cx="809811"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6" name="Google Shape;416;p25"/>
          <p:cNvSpPr/>
          <p:nvPr/>
        </p:nvSpPr>
        <p:spPr>
          <a:xfrm>
            <a:off x="4432976" y="2229985"/>
            <a:ext cx="847911"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333D48"/>
              </a:buClr>
              <a:buSzPts val="1000"/>
              <a:buFont typeface="IBM Plex Sans"/>
              <a:buNone/>
            </a:pPr>
            <a:r>
              <a:rPr b="1" i="0" lang="en" sz="1000" u="none" cap="none" strike="noStrike">
                <a:solidFill>
                  <a:srgbClr val="333D48"/>
                </a:solidFill>
                <a:latin typeface="IBM Plex Sans"/>
                <a:ea typeface="IBM Plex Sans"/>
                <a:cs typeface="IBM Plex Sans"/>
                <a:sym typeface="IBM Plex Sans"/>
              </a:rPr>
              <a:t>0.121</a:t>
            </a:r>
            <a:endParaRPr b="0" i="0" sz="1000" u="none" cap="none" strike="noStrike">
              <a:solidFill>
                <a:schemeClr val="dk1"/>
              </a:solidFill>
              <a:latin typeface="Calibri"/>
              <a:ea typeface="Calibri"/>
              <a:cs typeface="Calibri"/>
              <a:sym typeface="Calibri"/>
            </a:endParaRPr>
          </a:p>
        </p:txBody>
      </p:sp>
      <p:sp>
        <p:nvSpPr>
          <p:cNvPr id="417" name="Google Shape;417;p25"/>
          <p:cNvSpPr/>
          <p:nvPr/>
        </p:nvSpPr>
        <p:spPr>
          <a:xfrm>
            <a:off x="533363" y="2840478"/>
            <a:ext cx="2207586"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8" name="Google Shape;418;p25"/>
          <p:cNvSpPr/>
          <p:nvPr/>
        </p:nvSpPr>
        <p:spPr>
          <a:xfrm>
            <a:off x="533363" y="2583452"/>
            <a:ext cx="2273814" cy="185588"/>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Tuned XGBoost</a:t>
            </a:r>
            <a:endParaRPr b="0" i="0" sz="1000" u="none" cap="none" strike="noStrike">
              <a:solidFill>
                <a:schemeClr val="dk1"/>
              </a:solidFill>
              <a:latin typeface="Calibri"/>
              <a:ea typeface="Calibri"/>
              <a:cs typeface="Calibri"/>
              <a:sym typeface="Calibri"/>
            </a:endParaRPr>
          </a:p>
        </p:txBody>
      </p:sp>
      <p:sp>
        <p:nvSpPr>
          <p:cNvPr id="419" name="Google Shape;419;p25"/>
          <p:cNvSpPr/>
          <p:nvPr/>
        </p:nvSpPr>
        <p:spPr>
          <a:xfrm>
            <a:off x="2740949" y="2840478"/>
            <a:ext cx="647495"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0" name="Google Shape;420;p25"/>
          <p:cNvSpPr/>
          <p:nvPr/>
        </p:nvSpPr>
        <p:spPr>
          <a:xfrm>
            <a:off x="2702849" y="2583452"/>
            <a:ext cx="685595"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0.948</a:t>
            </a:r>
            <a:endParaRPr b="0" i="0" sz="1000" u="none" cap="none" strike="noStrike">
              <a:solidFill>
                <a:schemeClr val="dk1"/>
              </a:solidFill>
              <a:latin typeface="Calibri"/>
              <a:ea typeface="Calibri"/>
              <a:cs typeface="Calibri"/>
              <a:sym typeface="Calibri"/>
            </a:endParaRPr>
          </a:p>
        </p:txBody>
      </p:sp>
      <p:sp>
        <p:nvSpPr>
          <p:cNvPr id="421" name="Google Shape;421;p25"/>
          <p:cNvSpPr/>
          <p:nvPr/>
        </p:nvSpPr>
        <p:spPr>
          <a:xfrm>
            <a:off x="3388445" y="2840478"/>
            <a:ext cx="544153"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2" name="Google Shape;422;p25"/>
          <p:cNvSpPr/>
          <p:nvPr/>
        </p:nvSpPr>
        <p:spPr>
          <a:xfrm>
            <a:off x="3350345" y="2583452"/>
            <a:ext cx="582253"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0.337</a:t>
            </a:r>
            <a:endParaRPr b="0" i="0" sz="1000" u="none" cap="none" strike="noStrike">
              <a:solidFill>
                <a:schemeClr val="dk1"/>
              </a:solidFill>
              <a:latin typeface="Calibri"/>
              <a:ea typeface="Calibri"/>
              <a:cs typeface="Calibri"/>
              <a:sym typeface="Calibri"/>
            </a:endParaRPr>
          </a:p>
        </p:txBody>
      </p:sp>
      <p:sp>
        <p:nvSpPr>
          <p:cNvPr id="423" name="Google Shape;423;p25"/>
          <p:cNvSpPr/>
          <p:nvPr/>
        </p:nvSpPr>
        <p:spPr>
          <a:xfrm>
            <a:off x="3932597" y="2840478"/>
            <a:ext cx="538479"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4" name="Google Shape;424;p25"/>
          <p:cNvSpPr/>
          <p:nvPr/>
        </p:nvSpPr>
        <p:spPr>
          <a:xfrm>
            <a:off x="3894497" y="2583452"/>
            <a:ext cx="576579"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0.82</a:t>
            </a:r>
            <a:endParaRPr b="0" i="0" sz="1000" u="none" cap="none" strike="noStrike">
              <a:solidFill>
                <a:schemeClr val="dk1"/>
              </a:solidFill>
              <a:latin typeface="Calibri"/>
              <a:ea typeface="Calibri"/>
              <a:cs typeface="Calibri"/>
              <a:sym typeface="Calibri"/>
            </a:endParaRPr>
          </a:p>
        </p:txBody>
      </p:sp>
      <p:sp>
        <p:nvSpPr>
          <p:cNvPr id="425" name="Google Shape;425;p25"/>
          <p:cNvSpPr/>
          <p:nvPr/>
        </p:nvSpPr>
        <p:spPr>
          <a:xfrm>
            <a:off x="4471076" y="2840478"/>
            <a:ext cx="809811"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6" name="Google Shape;426;p25"/>
          <p:cNvSpPr/>
          <p:nvPr/>
        </p:nvSpPr>
        <p:spPr>
          <a:xfrm>
            <a:off x="4432976" y="2583452"/>
            <a:ext cx="847911"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0.044</a:t>
            </a:r>
            <a:endParaRPr b="0" i="0" sz="1000" u="none" cap="none" strike="noStrike">
              <a:solidFill>
                <a:schemeClr val="dk1"/>
              </a:solidFill>
              <a:latin typeface="Calibri"/>
              <a:ea typeface="Calibri"/>
              <a:cs typeface="Calibri"/>
              <a:sym typeface="Calibri"/>
            </a:endParaRPr>
          </a:p>
        </p:txBody>
      </p:sp>
      <p:sp>
        <p:nvSpPr>
          <p:cNvPr id="427" name="Google Shape;427;p25"/>
          <p:cNvSpPr/>
          <p:nvPr/>
        </p:nvSpPr>
        <p:spPr>
          <a:xfrm>
            <a:off x="533363" y="3193945"/>
            <a:ext cx="2207586"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8" name="Google Shape;428;p25"/>
          <p:cNvSpPr/>
          <p:nvPr/>
        </p:nvSpPr>
        <p:spPr>
          <a:xfrm>
            <a:off x="533363" y="2936919"/>
            <a:ext cx="2273814" cy="185588"/>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Neural Network</a:t>
            </a:r>
            <a:endParaRPr b="0" i="0" sz="1000" u="none" cap="none" strike="noStrike">
              <a:solidFill>
                <a:schemeClr val="dk1"/>
              </a:solidFill>
              <a:latin typeface="Calibri"/>
              <a:ea typeface="Calibri"/>
              <a:cs typeface="Calibri"/>
              <a:sym typeface="Calibri"/>
            </a:endParaRPr>
          </a:p>
        </p:txBody>
      </p:sp>
      <p:sp>
        <p:nvSpPr>
          <p:cNvPr id="429" name="Google Shape;429;p25"/>
          <p:cNvSpPr/>
          <p:nvPr/>
        </p:nvSpPr>
        <p:spPr>
          <a:xfrm>
            <a:off x="2740949" y="3193945"/>
            <a:ext cx="647495"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0" name="Google Shape;430;p25"/>
          <p:cNvSpPr/>
          <p:nvPr/>
        </p:nvSpPr>
        <p:spPr>
          <a:xfrm>
            <a:off x="2702849" y="2936919"/>
            <a:ext cx="685595"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0.941</a:t>
            </a:r>
            <a:endParaRPr b="0" i="0" sz="1000" u="none" cap="none" strike="noStrike">
              <a:solidFill>
                <a:schemeClr val="dk1"/>
              </a:solidFill>
              <a:latin typeface="Calibri"/>
              <a:ea typeface="Calibri"/>
              <a:cs typeface="Calibri"/>
              <a:sym typeface="Calibri"/>
            </a:endParaRPr>
          </a:p>
        </p:txBody>
      </p:sp>
      <p:sp>
        <p:nvSpPr>
          <p:cNvPr id="431" name="Google Shape;431;p25"/>
          <p:cNvSpPr/>
          <p:nvPr/>
        </p:nvSpPr>
        <p:spPr>
          <a:xfrm>
            <a:off x="3388445" y="3193945"/>
            <a:ext cx="544153"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2" name="Google Shape;432;p25"/>
          <p:cNvSpPr/>
          <p:nvPr/>
        </p:nvSpPr>
        <p:spPr>
          <a:xfrm>
            <a:off x="3350345" y="2936919"/>
            <a:ext cx="582253"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0.329</a:t>
            </a:r>
            <a:endParaRPr b="0" i="0" sz="1000" u="none" cap="none" strike="noStrike">
              <a:solidFill>
                <a:schemeClr val="dk1"/>
              </a:solidFill>
              <a:latin typeface="Calibri"/>
              <a:ea typeface="Calibri"/>
              <a:cs typeface="Calibri"/>
              <a:sym typeface="Calibri"/>
            </a:endParaRPr>
          </a:p>
        </p:txBody>
      </p:sp>
      <p:sp>
        <p:nvSpPr>
          <p:cNvPr id="433" name="Google Shape;433;p25"/>
          <p:cNvSpPr/>
          <p:nvPr/>
        </p:nvSpPr>
        <p:spPr>
          <a:xfrm>
            <a:off x="3932597" y="3193945"/>
            <a:ext cx="538479"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4" name="Google Shape;434;p25"/>
          <p:cNvSpPr/>
          <p:nvPr/>
        </p:nvSpPr>
        <p:spPr>
          <a:xfrm>
            <a:off x="3894497" y="2936919"/>
            <a:ext cx="576579"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0.26</a:t>
            </a:r>
            <a:endParaRPr b="0" i="0" sz="1000" u="none" cap="none" strike="noStrike">
              <a:solidFill>
                <a:schemeClr val="dk1"/>
              </a:solidFill>
              <a:latin typeface="Calibri"/>
              <a:ea typeface="Calibri"/>
              <a:cs typeface="Calibri"/>
              <a:sym typeface="Calibri"/>
            </a:endParaRPr>
          </a:p>
        </p:txBody>
      </p:sp>
      <p:sp>
        <p:nvSpPr>
          <p:cNvPr id="435" name="Google Shape;435;p25"/>
          <p:cNvSpPr/>
          <p:nvPr/>
        </p:nvSpPr>
        <p:spPr>
          <a:xfrm>
            <a:off x="4471076" y="3193945"/>
            <a:ext cx="809811"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6" name="Google Shape;436;p25"/>
          <p:cNvSpPr/>
          <p:nvPr/>
        </p:nvSpPr>
        <p:spPr>
          <a:xfrm>
            <a:off x="4432976" y="2936919"/>
            <a:ext cx="847911" cy="185588"/>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0.534</a:t>
            </a:r>
            <a:endParaRPr b="0" i="0" sz="1000" u="none" cap="none" strike="noStrike">
              <a:solidFill>
                <a:schemeClr val="dk1"/>
              </a:solidFill>
              <a:latin typeface="Calibri"/>
              <a:ea typeface="Calibri"/>
              <a:cs typeface="Calibri"/>
              <a:sym typeface="Calibri"/>
            </a:endParaRPr>
          </a:p>
        </p:txBody>
      </p:sp>
      <p:sp>
        <p:nvSpPr>
          <p:cNvPr id="437" name="Google Shape;437;p25"/>
          <p:cNvSpPr/>
          <p:nvPr/>
        </p:nvSpPr>
        <p:spPr>
          <a:xfrm>
            <a:off x="533363" y="3547412"/>
            <a:ext cx="2207586"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8" name="Google Shape;438;p25"/>
          <p:cNvSpPr/>
          <p:nvPr/>
        </p:nvSpPr>
        <p:spPr>
          <a:xfrm>
            <a:off x="533363" y="3290385"/>
            <a:ext cx="2273814" cy="185589"/>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Oversampled Logistic Reg.</a:t>
            </a:r>
            <a:endParaRPr b="0" i="0" sz="1000" u="none" cap="none" strike="noStrike">
              <a:solidFill>
                <a:schemeClr val="dk1"/>
              </a:solidFill>
              <a:latin typeface="Calibri"/>
              <a:ea typeface="Calibri"/>
              <a:cs typeface="Calibri"/>
              <a:sym typeface="Calibri"/>
            </a:endParaRPr>
          </a:p>
        </p:txBody>
      </p:sp>
      <p:sp>
        <p:nvSpPr>
          <p:cNvPr id="439" name="Google Shape;439;p25"/>
          <p:cNvSpPr/>
          <p:nvPr/>
        </p:nvSpPr>
        <p:spPr>
          <a:xfrm>
            <a:off x="2740949" y="3547412"/>
            <a:ext cx="647495"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0" name="Google Shape;440;p25"/>
          <p:cNvSpPr/>
          <p:nvPr/>
        </p:nvSpPr>
        <p:spPr>
          <a:xfrm>
            <a:off x="2702849" y="3290385"/>
            <a:ext cx="685595"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0.942</a:t>
            </a:r>
            <a:endParaRPr b="0" i="0" sz="1000" u="none" cap="none" strike="noStrike">
              <a:solidFill>
                <a:schemeClr val="dk1"/>
              </a:solidFill>
              <a:latin typeface="Calibri"/>
              <a:ea typeface="Calibri"/>
              <a:cs typeface="Calibri"/>
              <a:sym typeface="Calibri"/>
            </a:endParaRPr>
          </a:p>
        </p:txBody>
      </p:sp>
      <p:sp>
        <p:nvSpPr>
          <p:cNvPr id="441" name="Google Shape;441;p25"/>
          <p:cNvSpPr/>
          <p:nvPr/>
        </p:nvSpPr>
        <p:spPr>
          <a:xfrm>
            <a:off x="3388445" y="3547412"/>
            <a:ext cx="544153"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2" name="Google Shape;442;p25"/>
          <p:cNvSpPr/>
          <p:nvPr/>
        </p:nvSpPr>
        <p:spPr>
          <a:xfrm>
            <a:off x="3350345" y="3290385"/>
            <a:ext cx="582253"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0.224</a:t>
            </a:r>
            <a:endParaRPr b="0" i="0" sz="1000" u="none" cap="none" strike="noStrike">
              <a:solidFill>
                <a:schemeClr val="dk1"/>
              </a:solidFill>
              <a:latin typeface="Calibri"/>
              <a:ea typeface="Calibri"/>
              <a:cs typeface="Calibri"/>
              <a:sym typeface="Calibri"/>
            </a:endParaRPr>
          </a:p>
        </p:txBody>
      </p:sp>
      <p:sp>
        <p:nvSpPr>
          <p:cNvPr id="443" name="Google Shape;443;p25"/>
          <p:cNvSpPr/>
          <p:nvPr/>
        </p:nvSpPr>
        <p:spPr>
          <a:xfrm>
            <a:off x="3932597" y="3547412"/>
            <a:ext cx="538479"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4" name="Google Shape;444;p25"/>
          <p:cNvSpPr/>
          <p:nvPr/>
        </p:nvSpPr>
        <p:spPr>
          <a:xfrm>
            <a:off x="3894497" y="3290385"/>
            <a:ext cx="576579"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0.72</a:t>
            </a:r>
            <a:endParaRPr b="0" i="0" sz="1000" u="none" cap="none" strike="noStrike">
              <a:solidFill>
                <a:schemeClr val="dk1"/>
              </a:solidFill>
              <a:latin typeface="Calibri"/>
              <a:ea typeface="Calibri"/>
              <a:cs typeface="Calibri"/>
              <a:sym typeface="Calibri"/>
            </a:endParaRPr>
          </a:p>
        </p:txBody>
      </p:sp>
      <p:sp>
        <p:nvSpPr>
          <p:cNvPr id="445" name="Google Shape;445;p25"/>
          <p:cNvSpPr/>
          <p:nvPr/>
        </p:nvSpPr>
        <p:spPr>
          <a:xfrm>
            <a:off x="4471076" y="3547412"/>
            <a:ext cx="809811"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6" name="Google Shape;446;p25"/>
          <p:cNvSpPr/>
          <p:nvPr/>
        </p:nvSpPr>
        <p:spPr>
          <a:xfrm>
            <a:off x="4432976" y="3290385"/>
            <a:ext cx="847911"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0.132</a:t>
            </a:r>
            <a:endParaRPr b="0" i="0" sz="1000" u="none" cap="none" strike="noStrike">
              <a:solidFill>
                <a:schemeClr val="dk1"/>
              </a:solidFill>
              <a:latin typeface="Calibri"/>
              <a:ea typeface="Calibri"/>
              <a:cs typeface="Calibri"/>
              <a:sym typeface="Calibri"/>
            </a:endParaRPr>
          </a:p>
        </p:txBody>
      </p:sp>
      <p:sp>
        <p:nvSpPr>
          <p:cNvPr id="447" name="Google Shape;447;p25"/>
          <p:cNvSpPr/>
          <p:nvPr/>
        </p:nvSpPr>
        <p:spPr>
          <a:xfrm>
            <a:off x="533363" y="3900878"/>
            <a:ext cx="2207586"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48" name="Google Shape;448;p25"/>
          <p:cNvSpPr/>
          <p:nvPr/>
        </p:nvSpPr>
        <p:spPr>
          <a:xfrm>
            <a:off x="533363" y="3643852"/>
            <a:ext cx="2273814" cy="185589"/>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Logistic Regression</a:t>
            </a:r>
            <a:endParaRPr b="0" i="0" sz="1000" u="none" cap="none" strike="noStrike">
              <a:solidFill>
                <a:schemeClr val="dk1"/>
              </a:solidFill>
              <a:latin typeface="Calibri"/>
              <a:ea typeface="Calibri"/>
              <a:cs typeface="Calibri"/>
              <a:sym typeface="Calibri"/>
            </a:endParaRPr>
          </a:p>
        </p:txBody>
      </p:sp>
      <p:sp>
        <p:nvSpPr>
          <p:cNvPr id="449" name="Google Shape;449;p25"/>
          <p:cNvSpPr/>
          <p:nvPr/>
        </p:nvSpPr>
        <p:spPr>
          <a:xfrm>
            <a:off x="2740949" y="3900878"/>
            <a:ext cx="647495"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0" name="Google Shape;450;p25"/>
          <p:cNvSpPr/>
          <p:nvPr/>
        </p:nvSpPr>
        <p:spPr>
          <a:xfrm>
            <a:off x="2702849" y="3643852"/>
            <a:ext cx="685595"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0.943</a:t>
            </a:r>
            <a:endParaRPr b="0" i="0" sz="1000" u="none" cap="none" strike="noStrike">
              <a:solidFill>
                <a:schemeClr val="dk1"/>
              </a:solidFill>
              <a:latin typeface="Calibri"/>
              <a:ea typeface="Calibri"/>
              <a:cs typeface="Calibri"/>
              <a:sym typeface="Calibri"/>
            </a:endParaRPr>
          </a:p>
        </p:txBody>
      </p:sp>
      <p:sp>
        <p:nvSpPr>
          <p:cNvPr id="451" name="Google Shape;451;p25"/>
          <p:cNvSpPr/>
          <p:nvPr/>
        </p:nvSpPr>
        <p:spPr>
          <a:xfrm>
            <a:off x="3388445" y="3900878"/>
            <a:ext cx="544153"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2" name="Google Shape;452;p25"/>
          <p:cNvSpPr/>
          <p:nvPr/>
        </p:nvSpPr>
        <p:spPr>
          <a:xfrm>
            <a:off x="3350345" y="3643852"/>
            <a:ext cx="582253"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0.213</a:t>
            </a:r>
            <a:endParaRPr b="0" i="0" sz="1000" u="none" cap="none" strike="noStrike">
              <a:solidFill>
                <a:schemeClr val="dk1"/>
              </a:solidFill>
              <a:latin typeface="Calibri"/>
              <a:ea typeface="Calibri"/>
              <a:cs typeface="Calibri"/>
              <a:sym typeface="Calibri"/>
            </a:endParaRPr>
          </a:p>
        </p:txBody>
      </p:sp>
      <p:sp>
        <p:nvSpPr>
          <p:cNvPr id="453" name="Google Shape;453;p25"/>
          <p:cNvSpPr/>
          <p:nvPr/>
        </p:nvSpPr>
        <p:spPr>
          <a:xfrm>
            <a:off x="3932597" y="3900878"/>
            <a:ext cx="538479"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4" name="Google Shape;454;p25"/>
          <p:cNvSpPr/>
          <p:nvPr/>
        </p:nvSpPr>
        <p:spPr>
          <a:xfrm>
            <a:off x="3894497" y="3643852"/>
            <a:ext cx="576579"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0.82</a:t>
            </a:r>
            <a:endParaRPr b="0" i="0" sz="1000" u="none" cap="none" strike="noStrike">
              <a:solidFill>
                <a:schemeClr val="dk1"/>
              </a:solidFill>
              <a:latin typeface="Calibri"/>
              <a:ea typeface="Calibri"/>
              <a:cs typeface="Calibri"/>
              <a:sym typeface="Calibri"/>
            </a:endParaRPr>
          </a:p>
        </p:txBody>
      </p:sp>
      <p:sp>
        <p:nvSpPr>
          <p:cNvPr id="455" name="Google Shape;455;p25"/>
          <p:cNvSpPr/>
          <p:nvPr/>
        </p:nvSpPr>
        <p:spPr>
          <a:xfrm>
            <a:off x="4471076" y="3900878"/>
            <a:ext cx="809811"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6" name="Google Shape;456;p25"/>
          <p:cNvSpPr/>
          <p:nvPr/>
        </p:nvSpPr>
        <p:spPr>
          <a:xfrm>
            <a:off x="4432976" y="3643852"/>
            <a:ext cx="847911"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1C2026"/>
              </a:buClr>
              <a:buSzPts val="1000"/>
              <a:buFont typeface="IBM Plex Sans"/>
              <a:buNone/>
            </a:pPr>
            <a:r>
              <a:rPr b="0" i="0" lang="en" sz="1000" u="none" cap="none" strike="noStrike">
                <a:solidFill>
                  <a:srgbClr val="1C2026"/>
                </a:solidFill>
                <a:latin typeface="IBM Plex Sans"/>
                <a:ea typeface="IBM Plex Sans"/>
                <a:cs typeface="IBM Plex Sans"/>
                <a:sym typeface="IBM Plex Sans"/>
              </a:rPr>
              <a:t>0.034</a:t>
            </a:r>
            <a:endParaRPr b="0" i="0" sz="1000" u="none" cap="none" strike="noStrike">
              <a:solidFill>
                <a:schemeClr val="dk1"/>
              </a:solidFill>
              <a:latin typeface="Calibri"/>
              <a:ea typeface="Calibri"/>
              <a:cs typeface="Calibri"/>
              <a:sym typeface="Calibri"/>
            </a:endParaRPr>
          </a:p>
        </p:txBody>
      </p:sp>
      <p:sp>
        <p:nvSpPr>
          <p:cNvPr id="457" name="Google Shape;457;p25"/>
          <p:cNvSpPr/>
          <p:nvPr/>
        </p:nvSpPr>
        <p:spPr>
          <a:xfrm>
            <a:off x="533363" y="4254345"/>
            <a:ext cx="2207586"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8" name="Google Shape;458;p25"/>
          <p:cNvSpPr/>
          <p:nvPr/>
        </p:nvSpPr>
        <p:spPr>
          <a:xfrm>
            <a:off x="533363" y="3997319"/>
            <a:ext cx="2273814" cy="185589"/>
          </a:xfrm>
          <a:prstGeom prst="rect">
            <a:avLst/>
          </a:prstGeom>
          <a:no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757C85"/>
              </a:buClr>
              <a:buSzPts val="1000"/>
              <a:buFont typeface="IBM Plex Sans"/>
              <a:buNone/>
            </a:pPr>
            <a:r>
              <a:rPr b="0" i="0" lang="en" sz="1000" u="none" cap="none" strike="noStrike">
                <a:solidFill>
                  <a:srgbClr val="757C85"/>
                </a:solidFill>
                <a:latin typeface="IBM Plex Sans"/>
                <a:ea typeface="IBM Plex Sans"/>
                <a:cs typeface="IBM Plex Sans"/>
                <a:sym typeface="IBM Plex Sans"/>
              </a:rPr>
              <a:t>Dummy (predict majority)</a:t>
            </a:r>
            <a:endParaRPr b="0" i="0" sz="1000" u="none" cap="none" strike="noStrike">
              <a:solidFill>
                <a:schemeClr val="dk1"/>
              </a:solidFill>
              <a:latin typeface="Calibri"/>
              <a:ea typeface="Calibri"/>
              <a:cs typeface="Calibri"/>
              <a:sym typeface="Calibri"/>
            </a:endParaRPr>
          </a:p>
        </p:txBody>
      </p:sp>
      <p:sp>
        <p:nvSpPr>
          <p:cNvPr id="459" name="Google Shape;459;p25"/>
          <p:cNvSpPr/>
          <p:nvPr/>
        </p:nvSpPr>
        <p:spPr>
          <a:xfrm>
            <a:off x="2740949" y="4254345"/>
            <a:ext cx="647495"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0" name="Google Shape;460;p25"/>
          <p:cNvSpPr/>
          <p:nvPr/>
        </p:nvSpPr>
        <p:spPr>
          <a:xfrm>
            <a:off x="2702849" y="3997319"/>
            <a:ext cx="685595"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1000"/>
              <a:buFont typeface="IBM Plex Sans"/>
              <a:buNone/>
            </a:pPr>
            <a:r>
              <a:rPr b="0" i="0" lang="en" sz="1000" u="none" cap="none" strike="noStrike">
                <a:solidFill>
                  <a:srgbClr val="757C85"/>
                </a:solidFill>
                <a:latin typeface="IBM Plex Sans"/>
                <a:ea typeface="IBM Plex Sans"/>
                <a:cs typeface="IBM Plex Sans"/>
                <a:sym typeface="IBM Plex Sans"/>
              </a:rPr>
              <a:t>0.500</a:t>
            </a:r>
            <a:endParaRPr b="0" i="0" sz="1000" u="none" cap="none" strike="noStrike">
              <a:solidFill>
                <a:schemeClr val="dk1"/>
              </a:solidFill>
              <a:latin typeface="Calibri"/>
              <a:ea typeface="Calibri"/>
              <a:cs typeface="Calibri"/>
              <a:sym typeface="Calibri"/>
            </a:endParaRPr>
          </a:p>
        </p:txBody>
      </p:sp>
      <p:sp>
        <p:nvSpPr>
          <p:cNvPr id="461" name="Google Shape;461;p25"/>
          <p:cNvSpPr/>
          <p:nvPr/>
        </p:nvSpPr>
        <p:spPr>
          <a:xfrm>
            <a:off x="3388445" y="4254345"/>
            <a:ext cx="544153"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2" name="Google Shape;462;p25"/>
          <p:cNvSpPr/>
          <p:nvPr/>
        </p:nvSpPr>
        <p:spPr>
          <a:xfrm>
            <a:off x="3350345" y="3997319"/>
            <a:ext cx="582253"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1000"/>
              <a:buFont typeface="IBM Plex Sans"/>
              <a:buNone/>
            </a:pPr>
            <a:r>
              <a:rPr b="0" i="0" lang="en" sz="1000" u="none" cap="none" strike="noStrike">
                <a:solidFill>
                  <a:srgbClr val="757C85"/>
                </a:solidFill>
                <a:latin typeface="IBM Plex Sans"/>
                <a:ea typeface="IBM Plex Sans"/>
                <a:cs typeface="IBM Plex Sans"/>
                <a:sym typeface="IBM Plex Sans"/>
              </a:rPr>
              <a:t>0.003</a:t>
            </a:r>
            <a:endParaRPr b="0" i="0" sz="1000" u="none" cap="none" strike="noStrike">
              <a:solidFill>
                <a:schemeClr val="dk1"/>
              </a:solidFill>
              <a:latin typeface="Calibri"/>
              <a:ea typeface="Calibri"/>
              <a:cs typeface="Calibri"/>
              <a:sym typeface="Calibri"/>
            </a:endParaRPr>
          </a:p>
        </p:txBody>
      </p:sp>
      <p:sp>
        <p:nvSpPr>
          <p:cNvPr id="463" name="Google Shape;463;p25"/>
          <p:cNvSpPr/>
          <p:nvPr/>
        </p:nvSpPr>
        <p:spPr>
          <a:xfrm>
            <a:off x="3932597" y="4254345"/>
            <a:ext cx="538479"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4" name="Google Shape;464;p25"/>
          <p:cNvSpPr/>
          <p:nvPr/>
        </p:nvSpPr>
        <p:spPr>
          <a:xfrm>
            <a:off x="3894497" y="3997319"/>
            <a:ext cx="576579"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1000"/>
              <a:buFont typeface="IBM Plex Sans"/>
              <a:buNone/>
            </a:pPr>
            <a:r>
              <a:rPr b="0" i="0" lang="en" sz="1000" u="none" cap="none" strike="noStrike">
                <a:solidFill>
                  <a:srgbClr val="757C85"/>
                </a:solidFill>
                <a:latin typeface="IBM Plex Sans"/>
                <a:ea typeface="IBM Plex Sans"/>
                <a:cs typeface="IBM Plex Sans"/>
                <a:sym typeface="IBM Plex Sans"/>
              </a:rPr>
              <a:t>0.00</a:t>
            </a:r>
            <a:endParaRPr b="0" i="0" sz="1000" u="none" cap="none" strike="noStrike">
              <a:solidFill>
                <a:schemeClr val="dk1"/>
              </a:solidFill>
              <a:latin typeface="Calibri"/>
              <a:ea typeface="Calibri"/>
              <a:cs typeface="Calibri"/>
              <a:sym typeface="Calibri"/>
            </a:endParaRPr>
          </a:p>
        </p:txBody>
      </p:sp>
      <p:sp>
        <p:nvSpPr>
          <p:cNvPr id="465" name="Google Shape;465;p25"/>
          <p:cNvSpPr/>
          <p:nvPr/>
        </p:nvSpPr>
        <p:spPr>
          <a:xfrm>
            <a:off x="4471076" y="4254345"/>
            <a:ext cx="809811" cy="5953"/>
          </a:xfrm>
          <a:prstGeom prst="rect">
            <a:avLst/>
          </a:prstGeom>
          <a:solidFill>
            <a:srgbClr val="1C2026">
              <a:alpha val="9019"/>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6" name="Google Shape;466;p25"/>
          <p:cNvSpPr/>
          <p:nvPr/>
        </p:nvSpPr>
        <p:spPr>
          <a:xfrm>
            <a:off x="4432976" y="3997319"/>
            <a:ext cx="847911" cy="185589"/>
          </a:xfrm>
          <a:prstGeom prst="rect">
            <a:avLst/>
          </a:prstGeom>
          <a:no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757C85"/>
              </a:buClr>
              <a:buSzPts val="1000"/>
              <a:buFont typeface="IBM Plex Sans"/>
              <a:buNone/>
            </a:pPr>
            <a:r>
              <a:rPr b="0" i="0" lang="en" sz="1000" u="none" cap="none" strike="noStrike">
                <a:solidFill>
                  <a:srgbClr val="757C85"/>
                </a:solidFill>
                <a:latin typeface="IBM Plex Sans"/>
                <a:ea typeface="IBM Plex Sans"/>
                <a:cs typeface="IBM Plex Sans"/>
                <a:sym typeface="IBM Plex Sans"/>
              </a:rPr>
              <a:t>0.00</a:t>
            </a:r>
            <a:endParaRPr b="0" i="0" sz="1000" u="none" cap="none" strike="noStrike">
              <a:solidFill>
                <a:schemeClr val="dk1"/>
              </a:solidFill>
              <a:latin typeface="Calibri"/>
              <a:ea typeface="Calibri"/>
              <a:cs typeface="Calibri"/>
              <a:sym typeface="Calibri"/>
            </a:endParaRPr>
          </a:p>
        </p:txBody>
      </p:sp>
      <p:sp>
        <p:nvSpPr>
          <p:cNvPr id="467" name="Google Shape;467;p25"/>
          <p:cNvSpPr/>
          <p:nvPr/>
        </p:nvSpPr>
        <p:spPr>
          <a:xfrm>
            <a:off x="5642819" y="1951881"/>
            <a:ext cx="2648902" cy="761702"/>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ROC-AUC clusters tightly between 0.90 and 0.95, so it can't tell these models apart. PR-AUC can: oversampled gradient-boosted trees pull clearly ahead.</a:t>
            </a:r>
            <a:endParaRPr b="0" i="0" sz="1000" u="none" cap="none" strike="noStrike">
              <a:solidFill>
                <a:schemeClr val="dk1"/>
              </a:solidFill>
              <a:latin typeface="Calibri"/>
              <a:ea typeface="Calibri"/>
              <a:cs typeface="Calibri"/>
              <a:sym typeface="Calibri"/>
            </a:endParaRPr>
          </a:p>
        </p:txBody>
      </p:sp>
      <p:sp>
        <p:nvSpPr>
          <p:cNvPr id="468" name="Google Shape;468;p25"/>
          <p:cNvSpPr/>
          <p:nvPr/>
        </p:nvSpPr>
        <p:spPr>
          <a:xfrm>
            <a:off x="5642819" y="2818340"/>
            <a:ext cx="2648902" cy="947366"/>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The neural network buys precision at the cost of catching only a quarter of defaults; the linear models do the reverse. </a:t>
            </a:r>
            <a:r>
              <a:rPr b="1" i="0" lang="en" sz="1000" u="none" cap="none" strike="noStrike">
                <a:solidFill>
                  <a:srgbClr val="454C55"/>
                </a:solidFill>
                <a:latin typeface="IBM Plex Sans"/>
                <a:ea typeface="IBM Plex Sans"/>
                <a:cs typeface="IBM Plex Sans"/>
                <a:sym typeface="IBM Plex Sans"/>
              </a:rPr>
              <a:t>Oversampled LightGBM </a:t>
            </a:r>
            <a:r>
              <a:rPr b="0" i="0" lang="en" sz="1000" u="none" cap="none" strike="noStrike">
                <a:solidFill>
                  <a:srgbClr val="454C55"/>
                </a:solidFill>
                <a:latin typeface="IBM Plex Sans"/>
                <a:ea typeface="IBM Plex Sans"/>
                <a:cs typeface="IBM Plex Sans"/>
                <a:sym typeface="IBM Plex Sans"/>
              </a:rPr>
              <a:t>strikes the best balance and trains fastest on data this size.</a:t>
            </a:r>
            <a:endParaRPr b="0" i="0" sz="1000" u="none" cap="none" strike="noStrike">
              <a:solidFill>
                <a:schemeClr val="dk1"/>
              </a:solidFill>
              <a:latin typeface="Calibri"/>
              <a:ea typeface="Calibri"/>
              <a:cs typeface="Calibri"/>
              <a:sym typeface="Calibri"/>
            </a:endParaRPr>
          </a:p>
        </p:txBody>
      </p:sp>
      <p:sp>
        <p:nvSpPr>
          <p:cNvPr id="469" name="Google Shape;469;p25"/>
          <p:cNvSpPr/>
          <p:nvPr/>
        </p:nvSpPr>
        <p:spPr>
          <a:xfrm>
            <a:off x="5642819" y="3870462"/>
            <a:ext cx="2648902" cy="361913"/>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Metrics shown at the default 0.5 cutoff; the shipped operating point is tuned next.</a:t>
            </a:r>
            <a:endParaRPr b="0" i="0" sz="900" u="none" cap="none" strike="noStrike">
              <a:solidFill>
                <a:schemeClr val="dk1"/>
              </a:solidFill>
              <a:latin typeface="Calibri"/>
              <a:ea typeface="Calibri"/>
              <a:cs typeface="Calibri"/>
              <a:sym typeface="Calibri"/>
            </a:endParaRPr>
          </a:p>
        </p:txBody>
      </p:sp>
      <p:sp>
        <p:nvSpPr>
          <p:cNvPr id="470" name="Google Shape;470;p25"/>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471" name="Google Shape;471;p25"/>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476" name="Shape 476"/>
        <p:cNvGrpSpPr/>
        <p:nvPr/>
      </p:nvGrpSpPr>
      <p:grpSpPr>
        <a:xfrm>
          <a:off x="0" y="0"/>
          <a:ext cx="0" cy="0"/>
          <a:chOff x="0" y="0"/>
          <a:chExt cx="0" cy="0"/>
        </a:xfrm>
      </p:grpSpPr>
      <p:sp>
        <p:nvSpPr>
          <p:cNvPr id="477" name="Google Shape;477;p26"/>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78" name="Google Shape;478;p26"/>
          <p:cNvSpPr/>
          <p:nvPr/>
        </p:nvSpPr>
        <p:spPr>
          <a:xfrm>
            <a:off x="533363" y="399976"/>
            <a:ext cx="109385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11 · THRESHOLD</a:t>
            </a:r>
            <a:endParaRPr b="0" i="0" sz="900" u="none" cap="none" strike="noStrike">
              <a:solidFill>
                <a:schemeClr val="dk1"/>
              </a:solidFill>
              <a:latin typeface="Calibri"/>
              <a:ea typeface="Calibri"/>
              <a:cs typeface="Calibri"/>
              <a:sym typeface="Calibri"/>
            </a:endParaRPr>
          </a:p>
        </p:txBody>
      </p:sp>
      <p:sp>
        <p:nvSpPr>
          <p:cNvPr id="479" name="Google Shape;479;p26"/>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12</a:t>
            </a:r>
            <a:endParaRPr b="0" i="0" sz="900" u="none" cap="none" strike="noStrike">
              <a:solidFill>
                <a:schemeClr val="dk1"/>
              </a:solidFill>
              <a:latin typeface="Calibri"/>
              <a:ea typeface="Calibri"/>
              <a:cs typeface="Calibri"/>
              <a:sym typeface="Calibri"/>
            </a:endParaRPr>
          </a:p>
        </p:txBody>
      </p:sp>
      <p:sp>
        <p:nvSpPr>
          <p:cNvPr id="480" name="Google Shape;480;p26"/>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marR="0" rtl="0" algn="l">
              <a:lnSpc>
                <a:spcPct val="106000"/>
              </a:lnSpc>
              <a:spcBef>
                <a:spcPts val="0"/>
              </a:spcBef>
              <a:spcAft>
                <a:spcPts val="0"/>
              </a:spcAft>
              <a:buClr>
                <a:srgbClr val="1C2026"/>
              </a:buClr>
              <a:buSzPts val="2600"/>
              <a:buFont typeface="IBM Plex Sans"/>
              <a:buNone/>
            </a:pPr>
            <a:r>
              <a:rPr b="1" i="0" lang="en" sz="2600" u="none" cap="none" strike="noStrike">
                <a:solidFill>
                  <a:srgbClr val="1C2026"/>
                </a:solidFill>
                <a:latin typeface="IBM Plex Sans"/>
                <a:ea typeface="IBM Plex Sans"/>
                <a:cs typeface="IBM Plex Sans"/>
                <a:sym typeface="IBM Plex Sans"/>
              </a:rPr>
              <a:t>Choosing </a:t>
            </a:r>
            <a:r>
              <a:rPr b="1" lang="en" sz="2600">
                <a:solidFill>
                  <a:srgbClr val="1C2026"/>
                </a:solidFill>
                <a:latin typeface="IBM Plex Sans"/>
                <a:ea typeface="IBM Plex Sans"/>
                <a:cs typeface="IBM Plex Sans"/>
                <a:sym typeface="IBM Plex Sans"/>
              </a:rPr>
              <a:t>Where to Draw the Line</a:t>
            </a:r>
            <a:endParaRPr b="0" i="0" sz="2600" u="none" cap="none" strike="noStrike">
              <a:solidFill>
                <a:schemeClr val="dk1"/>
              </a:solidFill>
              <a:latin typeface="Calibri"/>
              <a:ea typeface="Calibri"/>
              <a:cs typeface="Calibri"/>
              <a:sym typeface="Calibri"/>
            </a:endParaRPr>
          </a:p>
        </p:txBody>
      </p:sp>
      <p:sp>
        <p:nvSpPr>
          <p:cNvPr id="481" name="Google Shape;481;p26"/>
          <p:cNvSpPr/>
          <p:nvPr/>
        </p:nvSpPr>
        <p:spPr>
          <a:xfrm>
            <a:off x="533363" y="2046015"/>
            <a:ext cx="3728085" cy="761702"/>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The model outputs a probability; I choose the cutoff that turns it into a flag. Because the goal is to catch as many future-delinquent loans as possible, I pushed the threshold up to </a:t>
            </a:r>
            <a:r>
              <a:rPr b="1" i="0" lang="en" sz="1000" u="none" cap="none" strike="noStrike">
                <a:solidFill>
                  <a:srgbClr val="454C55"/>
                </a:solidFill>
                <a:latin typeface="IBM Plex Sans"/>
                <a:ea typeface="IBM Plex Sans"/>
                <a:cs typeface="IBM Plex Sans"/>
                <a:sym typeface="IBM Plex Sans"/>
              </a:rPr>
              <a:t>0.70 </a:t>
            </a:r>
            <a:r>
              <a:rPr b="0" i="0" lang="en" sz="1000" u="none" cap="none" strike="noStrike">
                <a:solidFill>
                  <a:srgbClr val="454C55"/>
                </a:solidFill>
                <a:latin typeface="IBM Plex Sans"/>
                <a:ea typeface="IBM Plex Sans"/>
                <a:cs typeface="IBM Plex Sans"/>
                <a:sym typeface="IBM Plex Sans"/>
              </a:rPr>
              <a:t>, accepting more false alarms to hold recall near 0.71.</a:t>
            </a:r>
            <a:endParaRPr b="0" i="0" sz="1000" u="none" cap="none" strike="noStrike">
              <a:solidFill>
                <a:schemeClr val="dk1"/>
              </a:solidFill>
              <a:latin typeface="Calibri"/>
              <a:ea typeface="Calibri"/>
              <a:cs typeface="Calibri"/>
              <a:sym typeface="Calibri"/>
            </a:endParaRPr>
          </a:p>
        </p:txBody>
      </p:sp>
      <p:sp>
        <p:nvSpPr>
          <p:cNvPr id="482" name="Google Shape;482;p26"/>
          <p:cNvSpPr/>
          <p:nvPr/>
        </p:nvSpPr>
        <p:spPr>
          <a:xfrm>
            <a:off x="533363" y="2921961"/>
            <a:ext cx="3728085" cy="576040"/>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Even at that aggressive setting, the model flags under 1.4% of the book for review, keeping the queue small enough for a servicing team to actually work.</a:t>
            </a:r>
            <a:endParaRPr b="0" i="0" sz="1000" u="none" cap="none" strike="noStrike">
              <a:solidFill>
                <a:schemeClr val="dk1"/>
              </a:solidFill>
              <a:latin typeface="Calibri"/>
              <a:ea typeface="Calibri"/>
              <a:cs typeface="Calibri"/>
              <a:sym typeface="Calibri"/>
            </a:endParaRPr>
          </a:p>
        </p:txBody>
      </p:sp>
      <p:sp>
        <p:nvSpPr>
          <p:cNvPr id="483" name="Google Shape;483;p26"/>
          <p:cNvSpPr/>
          <p:nvPr/>
        </p:nvSpPr>
        <p:spPr>
          <a:xfrm>
            <a:off x="533363" y="3650289"/>
            <a:ext cx="1287791" cy="308614"/>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A64437"/>
              </a:buClr>
              <a:buSzPts val="2400"/>
              <a:buFont typeface="IBM Plex Sans"/>
              <a:buNone/>
            </a:pPr>
            <a:r>
              <a:rPr b="1" i="0" lang="en" sz="2400" u="none" cap="none" strike="noStrike">
                <a:solidFill>
                  <a:srgbClr val="A64437"/>
                </a:solidFill>
                <a:latin typeface="IBM Plex Sans"/>
                <a:ea typeface="IBM Plex Sans"/>
                <a:cs typeface="IBM Plex Sans"/>
                <a:sym typeface="IBM Plex Sans"/>
              </a:rPr>
              <a:t>0.70</a:t>
            </a:r>
            <a:endParaRPr b="0" i="0" sz="2400" u="none" cap="none" strike="noStrike">
              <a:solidFill>
                <a:schemeClr val="dk1"/>
              </a:solidFill>
              <a:latin typeface="Calibri"/>
              <a:ea typeface="Calibri"/>
              <a:cs typeface="Calibri"/>
              <a:sym typeface="Calibri"/>
            </a:endParaRPr>
          </a:p>
        </p:txBody>
      </p:sp>
      <p:sp>
        <p:nvSpPr>
          <p:cNvPr id="484" name="Google Shape;484;p26"/>
          <p:cNvSpPr/>
          <p:nvPr/>
        </p:nvSpPr>
        <p:spPr>
          <a:xfrm>
            <a:off x="533363" y="4006453"/>
            <a:ext cx="1287791"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CHOSEN THRESHOLD</a:t>
            </a:r>
            <a:endParaRPr b="0" i="0" sz="900" u="none" cap="none" strike="noStrike">
              <a:solidFill>
                <a:schemeClr val="dk1"/>
              </a:solidFill>
              <a:latin typeface="Calibri"/>
              <a:ea typeface="Calibri"/>
              <a:cs typeface="Calibri"/>
              <a:sym typeface="Calibri"/>
            </a:endParaRPr>
          </a:p>
        </p:txBody>
      </p:sp>
      <p:sp>
        <p:nvSpPr>
          <p:cNvPr id="485" name="Google Shape;485;p26"/>
          <p:cNvSpPr/>
          <p:nvPr/>
        </p:nvSpPr>
        <p:spPr>
          <a:xfrm>
            <a:off x="2049736" y="3650289"/>
            <a:ext cx="833121" cy="308614"/>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46525F"/>
              </a:buClr>
              <a:buSzPts val="2400"/>
              <a:buFont typeface="IBM Plex Sans"/>
              <a:buNone/>
            </a:pPr>
            <a:r>
              <a:rPr b="1" i="0" lang="en" sz="2400" u="none" cap="none" strike="noStrike">
                <a:solidFill>
                  <a:srgbClr val="46525F"/>
                </a:solidFill>
                <a:latin typeface="IBM Plex Sans"/>
                <a:ea typeface="IBM Plex Sans"/>
                <a:cs typeface="IBM Plex Sans"/>
                <a:sym typeface="IBM Plex Sans"/>
              </a:rPr>
              <a:t>0.71</a:t>
            </a:r>
            <a:endParaRPr b="0" i="0" sz="2400" u="none" cap="none" strike="noStrike">
              <a:solidFill>
                <a:schemeClr val="dk1"/>
              </a:solidFill>
              <a:latin typeface="Calibri"/>
              <a:ea typeface="Calibri"/>
              <a:cs typeface="Calibri"/>
              <a:sym typeface="Calibri"/>
            </a:endParaRPr>
          </a:p>
        </p:txBody>
      </p:sp>
      <p:sp>
        <p:nvSpPr>
          <p:cNvPr id="486" name="Google Shape;486;p26"/>
          <p:cNvSpPr/>
          <p:nvPr/>
        </p:nvSpPr>
        <p:spPr>
          <a:xfrm>
            <a:off x="2049736" y="4006453"/>
            <a:ext cx="833121"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RECALL HELD</a:t>
            </a:r>
            <a:endParaRPr b="0" i="0" sz="900" u="none" cap="none" strike="noStrike">
              <a:solidFill>
                <a:schemeClr val="dk1"/>
              </a:solidFill>
              <a:latin typeface="Calibri"/>
              <a:ea typeface="Calibri"/>
              <a:cs typeface="Calibri"/>
              <a:sym typeface="Calibri"/>
            </a:endParaRPr>
          </a:p>
        </p:txBody>
      </p:sp>
      <p:sp>
        <p:nvSpPr>
          <p:cNvPr id="487" name="Google Shape;487;p26"/>
          <p:cNvSpPr/>
          <p:nvPr/>
        </p:nvSpPr>
        <p:spPr>
          <a:xfrm>
            <a:off x="4432846" y="1374149"/>
            <a:ext cx="4177699" cy="3453092"/>
          </a:xfrm>
          <a:prstGeom prst="roundRect">
            <a:avLst>
              <a:gd fmla="val 828" name="adj"/>
            </a:avLst>
          </a:prstGeom>
          <a:solidFill>
            <a:srgbClr val="FFFFFF"/>
          </a:solidFill>
          <a:ln cap="flat" cmpd="sng" w="11900">
            <a:solidFill>
              <a:srgbClr val="1C2026">
                <a:alpha val="16078"/>
              </a:srgbClr>
            </a:solidFill>
            <a:prstDash val="solid"/>
            <a:round/>
            <a:headEnd len="sm" w="sm" type="none"/>
            <a:tailEnd len="sm" w="sm" type="none"/>
          </a:ln>
          <a:effectLst>
            <a:outerShdw blurRad="19050" rotWithShape="0" algn="bl" dir="5400000" dist="9525">
              <a:srgbClr val="14202E">
                <a:alpha val="5882"/>
              </a:srgbClr>
            </a:outerShdw>
          </a:effectLst>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descr="preencoded.png" id="488" name="Google Shape;488;p26"/>
          <p:cNvPicPr preferRelativeResize="0"/>
          <p:nvPr/>
        </p:nvPicPr>
        <p:blipFill rotWithShape="1">
          <a:blip r:embed="rId3">
            <a:alphaModFix/>
          </a:blip>
          <a:srcRect b="0" l="-1" r="-1" t="0"/>
          <a:stretch/>
        </p:blipFill>
        <p:spPr>
          <a:xfrm>
            <a:off x="4543536" y="1484839"/>
            <a:ext cx="3956317" cy="2637514"/>
          </a:xfrm>
          <a:prstGeom prst="rect">
            <a:avLst/>
          </a:prstGeom>
          <a:noFill/>
          <a:ln>
            <a:noFill/>
          </a:ln>
        </p:spPr>
      </p:pic>
      <p:sp>
        <p:nvSpPr>
          <p:cNvPr id="489" name="Google Shape;489;p26"/>
          <p:cNvSpPr/>
          <p:nvPr/>
        </p:nvSpPr>
        <p:spPr>
          <a:xfrm>
            <a:off x="4543536" y="4122353"/>
            <a:ext cx="4075006" cy="499021"/>
          </a:xfrm>
          <a:prstGeom prst="rect">
            <a:avLst/>
          </a:prstGeom>
          <a:noFill/>
          <a:ln>
            <a:noFill/>
          </a:ln>
        </p:spPr>
        <p:txBody>
          <a:bodyPr anchorCtr="0" anchor="t" bIns="12700" lIns="12700" spcFirstLastPara="1" rIns="12700" wrap="square" tIns="12700">
            <a:noAutofit/>
          </a:bodyPr>
          <a:lstStyle/>
          <a:p>
            <a:pPr indent="0" lvl="0" marL="0" marR="0" rtl="0" algn="l">
              <a:lnSpc>
                <a:spcPct val="140000"/>
              </a:lnSpc>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FIG 02 </a:t>
            </a:r>
            <a:r>
              <a:rPr b="0" i="0" lang="en" sz="900" u="none" cap="none" strike="noStrike">
                <a:solidFill>
                  <a:srgbClr val="757C85"/>
                </a:solidFill>
                <a:latin typeface="IBM Plex Sans"/>
                <a:ea typeface="IBM Plex Sans"/>
                <a:cs typeface="IBM Plex Sans"/>
                <a:sym typeface="IBM Plex Sans"/>
              </a:rPr>
              <a:t>Precision against recall as the decision threshold sweeps. The recall-focused goal moves the operating point right, trading precision for coverage.</a:t>
            </a:r>
            <a:endParaRPr b="0" i="0" sz="900" u="none" cap="none" strike="noStrike">
              <a:solidFill>
                <a:schemeClr val="dk1"/>
              </a:solidFill>
              <a:latin typeface="Calibri"/>
              <a:ea typeface="Calibri"/>
              <a:cs typeface="Calibri"/>
              <a:sym typeface="Calibri"/>
            </a:endParaRPr>
          </a:p>
        </p:txBody>
      </p:sp>
      <p:sp>
        <p:nvSpPr>
          <p:cNvPr id="490" name="Google Shape;490;p26"/>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491" name="Google Shape;491;p26"/>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496" name="Shape 496"/>
        <p:cNvGrpSpPr/>
        <p:nvPr/>
      </p:nvGrpSpPr>
      <p:grpSpPr>
        <a:xfrm>
          <a:off x="0" y="0"/>
          <a:ext cx="0" cy="0"/>
          <a:chOff x="0" y="0"/>
          <a:chExt cx="0" cy="0"/>
        </a:xfrm>
      </p:grpSpPr>
      <p:sp>
        <p:nvSpPr>
          <p:cNvPr id="497" name="Google Shape;497;p27"/>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8" name="Google Shape;498;p27"/>
          <p:cNvSpPr/>
          <p:nvPr/>
        </p:nvSpPr>
        <p:spPr>
          <a:xfrm>
            <a:off x="533363" y="399976"/>
            <a:ext cx="131391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12 · FINAL RESULTS</a:t>
            </a:r>
            <a:endParaRPr b="0" i="0" sz="900" u="none" cap="none" strike="noStrike">
              <a:solidFill>
                <a:schemeClr val="dk1"/>
              </a:solidFill>
              <a:latin typeface="Calibri"/>
              <a:ea typeface="Calibri"/>
              <a:cs typeface="Calibri"/>
              <a:sym typeface="Calibri"/>
            </a:endParaRPr>
          </a:p>
        </p:txBody>
      </p:sp>
      <p:sp>
        <p:nvSpPr>
          <p:cNvPr id="499" name="Google Shape;499;p27"/>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13</a:t>
            </a:r>
            <a:endParaRPr b="0" i="0" sz="900" u="none" cap="none" strike="noStrike">
              <a:solidFill>
                <a:schemeClr val="dk1"/>
              </a:solidFill>
              <a:latin typeface="Calibri"/>
              <a:ea typeface="Calibri"/>
              <a:cs typeface="Calibri"/>
              <a:sym typeface="Calibri"/>
            </a:endParaRPr>
          </a:p>
        </p:txBody>
      </p:sp>
      <p:sp>
        <p:nvSpPr>
          <p:cNvPr id="500" name="Google Shape;500;p27"/>
          <p:cNvSpPr/>
          <p:nvPr/>
        </p:nvSpPr>
        <p:spPr>
          <a:xfrm>
            <a:off x="533363" y="849995"/>
            <a:ext cx="8319593" cy="362285"/>
          </a:xfrm>
          <a:prstGeom prst="rect">
            <a:avLst/>
          </a:prstGeom>
          <a:noFill/>
          <a:ln>
            <a:noFill/>
          </a:ln>
        </p:spPr>
        <p:txBody>
          <a:bodyPr anchorCtr="0" anchor="t" bIns="12700" lIns="12700" spcFirstLastPara="1" rIns="12700" wrap="square" tIns="12700">
            <a:noAutofit/>
          </a:bodyPr>
          <a:lstStyle/>
          <a:p>
            <a:pPr indent="0" lvl="0" marL="0" marR="0" rtl="0" algn="l">
              <a:lnSpc>
                <a:spcPct val="106000"/>
              </a:lnSpc>
              <a:spcBef>
                <a:spcPts val="0"/>
              </a:spcBef>
              <a:spcAft>
                <a:spcPts val="0"/>
              </a:spcAft>
              <a:buClr>
                <a:srgbClr val="1C2026"/>
              </a:buClr>
              <a:buSzPts val="2600"/>
              <a:buFont typeface="IBM Plex Sans"/>
              <a:buNone/>
            </a:pPr>
            <a:r>
              <a:rPr b="1" i="0" lang="en" sz="2600" u="none" cap="none" strike="noStrike">
                <a:solidFill>
                  <a:srgbClr val="1C2026"/>
                </a:solidFill>
                <a:latin typeface="IBM Plex Sans"/>
                <a:ea typeface="IBM Plex Sans"/>
                <a:cs typeface="IBM Plex Sans"/>
                <a:sym typeface="IBM Plex Sans"/>
              </a:rPr>
              <a:t>The </a:t>
            </a:r>
            <a:r>
              <a:rPr b="1" lang="en" sz="2600">
                <a:solidFill>
                  <a:srgbClr val="1C2026"/>
                </a:solidFill>
                <a:latin typeface="IBM Plex Sans"/>
                <a:ea typeface="IBM Plex Sans"/>
                <a:cs typeface="IBM Plex Sans"/>
                <a:sym typeface="IBM Plex Sans"/>
              </a:rPr>
              <a:t>Final Metrics</a:t>
            </a:r>
            <a:endParaRPr b="0" i="0" sz="2600" u="none" cap="none" strike="noStrike">
              <a:solidFill>
                <a:schemeClr val="dk1"/>
              </a:solidFill>
              <a:latin typeface="Calibri"/>
              <a:ea typeface="Calibri"/>
              <a:cs typeface="Calibri"/>
              <a:sym typeface="Calibri"/>
            </a:endParaRPr>
          </a:p>
        </p:txBody>
      </p:sp>
      <p:sp>
        <p:nvSpPr>
          <p:cNvPr id="501" name="Google Shape;501;p27"/>
          <p:cNvSpPr/>
          <p:nvPr/>
        </p:nvSpPr>
        <p:spPr>
          <a:xfrm>
            <a:off x="533363" y="1412286"/>
            <a:ext cx="1913192" cy="489533"/>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1C2026"/>
              </a:buClr>
              <a:buSzPts val="3900"/>
              <a:buFont typeface="IBM Plex Sans"/>
              <a:buNone/>
            </a:pPr>
            <a:r>
              <a:rPr b="1" i="0" lang="en" sz="3900" u="none" cap="none" strike="noStrike">
                <a:solidFill>
                  <a:srgbClr val="1C2026"/>
                </a:solidFill>
                <a:latin typeface="IBM Plex Sans"/>
                <a:ea typeface="IBM Plex Sans"/>
                <a:cs typeface="IBM Plex Sans"/>
                <a:sym typeface="IBM Plex Sans"/>
              </a:rPr>
              <a:t>0.949</a:t>
            </a:r>
            <a:endParaRPr b="0" i="0" sz="3900" u="none" cap="none" strike="noStrike">
              <a:solidFill>
                <a:schemeClr val="dk1"/>
              </a:solidFill>
              <a:latin typeface="Calibri"/>
              <a:ea typeface="Calibri"/>
              <a:cs typeface="Calibri"/>
              <a:sym typeface="Calibri"/>
            </a:endParaRPr>
          </a:p>
        </p:txBody>
      </p:sp>
      <p:sp>
        <p:nvSpPr>
          <p:cNvPr id="502" name="Google Shape;502;p27"/>
          <p:cNvSpPr/>
          <p:nvPr/>
        </p:nvSpPr>
        <p:spPr>
          <a:xfrm>
            <a:off x="533363" y="1949370"/>
            <a:ext cx="191319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ROC-AUC · HELD-OUT</a:t>
            </a:r>
            <a:endParaRPr b="0" i="0" sz="900" u="none" cap="none" strike="noStrike">
              <a:solidFill>
                <a:schemeClr val="dk1"/>
              </a:solidFill>
              <a:latin typeface="Calibri"/>
              <a:ea typeface="Calibri"/>
              <a:cs typeface="Calibri"/>
              <a:sym typeface="Calibri"/>
            </a:endParaRPr>
          </a:p>
        </p:txBody>
      </p:sp>
      <p:sp>
        <p:nvSpPr>
          <p:cNvPr id="503" name="Google Shape;503;p27"/>
          <p:cNvSpPr/>
          <p:nvPr/>
        </p:nvSpPr>
        <p:spPr>
          <a:xfrm>
            <a:off x="2552682" y="1412286"/>
            <a:ext cx="5953" cy="685911"/>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4" name="Google Shape;504;p27"/>
          <p:cNvSpPr/>
          <p:nvPr/>
        </p:nvSpPr>
        <p:spPr>
          <a:xfrm>
            <a:off x="2720485" y="1412286"/>
            <a:ext cx="1740354" cy="489533"/>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46525F"/>
              </a:buClr>
              <a:buSzPts val="3900"/>
              <a:buFont typeface="IBM Plex Sans"/>
              <a:buNone/>
            </a:pPr>
            <a:r>
              <a:rPr b="1" i="0" lang="en" sz="3900" u="none" cap="none" strike="noStrike">
                <a:solidFill>
                  <a:srgbClr val="46525F"/>
                </a:solidFill>
                <a:latin typeface="IBM Plex Sans"/>
                <a:ea typeface="IBM Plex Sans"/>
                <a:cs typeface="IBM Plex Sans"/>
                <a:sym typeface="IBM Plex Sans"/>
              </a:rPr>
              <a:t>0.71</a:t>
            </a:r>
            <a:endParaRPr b="0" i="0" sz="3900" u="none" cap="none" strike="noStrike">
              <a:solidFill>
                <a:schemeClr val="dk1"/>
              </a:solidFill>
              <a:latin typeface="Calibri"/>
              <a:ea typeface="Calibri"/>
              <a:cs typeface="Calibri"/>
              <a:sym typeface="Calibri"/>
            </a:endParaRPr>
          </a:p>
        </p:txBody>
      </p:sp>
      <p:sp>
        <p:nvSpPr>
          <p:cNvPr id="505" name="Google Shape;505;p27"/>
          <p:cNvSpPr/>
          <p:nvPr/>
        </p:nvSpPr>
        <p:spPr>
          <a:xfrm>
            <a:off x="2720485" y="1949370"/>
            <a:ext cx="174035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RECALL</a:t>
            </a:r>
            <a:endParaRPr b="0" i="0" sz="900" u="none" cap="none" strike="noStrike">
              <a:solidFill>
                <a:schemeClr val="dk1"/>
              </a:solidFill>
              <a:latin typeface="Calibri"/>
              <a:ea typeface="Calibri"/>
              <a:cs typeface="Calibri"/>
              <a:sym typeface="Calibri"/>
            </a:endParaRPr>
          </a:p>
        </p:txBody>
      </p:sp>
      <p:sp>
        <p:nvSpPr>
          <p:cNvPr id="506" name="Google Shape;506;p27"/>
          <p:cNvSpPr/>
          <p:nvPr/>
        </p:nvSpPr>
        <p:spPr>
          <a:xfrm>
            <a:off x="4572000" y="1412286"/>
            <a:ext cx="5953" cy="685911"/>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07" name="Google Shape;507;p27"/>
          <p:cNvSpPr/>
          <p:nvPr/>
        </p:nvSpPr>
        <p:spPr>
          <a:xfrm>
            <a:off x="4739804" y="1412286"/>
            <a:ext cx="1740354" cy="489533"/>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1C2026"/>
              </a:buClr>
              <a:buSzPts val="3900"/>
              <a:buFont typeface="IBM Plex Sans"/>
              <a:buNone/>
            </a:pPr>
            <a:r>
              <a:rPr b="1" i="0" lang="en" sz="3900" u="none" cap="none" strike="noStrike">
                <a:solidFill>
                  <a:srgbClr val="1C2026"/>
                </a:solidFill>
                <a:latin typeface="IBM Plex Sans"/>
                <a:ea typeface="IBM Plex Sans"/>
                <a:cs typeface="IBM Plex Sans"/>
                <a:sym typeface="IBM Plex Sans"/>
              </a:rPr>
              <a:t>0.34</a:t>
            </a:r>
            <a:endParaRPr b="0" i="0" sz="3900" u="none" cap="none" strike="noStrike">
              <a:solidFill>
                <a:schemeClr val="dk1"/>
              </a:solidFill>
              <a:latin typeface="Calibri"/>
              <a:ea typeface="Calibri"/>
              <a:cs typeface="Calibri"/>
              <a:sym typeface="Calibri"/>
            </a:endParaRPr>
          </a:p>
        </p:txBody>
      </p:sp>
      <p:sp>
        <p:nvSpPr>
          <p:cNvPr id="508" name="Google Shape;508;p27"/>
          <p:cNvSpPr/>
          <p:nvPr/>
        </p:nvSpPr>
        <p:spPr>
          <a:xfrm>
            <a:off x="4739804" y="1949370"/>
            <a:ext cx="174035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PR-AUC</a:t>
            </a:r>
            <a:endParaRPr b="0" i="0" sz="900" u="none" cap="none" strike="noStrike">
              <a:solidFill>
                <a:schemeClr val="dk1"/>
              </a:solidFill>
              <a:latin typeface="Calibri"/>
              <a:ea typeface="Calibri"/>
              <a:cs typeface="Calibri"/>
              <a:sym typeface="Calibri"/>
            </a:endParaRPr>
          </a:p>
        </p:txBody>
      </p:sp>
      <p:sp>
        <p:nvSpPr>
          <p:cNvPr id="509" name="Google Shape;509;p27"/>
          <p:cNvSpPr/>
          <p:nvPr/>
        </p:nvSpPr>
        <p:spPr>
          <a:xfrm>
            <a:off x="6591319" y="1412286"/>
            <a:ext cx="5953" cy="685911"/>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0" name="Google Shape;510;p27"/>
          <p:cNvSpPr/>
          <p:nvPr/>
        </p:nvSpPr>
        <p:spPr>
          <a:xfrm>
            <a:off x="6759123" y="1412286"/>
            <a:ext cx="1740354" cy="489533"/>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A64437"/>
              </a:buClr>
              <a:buSzPts val="3900"/>
              <a:buFont typeface="IBM Plex Sans"/>
              <a:buNone/>
            </a:pPr>
            <a:r>
              <a:rPr b="1" i="0" lang="en" sz="3900" u="none" cap="none" strike="noStrike">
                <a:solidFill>
                  <a:srgbClr val="A64437"/>
                </a:solidFill>
                <a:latin typeface="IBM Plex Sans"/>
                <a:ea typeface="IBM Plex Sans"/>
                <a:cs typeface="IBM Plex Sans"/>
                <a:sym typeface="IBM Plex Sans"/>
              </a:rPr>
              <a:t>1.36%</a:t>
            </a:r>
            <a:endParaRPr b="0" i="0" sz="3900" u="none" cap="none" strike="noStrike">
              <a:solidFill>
                <a:schemeClr val="dk1"/>
              </a:solidFill>
              <a:latin typeface="Calibri"/>
              <a:ea typeface="Calibri"/>
              <a:cs typeface="Calibri"/>
              <a:sym typeface="Calibri"/>
            </a:endParaRPr>
          </a:p>
        </p:txBody>
      </p:sp>
      <p:sp>
        <p:nvSpPr>
          <p:cNvPr id="511" name="Google Shape;511;p27"/>
          <p:cNvSpPr/>
          <p:nvPr/>
        </p:nvSpPr>
        <p:spPr>
          <a:xfrm>
            <a:off x="6759123" y="1949370"/>
            <a:ext cx="174035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FLAG RATE</a:t>
            </a:r>
            <a:endParaRPr b="0" i="0" sz="900" u="none" cap="none" strike="noStrike">
              <a:solidFill>
                <a:schemeClr val="dk1"/>
              </a:solidFill>
              <a:latin typeface="Calibri"/>
              <a:ea typeface="Calibri"/>
              <a:cs typeface="Calibri"/>
              <a:sym typeface="Calibri"/>
            </a:endParaRPr>
          </a:p>
        </p:txBody>
      </p:sp>
      <p:sp>
        <p:nvSpPr>
          <p:cNvPr id="512" name="Google Shape;512;p27"/>
          <p:cNvSpPr/>
          <p:nvPr/>
        </p:nvSpPr>
        <p:spPr>
          <a:xfrm>
            <a:off x="533363" y="2355298"/>
            <a:ext cx="1905000" cy="852413"/>
          </a:xfrm>
          <a:prstGeom prst="roundRect">
            <a:avLst>
              <a:gd fmla="val 3352" name="adj"/>
            </a:avLst>
          </a:prstGeom>
          <a:solidFill>
            <a:srgbClr val="FFFFFF"/>
          </a:solidFill>
          <a:ln cap="flat" cmpd="sng" w="11900">
            <a:solidFill>
              <a:srgbClr val="46525F"/>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3" name="Google Shape;513;p27"/>
          <p:cNvSpPr/>
          <p:nvPr/>
        </p:nvSpPr>
        <p:spPr>
          <a:xfrm>
            <a:off x="672610" y="2485057"/>
            <a:ext cx="1675301" cy="276244"/>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46525F"/>
              </a:buClr>
              <a:buSzPts val="2000"/>
              <a:buFont typeface="IBM Plex Sans"/>
              <a:buNone/>
            </a:pPr>
            <a:r>
              <a:rPr b="1" i="0" lang="en" sz="2000" u="none" cap="none" strike="noStrike">
                <a:solidFill>
                  <a:srgbClr val="46525F"/>
                </a:solidFill>
                <a:latin typeface="IBM Plex Sans"/>
                <a:ea typeface="IBM Plex Sans"/>
                <a:cs typeface="IBM Plex Sans"/>
                <a:sym typeface="IBM Plex Sans"/>
              </a:rPr>
              <a:t>5,272</a:t>
            </a:r>
            <a:endParaRPr b="0" i="0" sz="2000" u="none" cap="none" strike="noStrike">
              <a:solidFill>
                <a:schemeClr val="dk1"/>
              </a:solidFill>
              <a:latin typeface="Calibri"/>
              <a:ea typeface="Calibri"/>
              <a:cs typeface="Calibri"/>
              <a:sym typeface="Calibri"/>
            </a:endParaRPr>
          </a:p>
        </p:txBody>
      </p:sp>
      <p:sp>
        <p:nvSpPr>
          <p:cNvPr id="514" name="Google Shape;514;p27"/>
          <p:cNvSpPr/>
          <p:nvPr/>
        </p:nvSpPr>
        <p:spPr>
          <a:xfrm>
            <a:off x="672610" y="2780296"/>
            <a:ext cx="1675301"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TRUE POSITIVES · CAUGHT</a:t>
            </a:r>
            <a:endParaRPr b="0" i="0" sz="900" u="none" cap="none" strike="noStrike">
              <a:solidFill>
                <a:schemeClr val="dk1"/>
              </a:solidFill>
              <a:latin typeface="Calibri"/>
              <a:ea typeface="Calibri"/>
              <a:cs typeface="Calibri"/>
              <a:sym typeface="Calibri"/>
            </a:endParaRPr>
          </a:p>
        </p:txBody>
      </p:sp>
      <p:sp>
        <p:nvSpPr>
          <p:cNvPr id="515" name="Google Shape;515;p27"/>
          <p:cNvSpPr/>
          <p:nvPr/>
        </p:nvSpPr>
        <p:spPr>
          <a:xfrm>
            <a:off x="2514544" y="2355298"/>
            <a:ext cx="1905093" cy="852413"/>
          </a:xfrm>
          <a:prstGeom prst="roundRect">
            <a:avLst>
              <a:gd fmla="val 3352" name="adj"/>
            </a:avLst>
          </a:prstGeom>
          <a:solidFill>
            <a:srgbClr val="FFFFFF"/>
          </a:solidFill>
          <a:ln cap="flat" cmpd="sng" w="11900">
            <a:solidFill>
              <a:srgbClr val="1C2026">
                <a:alpha val="1607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6" name="Google Shape;516;p27"/>
          <p:cNvSpPr/>
          <p:nvPr/>
        </p:nvSpPr>
        <p:spPr>
          <a:xfrm>
            <a:off x="2653791" y="2485057"/>
            <a:ext cx="1675397" cy="276244"/>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1C2026"/>
              </a:buClr>
              <a:buSzPts val="2000"/>
              <a:buFont typeface="IBM Plex Sans"/>
              <a:buNone/>
            </a:pPr>
            <a:r>
              <a:rPr b="1" i="0" lang="en" sz="2000" u="none" cap="none" strike="noStrike">
                <a:solidFill>
                  <a:srgbClr val="1C2026"/>
                </a:solidFill>
                <a:latin typeface="IBM Plex Sans"/>
                <a:ea typeface="IBM Plex Sans"/>
                <a:cs typeface="IBM Plex Sans"/>
                <a:sym typeface="IBM Plex Sans"/>
              </a:rPr>
              <a:t>28,255</a:t>
            </a:r>
            <a:endParaRPr b="0" i="0" sz="2000" u="none" cap="none" strike="noStrike">
              <a:solidFill>
                <a:schemeClr val="dk1"/>
              </a:solidFill>
              <a:latin typeface="Calibri"/>
              <a:ea typeface="Calibri"/>
              <a:cs typeface="Calibri"/>
              <a:sym typeface="Calibri"/>
            </a:endParaRPr>
          </a:p>
        </p:txBody>
      </p:sp>
      <p:sp>
        <p:nvSpPr>
          <p:cNvPr id="517" name="Google Shape;517;p27"/>
          <p:cNvSpPr/>
          <p:nvPr/>
        </p:nvSpPr>
        <p:spPr>
          <a:xfrm>
            <a:off x="2653791" y="2780296"/>
            <a:ext cx="1675397" cy="316706"/>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FALSE POSITIVES · FALSE ALARMS</a:t>
            </a:r>
            <a:endParaRPr b="0" i="0" sz="900" u="none" cap="none" strike="noStrike">
              <a:solidFill>
                <a:schemeClr val="dk1"/>
              </a:solidFill>
              <a:latin typeface="Calibri"/>
              <a:ea typeface="Calibri"/>
              <a:cs typeface="Calibri"/>
              <a:sym typeface="Calibri"/>
            </a:endParaRPr>
          </a:p>
        </p:txBody>
      </p:sp>
      <p:sp>
        <p:nvSpPr>
          <p:cNvPr id="518" name="Google Shape;518;p27"/>
          <p:cNvSpPr/>
          <p:nvPr/>
        </p:nvSpPr>
        <p:spPr>
          <a:xfrm>
            <a:off x="533363" y="3283893"/>
            <a:ext cx="1905000" cy="703585"/>
          </a:xfrm>
          <a:prstGeom prst="roundRect">
            <a:avLst>
              <a:gd fmla="val 4061" name="adj"/>
            </a:avLst>
          </a:prstGeom>
          <a:solidFill>
            <a:srgbClr val="FFFFFF"/>
          </a:solidFill>
          <a:ln cap="flat" cmpd="sng" w="11900">
            <a:solidFill>
              <a:srgbClr val="A64437"/>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19" name="Google Shape;519;p27"/>
          <p:cNvSpPr/>
          <p:nvPr/>
        </p:nvSpPr>
        <p:spPr>
          <a:xfrm>
            <a:off x="672610" y="3413652"/>
            <a:ext cx="1675301" cy="276243"/>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A64437"/>
              </a:buClr>
              <a:buSzPts val="2000"/>
              <a:buFont typeface="IBM Plex Sans"/>
              <a:buNone/>
            </a:pPr>
            <a:r>
              <a:rPr b="1" i="0" lang="en" sz="2000" u="none" cap="none" strike="noStrike">
                <a:solidFill>
                  <a:srgbClr val="A64437"/>
                </a:solidFill>
                <a:latin typeface="IBM Plex Sans"/>
                <a:ea typeface="IBM Plex Sans"/>
                <a:cs typeface="IBM Plex Sans"/>
                <a:sym typeface="IBM Plex Sans"/>
              </a:rPr>
              <a:t>2,113</a:t>
            </a:r>
            <a:endParaRPr b="0" i="0" sz="2000" u="none" cap="none" strike="noStrike">
              <a:solidFill>
                <a:schemeClr val="dk1"/>
              </a:solidFill>
              <a:latin typeface="Calibri"/>
              <a:ea typeface="Calibri"/>
              <a:cs typeface="Calibri"/>
              <a:sym typeface="Calibri"/>
            </a:endParaRPr>
          </a:p>
        </p:txBody>
      </p:sp>
      <p:sp>
        <p:nvSpPr>
          <p:cNvPr id="520" name="Google Shape;520;p27"/>
          <p:cNvSpPr/>
          <p:nvPr/>
        </p:nvSpPr>
        <p:spPr>
          <a:xfrm>
            <a:off x="672610" y="3708890"/>
            <a:ext cx="1675301"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FALSE NEGATIVES · MISSED</a:t>
            </a:r>
            <a:endParaRPr b="0" i="0" sz="900" u="none" cap="none" strike="noStrike">
              <a:solidFill>
                <a:schemeClr val="dk1"/>
              </a:solidFill>
              <a:latin typeface="Calibri"/>
              <a:ea typeface="Calibri"/>
              <a:cs typeface="Calibri"/>
              <a:sym typeface="Calibri"/>
            </a:endParaRPr>
          </a:p>
        </p:txBody>
      </p:sp>
      <p:sp>
        <p:nvSpPr>
          <p:cNvPr id="521" name="Google Shape;521;p27"/>
          <p:cNvSpPr/>
          <p:nvPr/>
        </p:nvSpPr>
        <p:spPr>
          <a:xfrm>
            <a:off x="2514544" y="3283893"/>
            <a:ext cx="1905093" cy="703585"/>
          </a:xfrm>
          <a:prstGeom prst="roundRect">
            <a:avLst>
              <a:gd fmla="val 4061" name="adj"/>
            </a:avLst>
          </a:prstGeom>
          <a:solidFill>
            <a:srgbClr val="FFFFFF"/>
          </a:solidFill>
          <a:ln cap="flat" cmpd="sng" w="11900">
            <a:solidFill>
              <a:srgbClr val="1C2026">
                <a:alpha val="16078"/>
              </a:srgbClr>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2" name="Google Shape;522;p27"/>
          <p:cNvSpPr/>
          <p:nvPr/>
        </p:nvSpPr>
        <p:spPr>
          <a:xfrm>
            <a:off x="2653791" y="3413652"/>
            <a:ext cx="1675397" cy="276243"/>
          </a:xfrm>
          <a:prstGeom prst="rect">
            <a:avLst/>
          </a:prstGeom>
          <a:noFill/>
          <a:ln>
            <a:noFill/>
          </a:ln>
        </p:spPr>
        <p:txBody>
          <a:bodyPr anchorCtr="0" anchor="t" bIns="12700" lIns="12700" spcFirstLastPara="1" rIns="12700" wrap="square" tIns="12700">
            <a:noAutofit/>
          </a:bodyPr>
          <a:lstStyle/>
          <a:p>
            <a:pPr indent="0" lvl="0" marL="0" marR="0" rtl="0" algn="l">
              <a:lnSpc>
                <a:spcPct val="100000"/>
              </a:lnSpc>
              <a:spcBef>
                <a:spcPts val="0"/>
              </a:spcBef>
              <a:spcAft>
                <a:spcPts val="0"/>
              </a:spcAft>
              <a:buClr>
                <a:srgbClr val="1C2026"/>
              </a:buClr>
              <a:buSzPts val="2000"/>
              <a:buFont typeface="IBM Plex Sans"/>
              <a:buNone/>
            </a:pPr>
            <a:r>
              <a:rPr b="1" i="0" lang="en" sz="2000" u="none" cap="none" strike="noStrike">
                <a:solidFill>
                  <a:srgbClr val="1C2026"/>
                </a:solidFill>
                <a:latin typeface="IBM Plex Sans"/>
                <a:ea typeface="IBM Plex Sans"/>
                <a:cs typeface="IBM Plex Sans"/>
                <a:sym typeface="IBM Plex Sans"/>
              </a:rPr>
              <a:t>2.43M</a:t>
            </a:r>
            <a:endParaRPr b="0" i="0" sz="2000" u="none" cap="none" strike="noStrike">
              <a:solidFill>
                <a:schemeClr val="dk1"/>
              </a:solidFill>
              <a:latin typeface="Calibri"/>
              <a:ea typeface="Calibri"/>
              <a:cs typeface="Calibri"/>
              <a:sym typeface="Calibri"/>
            </a:endParaRPr>
          </a:p>
        </p:txBody>
      </p:sp>
      <p:sp>
        <p:nvSpPr>
          <p:cNvPr id="523" name="Google Shape;523;p27"/>
          <p:cNvSpPr/>
          <p:nvPr/>
        </p:nvSpPr>
        <p:spPr>
          <a:xfrm>
            <a:off x="2653791" y="3708890"/>
            <a:ext cx="167539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TRUE NEGATIVES</a:t>
            </a:r>
            <a:endParaRPr b="0" i="0" sz="900" u="none" cap="none" strike="noStrike">
              <a:solidFill>
                <a:schemeClr val="dk1"/>
              </a:solidFill>
              <a:latin typeface="Calibri"/>
              <a:ea typeface="Calibri"/>
              <a:cs typeface="Calibri"/>
              <a:sym typeface="Calibri"/>
            </a:endParaRPr>
          </a:p>
        </p:txBody>
      </p:sp>
      <p:sp>
        <p:nvSpPr>
          <p:cNvPr id="524" name="Google Shape;524;p27"/>
          <p:cNvSpPr/>
          <p:nvPr/>
        </p:nvSpPr>
        <p:spPr>
          <a:xfrm>
            <a:off x="4724363" y="2771180"/>
            <a:ext cx="4002863" cy="819373"/>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100"/>
              <a:buFont typeface="IBM Plex Sans"/>
              <a:buNone/>
            </a:pPr>
            <a:r>
              <a:rPr b="0" i="0" lang="en" sz="1100" u="none" cap="none" strike="noStrike">
                <a:solidFill>
                  <a:srgbClr val="454C55"/>
                </a:solidFill>
                <a:latin typeface="IBM Plex Sans"/>
                <a:ea typeface="IBM Plex Sans"/>
                <a:cs typeface="IBM Plex Sans"/>
                <a:sym typeface="IBM Plex Sans"/>
              </a:rPr>
              <a:t>On 2.47 million loan-months it never saw in training, the model catches </a:t>
            </a:r>
            <a:r>
              <a:rPr b="1" i="0" lang="en" sz="1100" u="none" cap="none" strike="noStrike">
                <a:solidFill>
                  <a:srgbClr val="46525F"/>
                </a:solidFill>
                <a:latin typeface="IBM Plex Sans"/>
                <a:ea typeface="IBM Plex Sans"/>
                <a:cs typeface="IBM Plex Sans"/>
                <a:sym typeface="IBM Plex Sans"/>
              </a:rPr>
              <a:t>71% of loans </a:t>
            </a:r>
            <a:r>
              <a:rPr b="0" i="0" lang="en" sz="1100" u="none" cap="none" strike="noStrike">
                <a:solidFill>
                  <a:srgbClr val="454C55"/>
                </a:solidFill>
                <a:latin typeface="IBM Plex Sans"/>
                <a:ea typeface="IBM Plex Sans"/>
                <a:cs typeface="IBM Plex Sans"/>
                <a:sym typeface="IBM Plex Sans"/>
              </a:rPr>
              <a:t>that go on to delinquency while flagging just 1.4% of the book. About one flagged loan in six is a true future default, more than ten times the </a:t>
            </a:r>
            <a:r>
              <a:rPr lang="en" sz="1100">
                <a:solidFill>
                  <a:srgbClr val="454C55"/>
                </a:solidFill>
                <a:latin typeface="IBM Plex Sans"/>
                <a:ea typeface="IBM Plex Sans"/>
                <a:cs typeface="IBM Plex Sans"/>
                <a:sym typeface="IBM Plex Sans"/>
              </a:rPr>
              <a:t>0</a:t>
            </a:r>
            <a:r>
              <a:rPr b="0" i="0" lang="en" sz="1100" u="none" cap="none" strike="noStrike">
                <a:solidFill>
                  <a:srgbClr val="454C55"/>
                </a:solidFill>
                <a:latin typeface="IBM Plex Sans"/>
                <a:ea typeface="IBM Plex Sans"/>
                <a:cs typeface="IBM Plex Sans"/>
                <a:sym typeface="IBM Plex Sans"/>
              </a:rPr>
              <a:t>.3% base rate.</a:t>
            </a:r>
            <a:endParaRPr b="0" i="0" sz="1100" u="none" cap="none" strike="noStrike">
              <a:solidFill>
                <a:schemeClr val="dk1"/>
              </a:solidFill>
              <a:latin typeface="Calibri"/>
              <a:ea typeface="Calibri"/>
              <a:cs typeface="Calibri"/>
              <a:sym typeface="Calibri"/>
            </a:endParaRPr>
          </a:p>
        </p:txBody>
      </p:sp>
      <p:sp>
        <p:nvSpPr>
          <p:cNvPr id="525" name="Google Shape;525;p27"/>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526" name="Google Shape;526;p27"/>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531" name="Shape 531"/>
        <p:cNvGrpSpPr/>
        <p:nvPr/>
      </p:nvGrpSpPr>
      <p:grpSpPr>
        <a:xfrm>
          <a:off x="0" y="0"/>
          <a:ext cx="0" cy="0"/>
          <a:chOff x="0" y="0"/>
          <a:chExt cx="0" cy="0"/>
        </a:xfrm>
      </p:grpSpPr>
      <p:sp>
        <p:nvSpPr>
          <p:cNvPr id="532" name="Google Shape;532;p28"/>
          <p:cNvSpPr/>
          <p:nvPr/>
        </p:nvSpPr>
        <p:spPr>
          <a:xfrm>
            <a:off x="533363" y="624985"/>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3" name="Google Shape;533;p28"/>
          <p:cNvSpPr/>
          <p:nvPr/>
        </p:nvSpPr>
        <p:spPr>
          <a:xfrm>
            <a:off x="533363" y="399976"/>
            <a:ext cx="896559"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46525F"/>
              </a:buClr>
              <a:buSzPts val="900"/>
              <a:buFont typeface="IBM Plex Sans"/>
              <a:buNone/>
            </a:pPr>
            <a:r>
              <a:rPr b="1" i="0" lang="en" sz="900" u="none" cap="none" strike="noStrike">
                <a:solidFill>
                  <a:srgbClr val="46525F"/>
                </a:solidFill>
                <a:latin typeface="IBM Plex Sans"/>
                <a:ea typeface="IBM Plex Sans"/>
                <a:cs typeface="IBM Plex Sans"/>
                <a:sym typeface="IBM Plex Sans"/>
              </a:rPr>
              <a:t>13 · DRIVERS</a:t>
            </a:r>
            <a:endParaRPr b="0" i="0" sz="900" u="none" cap="none" strike="noStrike">
              <a:solidFill>
                <a:schemeClr val="dk1"/>
              </a:solidFill>
              <a:latin typeface="Calibri"/>
              <a:ea typeface="Calibri"/>
              <a:cs typeface="Calibri"/>
              <a:sym typeface="Calibri"/>
            </a:endParaRPr>
          </a:p>
        </p:txBody>
      </p:sp>
      <p:sp>
        <p:nvSpPr>
          <p:cNvPr id="534" name="Google Shape;534;p28"/>
          <p:cNvSpPr/>
          <p:nvPr/>
        </p:nvSpPr>
        <p:spPr>
          <a:xfrm>
            <a:off x="8459670" y="399976"/>
            <a:ext cx="18906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14</a:t>
            </a:r>
            <a:endParaRPr b="0" i="0" sz="900" u="none" cap="none" strike="noStrike">
              <a:solidFill>
                <a:schemeClr val="dk1"/>
              </a:solidFill>
              <a:latin typeface="Calibri"/>
              <a:ea typeface="Calibri"/>
              <a:cs typeface="Calibri"/>
              <a:sym typeface="Calibri"/>
            </a:endParaRPr>
          </a:p>
        </p:txBody>
      </p:sp>
      <p:sp>
        <p:nvSpPr>
          <p:cNvPr id="535" name="Google Shape;535;p28"/>
          <p:cNvSpPr/>
          <p:nvPr/>
        </p:nvSpPr>
        <p:spPr>
          <a:xfrm>
            <a:off x="533363" y="849995"/>
            <a:ext cx="8319600" cy="362400"/>
          </a:xfrm>
          <a:prstGeom prst="rect">
            <a:avLst/>
          </a:prstGeom>
          <a:noFill/>
          <a:ln>
            <a:noFill/>
          </a:ln>
        </p:spPr>
        <p:txBody>
          <a:bodyPr anchorCtr="0" anchor="t" bIns="12700" lIns="12700" spcFirstLastPara="1" rIns="12700" wrap="square" tIns="12700">
            <a:noAutofit/>
          </a:bodyPr>
          <a:lstStyle/>
          <a:p>
            <a:pPr indent="0" lvl="0" marL="0" marR="0" rtl="0" algn="l">
              <a:lnSpc>
                <a:spcPct val="106000"/>
              </a:lnSpc>
              <a:spcBef>
                <a:spcPts val="0"/>
              </a:spcBef>
              <a:spcAft>
                <a:spcPts val="0"/>
              </a:spcAft>
              <a:buClr>
                <a:srgbClr val="1C2026"/>
              </a:buClr>
              <a:buSzPts val="2600"/>
              <a:buFont typeface="IBM Plex Sans"/>
              <a:buNone/>
            </a:pPr>
            <a:r>
              <a:rPr b="1" lang="en" sz="2600">
                <a:solidFill>
                  <a:srgbClr val="1C2026"/>
                </a:solidFill>
                <a:latin typeface="IBM Plex Sans"/>
                <a:ea typeface="IBM Plex Sans"/>
                <a:cs typeface="IBM Plex Sans"/>
                <a:sym typeface="IBM Plex Sans"/>
              </a:rPr>
              <a:t>What Drives the Models</a:t>
            </a:r>
            <a:endParaRPr b="0" i="0" sz="2600" u="none" cap="none" strike="noStrike">
              <a:solidFill>
                <a:schemeClr val="dk1"/>
              </a:solidFill>
              <a:latin typeface="Calibri"/>
              <a:ea typeface="Calibri"/>
              <a:cs typeface="Calibri"/>
              <a:sym typeface="Calibri"/>
            </a:endParaRPr>
          </a:p>
        </p:txBody>
      </p:sp>
      <p:sp>
        <p:nvSpPr>
          <p:cNvPr id="536" name="Google Shape;536;p28"/>
          <p:cNvSpPr/>
          <p:nvPr/>
        </p:nvSpPr>
        <p:spPr>
          <a:xfrm>
            <a:off x="533363" y="1422146"/>
            <a:ext cx="1170589"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Borrower credit score</a:t>
            </a:r>
            <a:endParaRPr b="0" i="0" sz="900" u="none" cap="none" strike="noStrike">
              <a:solidFill>
                <a:schemeClr val="dk1"/>
              </a:solidFill>
              <a:latin typeface="Calibri"/>
              <a:ea typeface="Calibri"/>
              <a:cs typeface="Calibri"/>
              <a:sym typeface="Calibri"/>
            </a:endParaRPr>
          </a:p>
        </p:txBody>
      </p:sp>
      <p:sp>
        <p:nvSpPr>
          <p:cNvPr id="537" name="Google Shape;537;p28"/>
          <p:cNvSpPr/>
          <p:nvPr/>
        </p:nvSpPr>
        <p:spPr>
          <a:xfrm>
            <a:off x="4666785" y="1422146"/>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868</a:t>
            </a:r>
            <a:endParaRPr b="0" i="0" sz="900" u="none" cap="none" strike="noStrike">
              <a:solidFill>
                <a:schemeClr val="dk1"/>
              </a:solidFill>
              <a:latin typeface="Calibri"/>
              <a:ea typeface="Calibri"/>
              <a:cs typeface="Calibri"/>
              <a:sym typeface="Calibri"/>
            </a:endParaRPr>
          </a:p>
        </p:txBody>
      </p:sp>
      <p:sp>
        <p:nvSpPr>
          <p:cNvPr id="538" name="Google Shape;538;p28"/>
          <p:cNvSpPr/>
          <p:nvPr/>
        </p:nvSpPr>
        <p:spPr>
          <a:xfrm>
            <a:off x="533363" y="1604274"/>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39" name="Google Shape;539;p28"/>
          <p:cNvSpPr/>
          <p:nvPr/>
        </p:nvSpPr>
        <p:spPr>
          <a:xfrm>
            <a:off x="533363" y="1604274"/>
            <a:ext cx="4339177" cy="85669"/>
          </a:xfrm>
          <a:prstGeom prst="roundRect">
            <a:avLst>
              <a:gd fmla="val 11118"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0" name="Google Shape;540;p28"/>
          <p:cNvSpPr/>
          <p:nvPr/>
        </p:nvSpPr>
        <p:spPr>
          <a:xfrm>
            <a:off x="533363" y="1761381"/>
            <a:ext cx="49453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DTI ratio</a:t>
            </a:r>
            <a:endParaRPr b="0" i="0" sz="900" u="none" cap="none" strike="noStrike">
              <a:solidFill>
                <a:schemeClr val="dk1"/>
              </a:solidFill>
              <a:latin typeface="Calibri"/>
              <a:ea typeface="Calibri"/>
              <a:cs typeface="Calibri"/>
              <a:sym typeface="Calibri"/>
            </a:endParaRPr>
          </a:p>
        </p:txBody>
      </p:sp>
      <p:sp>
        <p:nvSpPr>
          <p:cNvPr id="541" name="Google Shape;541;p28"/>
          <p:cNvSpPr/>
          <p:nvPr/>
        </p:nvSpPr>
        <p:spPr>
          <a:xfrm>
            <a:off x="4666785" y="1761381"/>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558</a:t>
            </a:r>
            <a:endParaRPr b="0" i="0" sz="900" u="none" cap="none" strike="noStrike">
              <a:solidFill>
                <a:schemeClr val="dk1"/>
              </a:solidFill>
              <a:latin typeface="Calibri"/>
              <a:ea typeface="Calibri"/>
              <a:cs typeface="Calibri"/>
              <a:sym typeface="Calibri"/>
            </a:endParaRPr>
          </a:p>
        </p:txBody>
      </p:sp>
      <p:sp>
        <p:nvSpPr>
          <p:cNvPr id="542" name="Google Shape;542;p28"/>
          <p:cNvSpPr/>
          <p:nvPr/>
        </p:nvSpPr>
        <p:spPr>
          <a:xfrm>
            <a:off x="533363" y="1943510"/>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3" name="Google Shape;543;p28"/>
          <p:cNvSpPr/>
          <p:nvPr/>
        </p:nvSpPr>
        <p:spPr>
          <a:xfrm>
            <a:off x="533363" y="1943510"/>
            <a:ext cx="2777040" cy="85669"/>
          </a:xfrm>
          <a:prstGeom prst="roundRect">
            <a:avLst>
              <a:gd fmla="val 11118" name="adj"/>
            </a:avLst>
          </a:prstGeom>
          <a:solidFill>
            <a:srgbClr val="A6443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4" name="Google Shape;544;p28"/>
          <p:cNvSpPr/>
          <p:nvPr/>
        </p:nvSpPr>
        <p:spPr>
          <a:xfrm>
            <a:off x="533363" y="2100616"/>
            <a:ext cx="69768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Original UPB</a:t>
            </a:r>
            <a:endParaRPr b="0" i="0" sz="900" u="none" cap="none" strike="noStrike">
              <a:solidFill>
                <a:schemeClr val="dk1"/>
              </a:solidFill>
              <a:latin typeface="Calibri"/>
              <a:ea typeface="Calibri"/>
              <a:cs typeface="Calibri"/>
              <a:sym typeface="Calibri"/>
            </a:endParaRPr>
          </a:p>
        </p:txBody>
      </p:sp>
      <p:sp>
        <p:nvSpPr>
          <p:cNvPr id="545" name="Google Shape;545;p28"/>
          <p:cNvSpPr/>
          <p:nvPr/>
        </p:nvSpPr>
        <p:spPr>
          <a:xfrm>
            <a:off x="4666785" y="2100616"/>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504</a:t>
            </a:r>
            <a:endParaRPr b="0" i="0" sz="900" u="none" cap="none" strike="noStrike">
              <a:solidFill>
                <a:schemeClr val="dk1"/>
              </a:solidFill>
              <a:latin typeface="Calibri"/>
              <a:ea typeface="Calibri"/>
              <a:cs typeface="Calibri"/>
              <a:sym typeface="Calibri"/>
            </a:endParaRPr>
          </a:p>
        </p:txBody>
      </p:sp>
      <p:sp>
        <p:nvSpPr>
          <p:cNvPr id="546" name="Google Shape;546;p28"/>
          <p:cNvSpPr/>
          <p:nvPr/>
        </p:nvSpPr>
        <p:spPr>
          <a:xfrm>
            <a:off x="533363" y="2282745"/>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7" name="Google Shape;547;p28"/>
          <p:cNvSpPr/>
          <p:nvPr/>
        </p:nvSpPr>
        <p:spPr>
          <a:xfrm>
            <a:off x="533363" y="2282745"/>
            <a:ext cx="2516684"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48" name="Google Shape;548;p28"/>
          <p:cNvSpPr/>
          <p:nvPr/>
        </p:nvSpPr>
        <p:spPr>
          <a:xfrm>
            <a:off x="533363" y="2439851"/>
            <a:ext cx="68615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Current UPB</a:t>
            </a:r>
            <a:endParaRPr b="0" i="0" sz="900" u="none" cap="none" strike="noStrike">
              <a:solidFill>
                <a:schemeClr val="dk1"/>
              </a:solidFill>
              <a:latin typeface="Calibri"/>
              <a:ea typeface="Calibri"/>
              <a:cs typeface="Calibri"/>
              <a:sym typeface="Calibri"/>
            </a:endParaRPr>
          </a:p>
        </p:txBody>
      </p:sp>
      <p:sp>
        <p:nvSpPr>
          <p:cNvPr id="549" name="Google Shape;549;p28"/>
          <p:cNvSpPr/>
          <p:nvPr/>
        </p:nvSpPr>
        <p:spPr>
          <a:xfrm>
            <a:off x="4666785" y="2439851"/>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459</a:t>
            </a:r>
            <a:endParaRPr b="0" i="0" sz="900" u="none" cap="none" strike="noStrike">
              <a:solidFill>
                <a:schemeClr val="dk1"/>
              </a:solidFill>
              <a:latin typeface="Calibri"/>
              <a:ea typeface="Calibri"/>
              <a:cs typeface="Calibri"/>
              <a:sym typeface="Calibri"/>
            </a:endParaRPr>
          </a:p>
        </p:txBody>
      </p:sp>
      <p:sp>
        <p:nvSpPr>
          <p:cNvPr id="550" name="Google Shape;550;p28"/>
          <p:cNvSpPr/>
          <p:nvPr/>
        </p:nvSpPr>
        <p:spPr>
          <a:xfrm>
            <a:off x="533363" y="2621980"/>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1" name="Google Shape;551;p28"/>
          <p:cNvSpPr/>
          <p:nvPr/>
        </p:nvSpPr>
        <p:spPr>
          <a:xfrm>
            <a:off x="533363" y="2621980"/>
            <a:ext cx="2299674"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2" name="Google Shape;552;p28"/>
          <p:cNvSpPr/>
          <p:nvPr/>
        </p:nvSpPr>
        <p:spPr>
          <a:xfrm>
            <a:off x="533363" y="2779086"/>
            <a:ext cx="134859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Co-borrower credit score</a:t>
            </a:r>
            <a:endParaRPr b="0" i="0" sz="900" u="none" cap="none" strike="noStrike">
              <a:solidFill>
                <a:schemeClr val="dk1"/>
              </a:solidFill>
              <a:latin typeface="Calibri"/>
              <a:ea typeface="Calibri"/>
              <a:cs typeface="Calibri"/>
              <a:sym typeface="Calibri"/>
            </a:endParaRPr>
          </a:p>
        </p:txBody>
      </p:sp>
      <p:sp>
        <p:nvSpPr>
          <p:cNvPr id="553" name="Google Shape;553;p28"/>
          <p:cNvSpPr/>
          <p:nvPr/>
        </p:nvSpPr>
        <p:spPr>
          <a:xfrm>
            <a:off x="4666785" y="2779086"/>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442</a:t>
            </a:r>
            <a:endParaRPr b="0" i="0" sz="900" u="none" cap="none" strike="noStrike">
              <a:solidFill>
                <a:schemeClr val="dk1"/>
              </a:solidFill>
              <a:latin typeface="Calibri"/>
              <a:ea typeface="Calibri"/>
              <a:cs typeface="Calibri"/>
              <a:sym typeface="Calibri"/>
            </a:endParaRPr>
          </a:p>
        </p:txBody>
      </p:sp>
      <p:sp>
        <p:nvSpPr>
          <p:cNvPr id="554" name="Google Shape;554;p28"/>
          <p:cNvSpPr/>
          <p:nvPr/>
        </p:nvSpPr>
        <p:spPr>
          <a:xfrm>
            <a:off x="533363" y="2961215"/>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5" name="Google Shape;555;p28"/>
          <p:cNvSpPr/>
          <p:nvPr/>
        </p:nvSpPr>
        <p:spPr>
          <a:xfrm>
            <a:off x="533363" y="2961215"/>
            <a:ext cx="2212888"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6" name="Google Shape;556;p28"/>
          <p:cNvSpPr/>
          <p:nvPr/>
        </p:nvSpPr>
        <p:spPr>
          <a:xfrm>
            <a:off x="533363" y="3118321"/>
            <a:ext cx="1114593"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Original interest rate</a:t>
            </a:r>
            <a:endParaRPr b="0" i="0" sz="900" u="none" cap="none" strike="noStrike">
              <a:solidFill>
                <a:schemeClr val="dk1"/>
              </a:solidFill>
              <a:latin typeface="Calibri"/>
              <a:ea typeface="Calibri"/>
              <a:cs typeface="Calibri"/>
              <a:sym typeface="Calibri"/>
            </a:endParaRPr>
          </a:p>
        </p:txBody>
      </p:sp>
      <p:sp>
        <p:nvSpPr>
          <p:cNvPr id="557" name="Google Shape;557;p28"/>
          <p:cNvSpPr/>
          <p:nvPr/>
        </p:nvSpPr>
        <p:spPr>
          <a:xfrm>
            <a:off x="4666785" y="3118321"/>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427</a:t>
            </a:r>
            <a:endParaRPr b="0" i="0" sz="900" u="none" cap="none" strike="noStrike">
              <a:solidFill>
                <a:schemeClr val="dk1"/>
              </a:solidFill>
              <a:latin typeface="Calibri"/>
              <a:ea typeface="Calibri"/>
              <a:cs typeface="Calibri"/>
              <a:sym typeface="Calibri"/>
            </a:endParaRPr>
          </a:p>
        </p:txBody>
      </p:sp>
      <p:sp>
        <p:nvSpPr>
          <p:cNvPr id="558" name="Google Shape;558;p28"/>
          <p:cNvSpPr/>
          <p:nvPr/>
        </p:nvSpPr>
        <p:spPr>
          <a:xfrm>
            <a:off x="533363" y="3300450"/>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9" name="Google Shape;559;p28"/>
          <p:cNvSpPr/>
          <p:nvPr/>
        </p:nvSpPr>
        <p:spPr>
          <a:xfrm>
            <a:off x="533363" y="3300450"/>
            <a:ext cx="2126196"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0" name="Google Shape;560;p28"/>
          <p:cNvSpPr/>
          <p:nvPr/>
        </p:nvSpPr>
        <p:spPr>
          <a:xfrm>
            <a:off x="533363" y="3457557"/>
            <a:ext cx="661038"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Original LTV</a:t>
            </a:r>
            <a:endParaRPr b="0" i="0" sz="900" u="none" cap="none" strike="noStrike">
              <a:solidFill>
                <a:schemeClr val="dk1"/>
              </a:solidFill>
              <a:latin typeface="Calibri"/>
              <a:ea typeface="Calibri"/>
              <a:cs typeface="Calibri"/>
              <a:sym typeface="Calibri"/>
            </a:endParaRPr>
          </a:p>
        </p:txBody>
      </p:sp>
      <p:sp>
        <p:nvSpPr>
          <p:cNvPr id="561" name="Google Shape;561;p28"/>
          <p:cNvSpPr/>
          <p:nvPr/>
        </p:nvSpPr>
        <p:spPr>
          <a:xfrm>
            <a:off x="4666785" y="3457557"/>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397</a:t>
            </a:r>
            <a:endParaRPr b="0" i="0" sz="900" u="none" cap="none" strike="noStrike">
              <a:solidFill>
                <a:schemeClr val="dk1"/>
              </a:solidFill>
              <a:latin typeface="Calibri"/>
              <a:ea typeface="Calibri"/>
              <a:cs typeface="Calibri"/>
              <a:sym typeface="Calibri"/>
            </a:endParaRPr>
          </a:p>
        </p:txBody>
      </p:sp>
      <p:sp>
        <p:nvSpPr>
          <p:cNvPr id="562" name="Google Shape;562;p28"/>
          <p:cNvSpPr/>
          <p:nvPr/>
        </p:nvSpPr>
        <p:spPr>
          <a:xfrm>
            <a:off x="533363" y="3639685"/>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3" name="Google Shape;563;p28"/>
          <p:cNvSpPr/>
          <p:nvPr/>
        </p:nvSpPr>
        <p:spPr>
          <a:xfrm>
            <a:off x="533363" y="3639685"/>
            <a:ext cx="1995971"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4" name="Google Shape;564;p28"/>
          <p:cNvSpPr/>
          <p:nvPr/>
        </p:nvSpPr>
        <p:spPr>
          <a:xfrm>
            <a:off x="533363" y="3796792"/>
            <a:ext cx="73322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Original CLTV</a:t>
            </a:r>
            <a:endParaRPr b="0" i="0" sz="900" u="none" cap="none" strike="noStrike">
              <a:solidFill>
                <a:schemeClr val="dk1"/>
              </a:solidFill>
              <a:latin typeface="Calibri"/>
              <a:ea typeface="Calibri"/>
              <a:cs typeface="Calibri"/>
              <a:sym typeface="Calibri"/>
            </a:endParaRPr>
          </a:p>
        </p:txBody>
      </p:sp>
      <p:sp>
        <p:nvSpPr>
          <p:cNvPr id="565" name="Google Shape;565;p28"/>
          <p:cNvSpPr/>
          <p:nvPr/>
        </p:nvSpPr>
        <p:spPr>
          <a:xfrm>
            <a:off x="4666785" y="3796792"/>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393</a:t>
            </a:r>
            <a:endParaRPr b="0" i="0" sz="900" u="none" cap="none" strike="noStrike">
              <a:solidFill>
                <a:schemeClr val="dk1"/>
              </a:solidFill>
              <a:latin typeface="Calibri"/>
              <a:ea typeface="Calibri"/>
              <a:cs typeface="Calibri"/>
              <a:sym typeface="Calibri"/>
            </a:endParaRPr>
          </a:p>
        </p:txBody>
      </p:sp>
      <p:sp>
        <p:nvSpPr>
          <p:cNvPr id="566" name="Google Shape;566;p28"/>
          <p:cNvSpPr/>
          <p:nvPr/>
        </p:nvSpPr>
        <p:spPr>
          <a:xfrm>
            <a:off x="533363" y="3978920"/>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7" name="Google Shape;567;p28"/>
          <p:cNvSpPr/>
          <p:nvPr/>
        </p:nvSpPr>
        <p:spPr>
          <a:xfrm>
            <a:off x="533363" y="3978920"/>
            <a:ext cx="1952625"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68" name="Google Shape;568;p28"/>
          <p:cNvSpPr/>
          <p:nvPr/>
        </p:nvSpPr>
        <p:spPr>
          <a:xfrm>
            <a:off x="533363" y="4136027"/>
            <a:ext cx="103757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Total principal paid</a:t>
            </a:r>
            <a:endParaRPr b="0" i="0" sz="900" u="none" cap="none" strike="noStrike">
              <a:solidFill>
                <a:schemeClr val="dk1"/>
              </a:solidFill>
              <a:latin typeface="Calibri"/>
              <a:ea typeface="Calibri"/>
              <a:cs typeface="Calibri"/>
              <a:sym typeface="Calibri"/>
            </a:endParaRPr>
          </a:p>
        </p:txBody>
      </p:sp>
      <p:sp>
        <p:nvSpPr>
          <p:cNvPr id="569" name="Google Shape;569;p28"/>
          <p:cNvSpPr/>
          <p:nvPr/>
        </p:nvSpPr>
        <p:spPr>
          <a:xfrm>
            <a:off x="4666785" y="4136027"/>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346</a:t>
            </a:r>
            <a:endParaRPr b="0" i="0" sz="900" u="none" cap="none" strike="noStrike">
              <a:solidFill>
                <a:schemeClr val="dk1"/>
              </a:solidFill>
              <a:latin typeface="Calibri"/>
              <a:ea typeface="Calibri"/>
              <a:cs typeface="Calibri"/>
              <a:sym typeface="Calibri"/>
            </a:endParaRPr>
          </a:p>
        </p:txBody>
      </p:sp>
      <p:sp>
        <p:nvSpPr>
          <p:cNvPr id="570" name="Google Shape;570;p28"/>
          <p:cNvSpPr/>
          <p:nvPr/>
        </p:nvSpPr>
        <p:spPr>
          <a:xfrm>
            <a:off x="533363" y="4318155"/>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1" name="Google Shape;571;p28"/>
          <p:cNvSpPr/>
          <p:nvPr/>
        </p:nvSpPr>
        <p:spPr>
          <a:xfrm>
            <a:off x="533363" y="4318155"/>
            <a:ext cx="1735615"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2" name="Google Shape;572;p28"/>
          <p:cNvSpPr/>
          <p:nvPr/>
        </p:nvSpPr>
        <p:spPr>
          <a:xfrm>
            <a:off x="533363" y="4475262"/>
            <a:ext cx="103236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0" i="0" lang="en" sz="900" u="none" cap="none" strike="noStrike">
                <a:solidFill>
                  <a:srgbClr val="1C2026"/>
                </a:solidFill>
                <a:latin typeface="IBM Plex Sans"/>
                <a:ea typeface="IBM Plex Sans"/>
                <a:cs typeface="IBM Plex Sans"/>
                <a:sym typeface="IBM Plex Sans"/>
              </a:rPr>
              <a:t>Months to maturity</a:t>
            </a:r>
            <a:endParaRPr b="0" i="0" sz="900" u="none" cap="none" strike="noStrike">
              <a:solidFill>
                <a:schemeClr val="dk1"/>
              </a:solidFill>
              <a:latin typeface="Calibri"/>
              <a:ea typeface="Calibri"/>
              <a:cs typeface="Calibri"/>
              <a:sym typeface="Calibri"/>
            </a:endParaRPr>
          </a:p>
        </p:txBody>
      </p:sp>
      <p:sp>
        <p:nvSpPr>
          <p:cNvPr id="573" name="Google Shape;573;p28"/>
          <p:cNvSpPr/>
          <p:nvPr/>
        </p:nvSpPr>
        <p:spPr>
          <a:xfrm>
            <a:off x="4666785" y="4475262"/>
            <a:ext cx="243855"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253</a:t>
            </a:r>
            <a:endParaRPr b="0" i="0" sz="900" u="none" cap="none" strike="noStrike">
              <a:solidFill>
                <a:schemeClr val="dk1"/>
              </a:solidFill>
              <a:latin typeface="Calibri"/>
              <a:ea typeface="Calibri"/>
              <a:cs typeface="Calibri"/>
              <a:sym typeface="Calibri"/>
            </a:endParaRPr>
          </a:p>
        </p:txBody>
      </p:sp>
      <p:sp>
        <p:nvSpPr>
          <p:cNvPr id="574" name="Google Shape;574;p28"/>
          <p:cNvSpPr/>
          <p:nvPr/>
        </p:nvSpPr>
        <p:spPr>
          <a:xfrm>
            <a:off x="533363" y="4657390"/>
            <a:ext cx="4339177" cy="85669"/>
          </a:xfrm>
          <a:prstGeom prst="roundRect">
            <a:avLst>
              <a:gd fmla="val 11118" name="adj"/>
            </a:avLst>
          </a:prstGeom>
          <a:solidFill>
            <a:srgbClr val="EBEBE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5" name="Google Shape;575;p28"/>
          <p:cNvSpPr/>
          <p:nvPr/>
        </p:nvSpPr>
        <p:spPr>
          <a:xfrm>
            <a:off x="533363" y="4657390"/>
            <a:ext cx="1258342" cy="85669"/>
          </a:xfrm>
          <a:prstGeom prst="roundRect">
            <a:avLst>
              <a:gd fmla="val 11118" name="adj"/>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6" name="Google Shape;576;p28"/>
          <p:cNvSpPr/>
          <p:nvPr/>
        </p:nvSpPr>
        <p:spPr>
          <a:xfrm>
            <a:off x="5253447" y="2278094"/>
            <a:ext cx="2629357" cy="761702"/>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The most-used features mirror the EDA story: creditworthiness at origination, leverage, loan size and how much principal is left, and the borrower's recent delinquency history.</a:t>
            </a:r>
            <a:endParaRPr b="0" i="0" sz="1000" u="none" cap="none" strike="noStrike">
              <a:solidFill>
                <a:schemeClr val="dk1"/>
              </a:solidFill>
              <a:latin typeface="Calibri"/>
              <a:ea typeface="Calibri"/>
              <a:cs typeface="Calibri"/>
              <a:sym typeface="Calibri"/>
            </a:endParaRPr>
          </a:p>
        </p:txBody>
      </p:sp>
      <p:sp>
        <p:nvSpPr>
          <p:cNvPr id="577" name="Google Shape;577;p28"/>
          <p:cNvSpPr/>
          <p:nvPr/>
        </p:nvSpPr>
        <p:spPr>
          <a:xfrm>
            <a:off x="5253447" y="3144552"/>
            <a:ext cx="2629357" cy="761702"/>
          </a:xfrm>
          <a:prstGeom prst="rect">
            <a:avLst/>
          </a:prstGeom>
          <a:noFill/>
          <a:ln>
            <a:noFill/>
          </a:ln>
        </p:spPr>
        <p:txBody>
          <a:bodyPr anchorCtr="0" anchor="t" bIns="12700" lIns="12700" spcFirstLastPara="1" rIns="12700" wrap="square" tIns="12700">
            <a:noAutofit/>
          </a:bodyPr>
          <a:lstStyle/>
          <a:p>
            <a:pPr indent="0" lvl="0" marL="0" marR="0" rtl="0" algn="l">
              <a:lnSpc>
                <a:spcPct val="150000"/>
              </a:lnSpc>
              <a:spcBef>
                <a:spcPts val="0"/>
              </a:spcBef>
              <a:spcAft>
                <a:spcPts val="0"/>
              </a:spcAft>
              <a:buClr>
                <a:srgbClr val="454C55"/>
              </a:buClr>
              <a:buSzPts val="1000"/>
              <a:buFont typeface="IBM Plex Sans"/>
              <a:buNone/>
            </a:pPr>
            <a:r>
              <a:rPr b="0" i="0" lang="en" sz="1000" u="none" cap="none" strike="noStrike">
                <a:solidFill>
                  <a:srgbClr val="454C55"/>
                </a:solidFill>
                <a:latin typeface="IBM Plex Sans"/>
                <a:ea typeface="IBM Plex Sans"/>
                <a:cs typeface="IBM Plex Sans"/>
                <a:sym typeface="IBM Plex Sans"/>
              </a:rPr>
              <a:t>No single exotic feature carries the model. It's the familiar credit fundamentals, weighed together at scale and projected six months forward.</a:t>
            </a:r>
            <a:endParaRPr b="0" i="0" sz="1000" u="none" cap="none" strike="noStrike">
              <a:solidFill>
                <a:schemeClr val="dk1"/>
              </a:solidFill>
              <a:latin typeface="Calibri"/>
              <a:ea typeface="Calibri"/>
              <a:cs typeface="Calibri"/>
              <a:sym typeface="Calibri"/>
            </a:endParaRPr>
          </a:p>
        </p:txBody>
      </p:sp>
      <p:sp>
        <p:nvSpPr>
          <p:cNvPr id="578" name="Google Shape;578;p28"/>
          <p:cNvSpPr/>
          <p:nvPr/>
        </p:nvSpPr>
        <p:spPr>
          <a:xfrm>
            <a:off x="533363" y="4823241"/>
            <a:ext cx="3343512"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DELINQUENCY FORECASTING</a:t>
            </a:r>
            <a:endParaRPr b="0" i="0" sz="900" u="none" cap="none" strike="noStrike">
              <a:solidFill>
                <a:schemeClr val="dk1"/>
              </a:solidFill>
              <a:latin typeface="Calibri"/>
              <a:ea typeface="Calibri"/>
              <a:cs typeface="Calibri"/>
              <a:sym typeface="Calibri"/>
            </a:endParaRPr>
          </a:p>
        </p:txBody>
      </p:sp>
      <p:sp>
        <p:nvSpPr>
          <p:cNvPr id="579" name="Google Shape;579;p28"/>
          <p:cNvSpPr/>
          <p:nvPr/>
        </p:nvSpPr>
        <p:spPr>
          <a:xfrm>
            <a:off x="8455112" y="4823241"/>
            <a:ext cx="19362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8"/>
        </a:solidFill>
      </p:bgPr>
    </p:bg>
    <p:spTree>
      <p:nvGrpSpPr>
        <p:cNvPr id="584" name="Shape 584"/>
        <p:cNvGrpSpPr/>
        <p:nvPr/>
      </p:nvGrpSpPr>
      <p:grpSpPr>
        <a:xfrm>
          <a:off x="0" y="0"/>
          <a:ext cx="0" cy="0"/>
          <a:chOff x="0" y="0"/>
          <a:chExt cx="0" cy="0"/>
        </a:xfrm>
      </p:grpSpPr>
      <p:sp>
        <p:nvSpPr>
          <p:cNvPr id="585" name="Google Shape;585;p29"/>
          <p:cNvSpPr/>
          <p:nvPr/>
        </p:nvSpPr>
        <p:spPr>
          <a:xfrm>
            <a:off x="533363" y="644054"/>
            <a:ext cx="8077275" cy="5953"/>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86" name="Google Shape;586;p29"/>
          <p:cNvSpPr/>
          <p:nvPr/>
        </p:nvSpPr>
        <p:spPr>
          <a:xfrm>
            <a:off x="533363" y="399976"/>
            <a:ext cx="116249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END · THANK YOU</a:t>
            </a:r>
            <a:endParaRPr b="0" i="0" sz="900" u="none" cap="none" strike="noStrike">
              <a:solidFill>
                <a:schemeClr val="dk1"/>
              </a:solidFill>
              <a:latin typeface="Calibri"/>
              <a:ea typeface="Calibri"/>
              <a:cs typeface="Calibri"/>
              <a:sym typeface="Calibri"/>
            </a:endParaRPr>
          </a:p>
        </p:txBody>
      </p:sp>
      <p:sp>
        <p:nvSpPr>
          <p:cNvPr id="587" name="Google Shape;587;p29"/>
          <p:cNvSpPr/>
          <p:nvPr/>
        </p:nvSpPr>
        <p:spPr>
          <a:xfrm>
            <a:off x="3745353" y="399976"/>
            <a:ext cx="73415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JUNE 2026</a:t>
            </a:r>
            <a:endParaRPr b="0" i="0" sz="900" u="none" cap="none" strike="noStrike">
              <a:solidFill>
                <a:schemeClr val="dk1"/>
              </a:solidFill>
              <a:latin typeface="Calibri"/>
              <a:ea typeface="Calibri"/>
              <a:cs typeface="Calibri"/>
              <a:sym typeface="Calibri"/>
            </a:endParaRPr>
          </a:p>
        </p:txBody>
      </p:sp>
      <p:sp>
        <p:nvSpPr>
          <p:cNvPr id="588" name="Google Shape;588;p29"/>
          <p:cNvSpPr/>
          <p:nvPr/>
        </p:nvSpPr>
        <p:spPr>
          <a:xfrm>
            <a:off x="6528904" y="399976"/>
            <a:ext cx="2144186"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MORTGAGE RISK · FORECASTING</a:t>
            </a:r>
            <a:endParaRPr b="0" i="0" sz="900" u="none" cap="none" strike="noStrike">
              <a:solidFill>
                <a:schemeClr val="dk1"/>
              </a:solidFill>
              <a:latin typeface="Calibri"/>
              <a:ea typeface="Calibri"/>
              <a:cs typeface="Calibri"/>
              <a:sym typeface="Calibri"/>
            </a:endParaRPr>
          </a:p>
        </p:txBody>
      </p:sp>
      <p:sp>
        <p:nvSpPr>
          <p:cNvPr id="589" name="Google Shape;589;p29"/>
          <p:cNvSpPr/>
          <p:nvPr/>
        </p:nvSpPr>
        <p:spPr>
          <a:xfrm>
            <a:off x="533363" y="1267922"/>
            <a:ext cx="53578" cy="1551812"/>
          </a:xfrm>
          <a:prstGeom prst="rect">
            <a:avLst/>
          </a:prstGeom>
          <a:solidFill>
            <a:srgbClr val="46525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0" name="Google Shape;590;p29"/>
          <p:cNvSpPr/>
          <p:nvPr/>
        </p:nvSpPr>
        <p:spPr>
          <a:xfrm>
            <a:off x="815541" y="1267922"/>
            <a:ext cx="8037415" cy="1485137"/>
          </a:xfrm>
          <a:prstGeom prst="rect">
            <a:avLst/>
          </a:prstGeom>
          <a:noFill/>
          <a:ln>
            <a:noFill/>
          </a:ln>
        </p:spPr>
        <p:txBody>
          <a:bodyPr anchorCtr="0" anchor="t" bIns="12700" lIns="12700" spcFirstLastPara="1" rIns="12700" wrap="square" tIns="12700">
            <a:noAutofit/>
          </a:bodyPr>
          <a:lstStyle/>
          <a:p>
            <a:pPr indent="0" lvl="0" marL="0" marR="0" rtl="0" algn="l">
              <a:lnSpc>
                <a:spcPct val="104000"/>
              </a:lnSpc>
              <a:spcBef>
                <a:spcPts val="0"/>
              </a:spcBef>
              <a:spcAft>
                <a:spcPts val="0"/>
              </a:spcAft>
              <a:buClr>
                <a:srgbClr val="1C2026"/>
              </a:buClr>
              <a:buSzPts val="5600"/>
              <a:buFont typeface="IBM Plex Sans"/>
              <a:buNone/>
            </a:pPr>
            <a:r>
              <a:rPr b="1" i="0" lang="en" sz="5600" u="none" cap="none" strike="noStrike">
                <a:solidFill>
                  <a:srgbClr val="1C2026"/>
                </a:solidFill>
                <a:latin typeface="IBM Plex Sans"/>
                <a:ea typeface="IBM Plex Sans"/>
                <a:cs typeface="IBM Plex Sans"/>
                <a:sym typeface="IBM Plex Sans"/>
              </a:rPr>
              <a:t>Thank you. </a:t>
            </a:r>
            <a:r>
              <a:rPr b="1" i="0" lang="en" sz="5600" u="none" cap="none" strike="noStrike">
                <a:solidFill>
                  <a:srgbClr val="46525F"/>
                </a:solidFill>
                <a:latin typeface="IBM Plex Sans"/>
                <a:ea typeface="IBM Plex Sans"/>
                <a:cs typeface="IBM Plex Sans"/>
                <a:sym typeface="IBM Plex Sans"/>
              </a:rPr>
              <a:t>Questions?</a:t>
            </a:r>
            <a:endParaRPr b="0" i="0" sz="5600" u="none" cap="none" strike="noStrike">
              <a:solidFill>
                <a:schemeClr val="dk1"/>
              </a:solidFill>
              <a:latin typeface="Calibri"/>
              <a:ea typeface="Calibri"/>
              <a:cs typeface="Calibri"/>
              <a:sym typeface="Calibri"/>
            </a:endParaRPr>
          </a:p>
        </p:txBody>
      </p:sp>
      <p:sp>
        <p:nvSpPr>
          <p:cNvPr id="591" name="Google Shape;591;p29"/>
          <p:cNvSpPr/>
          <p:nvPr/>
        </p:nvSpPr>
        <p:spPr>
          <a:xfrm>
            <a:off x="533363" y="3067348"/>
            <a:ext cx="5297805" cy="640500"/>
          </a:xfrm>
          <a:prstGeom prst="rect">
            <a:avLst/>
          </a:prstGeom>
          <a:noFill/>
          <a:ln>
            <a:noFill/>
          </a:ln>
        </p:spPr>
        <p:txBody>
          <a:bodyPr anchorCtr="0" anchor="t" bIns="12700" lIns="12700" spcFirstLastPara="1" rIns="12700" wrap="square" tIns="12700">
            <a:noAutofit/>
          </a:bodyPr>
          <a:lstStyle/>
          <a:p>
            <a:pPr indent="0" lvl="0" marL="0" marR="0" rtl="0" algn="l">
              <a:lnSpc>
                <a:spcPct val="145000"/>
              </a:lnSpc>
              <a:spcBef>
                <a:spcPts val="0"/>
              </a:spcBef>
              <a:spcAft>
                <a:spcPts val="0"/>
              </a:spcAft>
              <a:buClr>
                <a:srgbClr val="454C55"/>
              </a:buClr>
              <a:buSzPts val="1100"/>
              <a:buFont typeface="IBM Plex Sans"/>
              <a:buNone/>
            </a:pPr>
            <a:r>
              <a:rPr b="0" i="0" lang="en" sz="1100" u="none" cap="none" strike="noStrike">
                <a:solidFill>
                  <a:srgbClr val="454C55"/>
                </a:solidFill>
                <a:latin typeface="IBM Plex Sans"/>
                <a:ea typeface="IBM Plex Sans"/>
                <a:cs typeface="IBM Plex Sans"/>
                <a:sym typeface="IBM Plex Sans"/>
              </a:rPr>
              <a:t>A recall-first delinquency model that turns 12.5 million monthly loan records into a short, workable watchlist, catching seven in ten future defaults, six months ahead.</a:t>
            </a:r>
            <a:endParaRPr b="0" i="0" sz="1100" u="none" cap="none" strike="noStrike">
              <a:solidFill>
                <a:schemeClr val="dk1"/>
              </a:solidFill>
              <a:latin typeface="Calibri"/>
              <a:ea typeface="Calibri"/>
              <a:cs typeface="Calibri"/>
              <a:sym typeface="Calibri"/>
            </a:endParaRPr>
          </a:p>
        </p:txBody>
      </p:sp>
      <p:sp>
        <p:nvSpPr>
          <p:cNvPr id="592" name="Google Shape;592;p29"/>
          <p:cNvSpPr/>
          <p:nvPr/>
        </p:nvSpPr>
        <p:spPr>
          <a:xfrm>
            <a:off x="533363" y="4306621"/>
            <a:ext cx="8077275" cy="5953"/>
          </a:xfrm>
          <a:prstGeom prst="rect">
            <a:avLst/>
          </a:prstGeom>
          <a:solidFill>
            <a:srgbClr val="1C2026">
              <a:alpha val="16078"/>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93" name="Google Shape;593;p29"/>
          <p:cNvSpPr/>
          <p:nvPr/>
        </p:nvSpPr>
        <p:spPr>
          <a:xfrm>
            <a:off x="533363" y="4445868"/>
            <a:ext cx="78633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AUTHOR</a:t>
            </a:r>
            <a:endParaRPr b="0" i="0" sz="900" u="none" cap="none" strike="noStrike">
              <a:solidFill>
                <a:schemeClr val="dk1"/>
              </a:solidFill>
              <a:latin typeface="Calibri"/>
              <a:ea typeface="Calibri"/>
              <a:cs typeface="Calibri"/>
              <a:sym typeface="Calibri"/>
            </a:endParaRPr>
          </a:p>
        </p:txBody>
      </p:sp>
      <p:sp>
        <p:nvSpPr>
          <p:cNvPr id="594" name="Google Shape;594;p29"/>
          <p:cNvSpPr/>
          <p:nvPr/>
        </p:nvSpPr>
        <p:spPr>
          <a:xfrm>
            <a:off x="533363" y="4632741"/>
            <a:ext cx="786334"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Esh S. Chhura</a:t>
            </a:r>
            <a:endParaRPr b="0" i="0" sz="900" u="none" cap="none" strike="noStrike">
              <a:solidFill>
                <a:schemeClr val="dk1"/>
              </a:solidFill>
              <a:latin typeface="Calibri"/>
              <a:ea typeface="Calibri"/>
              <a:cs typeface="Calibri"/>
              <a:sym typeface="Calibri"/>
            </a:endParaRPr>
          </a:p>
        </p:txBody>
      </p:sp>
      <p:sp>
        <p:nvSpPr>
          <p:cNvPr id="595" name="Google Shape;595;p29"/>
          <p:cNvSpPr/>
          <p:nvPr/>
        </p:nvSpPr>
        <p:spPr>
          <a:xfrm>
            <a:off x="1586322" y="4445868"/>
            <a:ext cx="125756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REPOSITORY</a:t>
            </a:r>
            <a:endParaRPr b="0" i="0" sz="900" u="none" cap="none" strike="noStrike">
              <a:solidFill>
                <a:schemeClr val="dk1"/>
              </a:solidFill>
              <a:latin typeface="Calibri"/>
              <a:ea typeface="Calibri"/>
              <a:cs typeface="Calibri"/>
              <a:sym typeface="Calibri"/>
            </a:endParaRPr>
          </a:p>
        </p:txBody>
      </p:sp>
      <p:sp>
        <p:nvSpPr>
          <p:cNvPr id="596" name="Google Shape;596;p29"/>
          <p:cNvSpPr/>
          <p:nvPr/>
        </p:nvSpPr>
        <p:spPr>
          <a:xfrm>
            <a:off x="1586322" y="4632741"/>
            <a:ext cx="1257560"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github.com/eshchhura</a:t>
            </a:r>
            <a:endParaRPr b="0" i="0" sz="900" u="none" cap="none" strike="noStrike">
              <a:solidFill>
                <a:schemeClr val="dk1"/>
              </a:solidFill>
              <a:latin typeface="Calibri"/>
              <a:ea typeface="Calibri"/>
              <a:cs typeface="Calibri"/>
              <a:sym typeface="Calibri"/>
            </a:endParaRPr>
          </a:p>
        </p:txBody>
      </p:sp>
      <p:sp>
        <p:nvSpPr>
          <p:cNvPr id="597" name="Google Shape;597;p29"/>
          <p:cNvSpPr/>
          <p:nvPr/>
        </p:nvSpPr>
        <p:spPr>
          <a:xfrm>
            <a:off x="3110508" y="4445868"/>
            <a:ext cx="22824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757C85"/>
              </a:buClr>
              <a:buSzPts val="900"/>
              <a:buFont typeface="IBM Plex Sans"/>
              <a:buNone/>
            </a:pPr>
            <a:r>
              <a:rPr b="0" i="0" lang="en" sz="900" u="none" cap="none" strike="noStrike">
                <a:solidFill>
                  <a:srgbClr val="757C85"/>
                </a:solidFill>
                <a:latin typeface="IBM Plex Sans"/>
                <a:ea typeface="IBM Plex Sans"/>
                <a:cs typeface="IBM Plex Sans"/>
                <a:sym typeface="IBM Plex Sans"/>
              </a:rPr>
              <a:t>FINAL MODEL</a:t>
            </a:r>
            <a:endParaRPr b="0" i="0" sz="900" u="none" cap="none" strike="noStrike">
              <a:solidFill>
                <a:schemeClr val="dk1"/>
              </a:solidFill>
              <a:latin typeface="Calibri"/>
              <a:ea typeface="Calibri"/>
              <a:cs typeface="Calibri"/>
              <a:sym typeface="Calibri"/>
            </a:endParaRPr>
          </a:p>
        </p:txBody>
      </p:sp>
      <p:sp>
        <p:nvSpPr>
          <p:cNvPr id="598" name="Google Shape;598;p29"/>
          <p:cNvSpPr/>
          <p:nvPr/>
        </p:nvSpPr>
        <p:spPr>
          <a:xfrm>
            <a:off x="3110508" y="4632741"/>
            <a:ext cx="2282437" cy="167878"/>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C2026"/>
              </a:buClr>
              <a:buSzPts val="900"/>
              <a:buFont typeface="IBM Plex Sans"/>
              <a:buNone/>
            </a:pPr>
            <a:r>
              <a:rPr b="1" i="0" lang="en" sz="900" u="none" cap="none" strike="noStrike">
                <a:solidFill>
                  <a:srgbClr val="1C2026"/>
                </a:solidFill>
                <a:latin typeface="IBM Plex Sans"/>
                <a:ea typeface="IBM Plex Sans"/>
                <a:cs typeface="IBM Plex Sans"/>
                <a:sym typeface="IBM Plex Sans"/>
              </a:rPr>
              <a:t>Oversampled LightGBM · ROC-AUC 0.949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